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60" r:id="rId2"/>
  </p:sldMasterIdLst>
  <p:sldIdLst>
    <p:sldId id="257" r:id="rId3"/>
    <p:sldId id="258" r:id="rId4"/>
    <p:sldId id="287" r:id="rId5"/>
    <p:sldId id="288" r:id="rId6"/>
    <p:sldId id="289" r:id="rId7"/>
    <p:sldId id="290" r:id="rId8"/>
    <p:sldId id="291" r:id="rId9"/>
    <p:sldId id="286" r:id="rId10"/>
    <p:sldId id="292" r:id="rId11"/>
    <p:sldId id="293" r:id="rId12"/>
    <p:sldId id="294" r:id="rId13"/>
    <p:sldId id="301" r:id="rId14"/>
    <p:sldId id="302" r:id="rId15"/>
    <p:sldId id="303" r:id="rId16"/>
    <p:sldId id="2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7F8EB1-65D7-F795-1206-33D3E71C0CCD}" v="40" dt="2026-03-24T10:08:10.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r Pooja" userId="S::2874624@tcs.com::2cd7ae8d-6b1b-4271-89ff-053fa8fc3aec" providerId="AD" clId="Web-{FD7F8EB1-65D7-F795-1206-33D3E71C0CCD}"/>
    <pc:docChg chg="modSld">
      <pc:chgData name="Vr Pooja" userId="S::2874624@tcs.com::2cd7ae8d-6b1b-4271-89ff-053fa8fc3aec" providerId="AD" clId="Web-{FD7F8EB1-65D7-F795-1206-33D3E71C0CCD}" dt="2026-03-24T10:08:10.928" v="27"/>
      <pc:docMkLst>
        <pc:docMk/>
      </pc:docMkLst>
      <pc:sldChg chg="modSp">
        <pc:chgData name="Vr Pooja" userId="S::2874624@tcs.com::2cd7ae8d-6b1b-4271-89ff-053fa8fc3aec" providerId="AD" clId="Web-{FD7F8EB1-65D7-F795-1206-33D3E71C0CCD}" dt="2026-03-24T10:08:10.928" v="27"/>
        <pc:sldMkLst>
          <pc:docMk/>
          <pc:sldMk cId="4152208351" sldId="301"/>
        </pc:sldMkLst>
        <pc:graphicFrameChg chg="mod modGraphic">
          <ac:chgData name="Vr Pooja" userId="S::2874624@tcs.com::2cd7ae8d-6b1b-4271-89ff-053fa8fc3aec" providerId="AD" clId="Web-{FD7F8EB1-65D7-F795-1206-33D3E71C0CCD}" dt="2026-03-24T10:08:10.928" v="27"/>
          <ac:graphicFrameMkLst>
            <pc:docMk/>
            <pc:sldMk cId="4152208351" sldId="301"/>
            <ac:graphicFrameMk id="5" creationId="{A0CAAB26-790F-504A-F379-32521EEFD0ED}"/>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17" name="Rectangle 16"/>
          <p:cNvSpPr/>
          <p:nvPr/>
        </p:nvSpPr>
        <p:spPr>
          <a:xfrm>
            <a:off x="0" y="0"/>
            <a:ext cx="12192000" cy="68580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472683" y="3200401"/>
            <a:ext cx="10363200" cy="609600"/>
          </a:xfrm>
        </p:spPr>
        <p:txBody>
          <a:bodyPr>
            <a:noAutofit/>
          </a:bodyPr>
          <a:lstStyle>
            <a:lvl1pPr algn="l">
              <a:defRPr sz="3800">
                <a:solidFill>
                  <a:schemeClr val="bg1"/>
                </a:solidFill>
              </a:defRPr>
            </a:lvl1pPr>
          </a:lstStyle>
          <a:p>
            <a:r>
              <a:rPr lang="en-US"/>
              <a:t>Click to edit Master title style</a:t>
            </a:r>
          </a:p>
        </p:txBody>
      </p:sp>
      <p:sp>
        <p:nvSpPr>
          <p:cNvPr id="3" name="Subtitle 2"/>
          <p:cNvSpPr>
            <a:spLocks noGrp="1"/>
          </p:cNvSpPr>
          <p:nvPr>
            <p:ph type="subTitle" idx="1"/>
          </p:nvPr>
        </p:nvSpPr>
        <p:spPr>
          <a:xfrm>
            <a:off x="472683" y="3858638"/>
            <a:ext cx="10380133" cy="609600"/>
          </a:xfrm>
        </p:spPr>
        <p:txBody>
          <a:bodyPr>
            <a:noAutofit/>
          </a:bodyPr>
          <a:lstStyle>
            <a:lvl1pPr marL="0" indent="0" algn="l">
              <a:buNone/>
              <a:defRPr sz="3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Rectangle 56"/>
          <p:cNvSpPr>
            <a:spLocks noChangeArrowheads="1"/>
          </p:cNvSpPr>
          <p:nvPr/>
        </p:nvSpPr>
        <p:spPr bwMode="auto">
          <a:xfrm>
            <a:off x="0" y="1976439"/>
            <a:ext cx="12192000" cy="847725"/>
          </a:xfrm>
          <a:prstGeom prst="rect">
            <a:avLst/>
          </a:prstGeom>
          <a:solidFill>
            <a:srgbClr val="0067AC"/>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grpSp>
        <p:nvGrpSpPr>
          <p:cNvPr id="4" name="Group 5"/>
          <p:cNvGrpSpPr>
            <a:grpSpLocks noChangeAspect="1"/>
          </p:cNvGrpSpPr>
          <p:nvPr/>
        </p:nvGrpSpPr>
        <p:grpSpPr bwMode="auto">
          <a:xfrm>
            <a:off x="565151" y="428625"/>
            <a:ext cx="4349749" cy="376238"/>
            <a:chOff x="267" y="270"/>
            <a:chExt cx="2055" cy="237"/>
          </a:xfrm>
        </p:grpSpPr>
        <p:sp>
          <p:nvSpPr>
            <p:cNvPr id="1028" name="AutoShape 4"/>
            <p:cNvSpPr>
              <a:spLocks noChangeAspect="1" noChangeArrowheads="1" noTextEdit="1"/>
            </p:cNvSpPr>
            <p:nvPr userDrawn="1"/>
          </p:nvSpPr>
          <p:spPr bwMode="auto">
            <a:xfrm>
              <a:off x="267" y="270"/>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0" name="Freeform 6"/>
            <p:cNvSpPr>
              <a:spLocks noEditPoints="1"/>
            </p:cNvSpPr>
            <p:nvPr userDrawn="1"/>
          </p:nvSpPr>
          <p:spPr bwMode="auto">
            <a:xfrm>
              <a:off x="1382" y="270"/>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1" name="Freeform 7"/>
            <p:cNvSpPr>
              <a:spLocks noEditPoints="1"/>
            </p:cNvSpPr>
            <p:nvPr userDrawn="1"/>
          </p:nvSpPr>
          <p:spPr bwMode="auto">
            <a:xfrm>
              <a:off x="617" y="270"/>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2" name="Freeform 8"/>
            <p:cNvSpPr>
              <a:spLocks noEditPoints="1"/>
            </p:cNvSpPr>
            <p:nvPr userDrawn="1"/>
          </p:nvSpPr>
          <p:spPr bwMode="auto">
            <a:xfrm>
              <a:off x="267" y="271"/>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3" name="Freeform 9"/>
            <p:cNvSpPr>
              <a:spLocks noEditPoints="1"/>
            </p:cNvSpPr>
            <p:nvPr userDrawn="1"/>
          </p:nvSpPr>
          <p:spPr bwMode="auto">
            <a:xfrm>
              <a:off x="1328" y="402"/>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B4D7F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grpSp>
      <p:sp>
        <p:nvSpPr>
          <p:cNvPr id="20" name="Freeform 9"/>
          <p:cNvSpPr>
            <a:spLocks noEditPoints="1"/>
          </p:cNvSpPr>
          <p:nvPr/>
        </p:nvSpPr>
        <p:spPr bwMode="auto">
          <a:xfrm>
            <a:off x="10909580" y="424799"/>
            <a:ext cx="647277"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pic>
        <p:nvPicPr>
          <p:cNvPr id="19" name="Picture 4" descr="Q:\Repro 2\New guidelines 2011_12\Final 260411\PPT\OLD\050511\WMF\TATA Patter revised.wmf"/>
          <p:cNvPicPr>
            <a:picLocks noChangeAspect="1" noChangeArrowheads="1"/>
          </p:cNvPicPr>
          <p:nvPr/>
        </p:nvPicPr>
        <p:blipFill>
          <a:blip r:embed="rId2"/>
          <a:srcRect/>
          <a:stretch>
            <a:fillRect/>
          </a:stretch>
        </p:blipFill>
        <p:spPr bwMode="auto">
          <a:xfrm>
            <a:off x="1" y="1345407"/>
            <a:ext cx="3282087" cy="1260043"/>
          </a:xfrm>
          <a:prstGeom prst="rect">
            <a:avLst/>
          </a:prstGeom>
          <a:noFill/>
        </p:spPr>
      </p:pic>
      <p:sp>
        <p:nvSpPr>
          <p:cNvPr id="15" name="TextBox 14"/>
          <p:cNvSpPr txBox="1"/>
          <p:nvPr/>
        </p:nvSpPr>
        <p:spPr>
          <a:xfrm>
            <a:off x="448733" y="6334126"/>
            <a:ext cx="3251200" cy="207749"/>
          </a:xfrm>
          <a:prstGeom prst="rect">
            <a:avLst/>
          </a:prstGeom>
          <a:noFill/>
        </p:spPr>
        <p:txBody>
          <a:bodyPr wrap="square" rtlCol="0">
            <a:spAutoFit/>
          </a:bodyPr>
          <a:lstStyle/>
          <a:p>
            <a:r>
              <a:rPr lang="en-US" sz="750">
                <a:solidFill>
                  <a:schemeClr val="bg1"/>
                </a:solidFill>
                <a:latin typeface="+mn-lt"/>
              </a:rPr>
              <a:t>Copyright © 2012 Tata Consultancy Services Limited</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p:txBody>
          <a:bodyPr>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3886200"/>
            <a:ext cx="10363200" cy="622300"/>
          </a:xfrm>
        </p:spPr>
        <p:txBody>
          <a:bodyPr anchor="t">
            <a:noAutofit/>
          </a:bodyPr>
          <a:lstStyle>
            <a:lvl1pPr algn="ctr">
              <a:defRPr sz="2800" b="0" cap="all">
                <a:solidFill>
                  <a:schemeClr val="tx1"/>
                </a:solidFill>
              </a:defRPr>
            </a:lvl1pPr>
          </a:lstStyle>
          <a:p>
            <a:r>
              <a:rPr lang="en-US"/>
              <a:t>Click to edit Master title style</a:t>
            </a:r>
          </a:p>
        </p:txBody>
      </p:sp>
      <p:sp>
        <p:nvSpPr>
          <p:cNvPr id="3" name="Text Placeholder 2"/>
          <p:cNvSpPr>
            <a:spLocks noGrp="1"/>
          </p:cNvSpPr>
          <p:nvPr>
            <p:ph type="body" idx="1"/>
          </p:nvPr>
        </p:nvSpPr>
        <p:spPr>
          <a:xfrm>
            <a:off x="963084" y="2906714"/>
            <a:ext cx="10363200" cy="750887"/>
          </a:xfrm>
        </p:spPr>
        <p:txBody>
          <a:bodyPr anchor="b">
            <a:noAutofit/>
          </a:bodyPr>
          <a:lstStyle>
            <a:lvl1pPr marL="0" indent="0" algn="ct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sz="half" idx="1"/>
          </p:nvPr>
        </p:nvSpPr>
        <p:spPr>
          <a:xfrm>
            <a:off x="570896" y="1189037"/>
            <a:ext cx="53848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6371768" y="1189037"/>
            <a:ext cx="53848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p>
        </p:txBody>
      </p:sp>
      <p:sp>
        <p:nvSpPr>
          <p:cNvPr id="3" name="Text Placeholder 2"/>
          <p:cNvSpPr>
            <a:spLocks noGrp="1"/>
          </p:cNvSpPr>
          <p:nvPr>
            <p:ph type="body" idx="1"/>
          </p:nvPr>
        </p:nvSpPr>
        <p:spPr>
          <a:xfrm>
            <a:off x="570896" y="1187450"/>
            <a:ext cx="5386917"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70896" y="1916112"/>
            <a:ext cx="5386917"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6348184" y="1187450"/>
            <a:ext cx="5389033"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48184" y="1916112"/>
            <a:ext cx="5389033"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0897" y="1125538"/>
            <a:ext cx="4011084" cy="787399"/>
          </a:xfrm>
        </p:spPr>
        <p:txBody>
          <a:bodyPr anchor="b">
            <a:noAutofit/>
          </a:bodyPr>
          <a:lstStyle>
            <a:lvl1pPr algn="l">
              <a:defRPr sz="2200" b="1">
                <a:solidFill>
                  <a:schemeClr val="tx1"/>
                </a:solidFill>
              </a:defRPr>
            </a:lvl1pPr>
          </a:lstStyle>
          <a:p>
            <a:r>
              <a:rPr lang="en-US"/>
              <a:t>Click to edit Master title style</a:t>
            </a:r>
          </a:p>
        </p:txBody>
      </p:sp>
      <p:sp>
        <p:nvSpPr>
          <p:cNvPr id="3" name="Content Placeholder 2"/>
          <p:cNvSpPr>
            <a:spLocks noGrp="1"/>
          </p:cNvSpPr>
          <p:nvPr>
            <p:ph idx="1"/>
          </p:nvPr>
        </p:nvSpPr>
        <p:spPr>
          <a:xfrm>
            <a:off x="4805437" y="1125538"/>
            <a:ext cx="6815667" cy="5199063"/>
          </a:xfrm>
        </p:spPr>
        <p:txBody>
          <a:bodyPr>
            <a:noAutofit/>
          </a:bodyPr>
          <a:lstStyle>
            <a:lvl1pPr>
              <a:defRPr sz="2200"/>
            </a:lvl1pPr>
            <a:lvl2pPr>
              <a:defRPr sz="2000"/>
            </a:lvl2pPr>
            <a:lvl3pPr>
              <a:defRPr sz="1800"/>
            </a:lvl3pPr>
            <a:lvl4pPr>
              <a:defRPr sz="16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570897" y="1951037"/>
            <a:ext cx="4011084" cy="4373563"/>
          </a:xfrm>
        </p:spPr>
        <p:txBody>
          <a:bodyPr>
            <a:noAutofit/>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76801"/>
            <a:ext cx="7315200" cy="566738"/>
          </a:xfrm>
        </p:spPr>
        <p:txBody>
          <a:bodyPr anchor="b">
            <a:noAutofit/>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1143001"/>
            <a:ext cx="7315200" cy="3660775"/>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443539"/>
            <a:ext cx="7315200" cy="804862"/>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800"/>
            </a:lvl1pPr>
          </a:lstStyle>
          <a:p>
            <a:r>
              <a:rPr lang="en-US"/>
              <a:t>Click to edit Master title style</a:t>
            </a:r>
          </a:p>
        </p:txBody>
      </p:sp>
      <p:sp>
        <p:nvSpPr>
          <p:cNvPr id="3" name="Table Placeholder 2"/>
          <p:cNvSpPr>
            <a:spLocks noGrp="1"/>
          </p:cNvSpPr>
          <p:nvPr>
            <p:ph type="tbl" idx="1"/>
          </p:nvPr>
        </p:nvSpPr>
        <p:spPr>
          <a:xfrm>
            <a:off x="684405" y="1190625"/>
            <a:ext cx="11161184" cy="1323975"/>
          </a:xfrm>
          <a:ln>
            <a:solidFill>
              <a:schemeClr val="bg1"/>
            </a:solidFill>
          </a:ln>
        </p:spPr>
        <p:txBody>
          <a:bodyPr/>
          <a:lstStyle>
            <a:lvl1pPr>
              <a:buNone/>
              <a:defRPr>
                <a:solidFill>
                  <a:schemeClr val="bg1"/>
                </a:solidFill>
              </a:defRPr>
            </a:lvl1pPr>
          </a:lstStyle>
          <a:p>
            <a:pPr lvl="0"/>
            <a:r>
              <a:rPr lang="en-US" noProof="0"/>
              <a:t>Click icon to add table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Vertical Text Placeholder 2"/>
          <p:cNvSpPr>
            <a:spLocks noGrp="1"/>
          </p:cNvSpPr>
          <p:nvPr>
            <p:ph type="body" orient="vert" idx="1"/>
          </p:nvPr>
        </p:nvSpPr>
        <p:spPr>
          <a:xfrm>
            <a:off x="548192" y="1168400"/>
            <a:ext cx="11237408" cy="5156200"/>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71424" y="1189038"/>
            <a:ext cx="2743200" cy="5135563"/>
          </a:xfrm>
        </p:spPr>
        <p:txBody>
          <a:bodyPr vert="eaVert">
            <a:noAutofit/>
          </a:bodyPr>
          <a:lstStyle>
            <a:lvl1pPr>
              <a:defRPr>
                <a:solidFill>
                  <a:schemeClr val="tx1"/>
                </a:solidFill>
              </a:defRPr>
            </a:lvl1pPr>
          </a:lstStyle>
          <a:p>
            <a:r>
              <a:rPr lang="en-US"/>
              <a:t>Click to edit Master title style</a:t>
            </a:r>
          </a:p>
        </p:txBody>
      </p:sp>
      <p:sp>
        <p:nvSpPr>
          <p:cNvPr id="3" name="Vertical Text Placeholder 2"/>
          <p:cNvSpPr>
            <a:spLocks noGrp="1"/>
          </p:cNvSpPr>
          <p:nvPr>
            <p:ph type="body" orient="vert" idx="1"/>
          </p:nvPr>
        </p:nvSpPr>
        <p:spPr>
          <a:xfrm>
            <a:off x="551544" y="1189038"/>
            <a:ext cx="8253789" cy="5135563"/>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p:nvSpPr>
        <p:spPr>
          <a:xfrm>
            <a:off x="304800" y="304800"/>
            <a:ext cx="406400" cy="152400"/>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1" name="Rectangle 80"/>
          <p:cNvSpPr/>
          <p:nvPr/>
        </p:nvSpPr>
        <p:spPr>
          <a:xfrm>
            <a:off x="0" y="0"/>
            <a:ext cx="12192000" cy="10668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1727200" y="331694"/>
            <a:ext cx="10058400" cy="4873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48192" y="1189037"/>
            <a:ext cx="1123740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endParaRPr lang="en-US"/>
          </a:p>
        </p:txBody>
      </p:sp>
      <p:sp>
        <p:nvSpPr>
          <p:cNvPr id="9" name="Rectangle 71"/>
          <p:cNvSpPr txBox="1">
            <a:spLocks noChangeArrowheads="1"/>
          </p:cNvSpPr>
          <p:nvPr/>
        </p:nvSpPr>
        <p:spPr bwMode="auto">
          <a:xfrm>
            <a:off x="10972801" y="6311900"/>
            <a:ext cx="884767" cy="3603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000">
                <a:solidFill>
                  <a:srgbClr val="4E84C4"/>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B55AB4-0D57-4FBE-946B-A81E4A9D2A4C}" type="slidenum">
              <a:rPr lang="en-US" sz="1200" kern="1200" noProof="0" smtClean="0">
                <a:solidFill>
                  <a:schemeClr val="tx1"/>
                </a:solidFill>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r>
              <a:rPr lang="en-US" sz="1200" kern="1200" noProof="0">
                <a:solidFill>
                  <a:schemeClr val="tx1"/>
                </a:solidFill>
                <a:latin typeface="Arial" pitchFamily="34" charset="0"/>
                <a:ea typeface="+mn-ea"/>
                <a:cs typeface="Arial" pitchFamily="34" charset="0"/>
              </a:rPr>
              <a:t> </a:t>
            </a:r>
          </a:p>
        </p:txBody>
      </p:sp>
      <p:grpSp>
        <p:nvGrpSpPr>
          <p:cNvPr id="5" name="Group 8"/>
          <p:cNvGrpSpPr>
            <a:grpSpLocks noChangeAspect="1"/>
          </p:cNvGrpSpPr>
          <p:nvPr/>
        </p:nvGrpSpPr>
        <p:grpSpPr bwMode="auto">
          <a:xfrm>
            <a:off x="567267" y="6426200"/>
            <a:ext cx="3230189" cy="279400"/>
            <a:chOff x="240" y="3744"/>
            <a:chExt cx="2055" cy="237"/>
          </a:xfrm>
        </p:grpSpPr>
        <p:sp>
          <p:nvSpPr>
            <p:cNvPr id="76" name="AutoShape 7"/>
            <p:cNvSpPr>
              <a:spLocks noChangeAspect="1" noChangeArrowheads="1" noTextEdit="1"/>
            </p:cNvSpPr>
            <p:nvPr userDrawn="1"/>
          </p:nvSpPr>
          <p:spPr bwMode="auto">
            <a:xfrm>
              <a:off x="240" y="3744"/>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77" name="Freeform 9"/>
            <p:cNvSpPr>
              <a:spLocks noEditPoints="1"/>
            </p:cNvSpPr>
            <p:nvPr userDrawn="1"/>
          </p:nvSpPr>
          <p:spPr bwMode="auto">
            <a:xfrm>
              <a:off x="1355" y="3744"/>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8" name="Freeform 10"/>
            <p:cNvSpPr>
              <a:spLocks noEditPoints="1"/>
            </p:cNvSpPr>
            <p:nvPr userDrawn="1"/>
          </p:nvSpPr>
          <p:spPr bwMode="auto">
            <a:xfrm>
              <a:off x="590" y="3744"/>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9" name="Freeform 11"/>
            <p:cNvSpPr>
              <a:spLocks noEditPoints="1"/>
            </p:cNvSpPr>
            <p:nvPr userDrawn="1"/>
          </p:nvSpPr>
          <p:spPr bwMode="auto">
            <a:xfrm>
              <a:off x="240" y="3745"/>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80" name="Freeform 12"/>
            <p:cNvSpPr>
              <a:spLocks noEditPoints="1"/>
            </p:cNvSpPr>
            <p:nvPr userDrawn="1"/>
          </p:nvSpPr>
          <p:spPr bwMode="auto">
            <a:xfrm>
              <a:off x="1301" y="3876"/>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7D99CA"/>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grpSp>
      <p:sp>
        <p:nvSpPr>
          <p:cNvPr id="1027" name="AutoShape 3"/>
          <p:cNvSpPr>
            <a:spLocks noChangeAspect="1" noChangeArrowheads="1" noTextEdit="1"/>
          </p:cNvSpPr>
          <p:nvPr/>
        </p:nvSpPr>
        <p:spPr bwMode="auto">
          <a:xfrm>
            <a:off x="0" y="3810001"/>
            <a:ext cx="12192000" cy="1057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pic>
        <p:nvPicPr>
          <p:cNvPr id="4" name="Picture 2" descr="Q:\Repro 2\New guidelines 2011_12\Final 260411\PPT\OLD\050511\WMF\text slide pattern_2 boxes_060511.wmf"/>
          <p:cNvPicPr>
            <a:picLocks noChangeAspect="1" noChangeArrowheads="1"/>
          </p:cNvPicPr>
          <p:nvPr/>
        </p:nvPicPr>
        <p:blipFill>
          <a:blip r:embed="rId14"/>
          <a:srcRect/>
          <a:stretch>
            <a:fillRect/>
          </a:stretch>
        </p:blipFill>
        <p:spPr bwMode="auto">
          <a:xfrm>
            <a:off x="0" y="1"/>
            <a:ext cx="1658443" cy="1066800"/>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sz="28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4E84C4"/>
        </a:buClr>
        <a:buFont typeface="Wingdings" pitchFamily="2" charset="2"/>
        <a:buChar char="§"/>
        <a:defRPr sz="2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rgbClr val="4E84C4"/>
        </a:buClr>
        <a:buFont typeface="Myriad Pro" pitchFamily="34" charset="0"/>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rgbClr val="4E84C4"/>
        </a:buClr>
        <a:buFont typeface="Courier New" pitchFamily="49" charset="0"/>
        <a:buChar char="o"/>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rgbClr val="4E84C4"/>
        </a:buClr>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4800" b="1" dirty="0">
                <a:latin typeface="Constantia"/>
                <a:cs typeface="Arial"/>
              </a:rPr>
              <a:t>Loops and Strings</a:t>
            </a:r>
            <a:endParaRPr lang="en-US" dirty="0"/>
          </a:p>
        </p:txBody>
      </p:sp>
    </p:spTree>
    <p:extLst>
      <p:ext uri="{BB962C8B-B14F-4D97-AF65-F5344CB8AC3E}">
        <p14:creationId xmlns:p14="http://schemas.microsoft.com/office/powerpoint/2010/main" val="3119632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AGENDA</a:t>
            </a:r>
            <a:endParaRPr lang="en-IN" sz="3200">
              <a:latin typeface="Constantia"/>
            </a:endParaRPr>
          </a:p>
        </p:txBody>
      </p:sp>
      <p:sp>
        <p:nvSpPr>
          <p:cNvPr id="6" name="TextBox 5">
            <a:extLst>
              <a:ext uri="{FF2B5EF4-FFF2-40B4-BE49-F238E27FC236}">
                <a16:creationId xmlns:a16="http://schemas.microsoft.com/office/drawing/2014/main" id="{DF0500B9-06E1-402A-1A50-C310899C4564}"/>
              </a:ext>
            </a:extLst>
          </p:cNvPr>
          <p:cNvSpPr txBox="1"/>
          <p:nvPr/>
        </p:nvSpPr>
        <p:spPr>
          <a:xfrm>
            <a:off x="762000" y="1575666"/>
            <a:ext cx="108204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en-US" sz="3600" dirty="0">
                <a:latin typeface="Constantia"/>
                <a:cs typeface="Arial"/>
              </a:rPr>
              <a:t>Jump Statements</a:t>
            </a:r>
            <a:endParaRPr lang="en-US" sz="2800">
              <a:cs typeface="Arial"/>
            </a:endParaRPr>
          </a:p>
          <a:p>
            <a:pPr marL="514350" indent="-514350">
              <a:buAutoNum type="arabicPeriod"/>
            </a:pPr>
            <a:r>
              <a:rPr lang="en-US" sz="3600" dirty="0">
                <a:latin typeface="Constantia"/>
                <a:cs typeface="Arial"/>
              </a:rPr>
              <a:t>Loops</a:t>
            </a:r>
          </a:p>
          <a:p>
            <a:pPr marL="514350" indent="-514350">
              <a:buAutoNum type="arabicPeriod"/>
            </a:pPr>
            <a:r>
              <a:rPr lang="en-US" sz="3600" dirty="0">
                <a:latin typeface="Constantia"/>
                <a:cs typeface="Arial"/>
              </a:rPr>
              <a:t>Importance of Loops</a:t>
            </a:r>
          </a:p>
          <a:p>
            <a:pPr marL="514350" indent="-514350">
              <a:buAutoNum type="arabicPeriod"/>
            </a:pPr>
            <a:r>
              <a:rPr lang="en-US" sz="3600" dirty="0">
                <a:latin typeface="Constantia"/>
                <a:cs typeface="Arial"/>
              </a:rPr>
              <a:t>Strings</a:t>
            </a:r>
          </a:p>
          <a:p>
            <a:pPr marL="514350" indent="-514350">
              <a:buAutoNum type="arabicPeriod"/>
            </a:pPr>
            <a:r>
              <a:rPr lang="en-US" sz="3600" dirty="0">
                <a:latin typeface="Constantia"/>
                <a:cs typeface="Arial"/>
              </a:rPr>
              <a:t>String Methods</a:t>
            </a:r>
          </a:p>
          <a:p>
            <a:pPr marL="514350" indent="-514350">
              <a:buAutoNum type="arabicPeriod"/>
            </a:pPr>
            <a:r>
              <a:rPr lang="en-US" sz="3600" dirty="0">
                <a:latin typeface="Constantia"/>
                <a:cs typeface="Arial"/>
              </a:rPr>
              <a:t>Immutable Strings</a:t>
            </a:r>
          </a:p>
        </p:txBody>
      </p:sp>
    </p:spTree>
    <p:extLst>
      <p:ext uri="{BB962C8B-B14F-4D97-AF65-F5344CB8AC3E}">
        <p14:creationId xmlns:p14="http://schemas.microsoft.com/office/powerpoint/2010/main" val="3591490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Loops Statements</a:t>
            </a:r>
            <a:endParaRPr lang="en-IN" sz="3200" dirty="0">
              <a:latin typeface="Constantia"/>
            </a:endParaRPr>
          </a:p>
        </p:txBody>
      </p:sp>
      <p:sp>
        <p:nvSpPr>
          <p:cNvPr id="6" name="TextBox 5">
            <a:extLst>
              <a:ext uri="{FF2B5EF4-FFF2-40B4-BE49-F238E27FC236}">
                <a16:creationId xmlns:a16="http://schemas.microsoft.com/office/drawing/2014/main" id="{DF0500B9-06E1-402A-1A50-C310899C4564}"/>
              </a:ext>
            </a:extLst>
          </p:cNvPr>
          <p:cNvSpPr txBox="1"/>
          <p:nvPr/>
        </p:nvSpPr>
        <p:spPr>
          <a:xfrm>
            <a:off x="684508" y="1214039"/>
            <a:ext cx="11246603"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latin typeface="Constantia"/>
                <a:cs typeface="Arial"/>
              </a:rPr>
              <a:t>Looping in programming language is a feature which facilitates the execution of a set of instructions / functions repeatedly until the condition become false.</a:t>
            </a:r>
          </a:p>
          <a:p>
            <a:pPr marL="457200" indent="-457200">
              <a:buFont typeface="Arial"/>
              <a:buChar char="•"/>
            </a:pPr>
            <a:endParaRPr lang="en-US" sz="2800" dirty="0">
              <a:latin typeface="Constantia"/>
              <a:cs typeface="Arial"/>
            </a:endParaRPr>
          </a:p>
          <a:p>
            <a:pPr marL="457200" indent="-457200">
              <a:buFont typeface="Arial"/>
              <a:buChar char="•"/>
            </a:pPr>
            <a:r>
              <a:rPr lang="en-US" sz="2800" dirty="0">
                <a:latin typeface="Constantia"/>
                <a:cs typeface="Arial"/>
              </a:rPr>
              <a:t>Java provides three ways for execution of the loops.</a:t>
            </a:r>
          </a:p>
          <a:p>
            <a:pPr marL="914400" lvl="1" indent="-457200">
              <a:buAutoNum type="arabicPeriod"/>
            </a:pPr>
            <a:r>
              <a:rPr lang="en-US" sz="2800" b="1" dirty="0">
                <a:latin typeface="Constantia"/>
                <a:cs typeface="Arial"/>
              </a:rPr>
              <a:t>for loop</a:t>
            </a:r>
          </a:p>
          <a:p>
            <a:pPr marL="914400" lvl="1" indent="-457200">
              <a:buFontTx/>
              <a:buAutoNum type="arabicPeriod"/>
            </a:pPr>
            <a:r>
              <a:rPr lang="en-US" sz="2800" b="1" dirty="0">
                <a:latin typeface="Constantia"/>
                <a:cs typeface="Arial"/>
              </a:rPr>
              <a:t>while loop</a:t>
            </a:r>
          </a:p>
          <a:p>
            <a:pPr marL="914400" lvl="1" indent="-457200">
              <a:buFontTx/>
              <a:buAutoNum type="arabicPeriod"/>
            </a:pPr>
            <a:r>
              <a:rPr lang="en-US" sz="2800" b="1" dirty="0">
                <a:latin typeface="Constantia"/>
                <a:cs typeface="Arial"/>
              </a:rPr>
              <a:t>do-while loop</a:t>
            </a:r>
          </a:p>
          <a:p>
            <a:pPr marL="457200" lvl="1"/>
            <a:endParaRPr lang="en-US" sz="2800" dirty="0">
              <a:latin typeface="Constantia"/>
              <a:cs typeface="Arial"/>
            </a:endParaRPr>
          </a:p>
          <a:p>
            <a:pPr marL="457200" indent="-457200">
              <a:buFont typeface="Arial"/>
              <a:buChar char="•"/>
            </a:pPr>
            <a:r>
              <a:rPr lang="en-US" sz="2800" dirty="0">
                <a:latin typeface="Constantia"/>
                <a:cs typeface="Arial"/>
              </a:rPr>
              <a:t>While all these ways provide similar basic functionality, they differ in their syntax and condition checking time.</a:t>
            </a:r>
          </a:p>
          <a:p>
            <a:pPr marL="971550" lvl="1" indent="-514350">
              <a:buFontTx/>
              <a:buAutoNum type="arabicPeriod"/>
            </a:pPr>
            <a:endParaRPr lang="en-US" sz="2800" b="1" dirty="0">
              <a:latin typeface="Constantia"/>
              <a:cs typeface="Arial"/>
            </a:endParaRPr>
          </a:p>
        </p:txBody>
      </p:sp>
    </p:spTree>
    <p:extLst>
      <p:ext uri="{BB962C8B-B14F-4D97-AF65-F5344CB8AC3E}">
        <p14:creationId xmlns:p14="http://schemas.microsoft.com/office/powerpoint/2010/main" val="1027159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For Loop</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84508" y="1214039"/>
            <a:ext cx="11246603" cy="51501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ts val="400"/>
              </a:spcBef>
              <a:spcAft>
                <a:spcPct val="0"/>
              </a:spcAft>
              <a:buFont typeface="Arial"/>
              <a:buChar char="•"/>
            </a:pPr>
            <a:r>
              <a:rPr lang="en-US" dirty="0">
                <a:latin typeface="Constantia"/>
                <a:cs typeface="Arial"/>
              </a:rPr>
              <a:t>For loop helps set of code repeatedly. </a:t>
            </a:r>
            <a:endParaRPr lang="en-US" sz="1600" b="1" dirty="0">
              <a:latin typeface="Constantia"/>
              <a:cs typeface="Arial"/>
            </a:endParaRPr>
          </a:p>
          <a:p>
            <a:pPr marL="285750" indent="-285750">
              <a:spcBef>
                <a:spcPts val="400"/>
              </a:spcBef>
              <a:spcAft>
                <a:spcPct val="0"/>
              </a:spcAft>
              <a:buFont typeface="Arial"/>
              <a:buChar char="•"/>
            </a:pPr>
            <a:r>
              <a:rPr lang="en-US" dirty="0">
                <a:latin typeface="Constantia"/>
                <a:cs typeface="Arial"/>
              </a:rPr>
              <a:t>it is recommended when the number of iterations is fixed.</a:t>
            </a:r>
          </a:p>
          <a:p>
            <a:pPr marL="285750" indent="-285750">
              <a:spcBef>
                <a:spcPts val="400"/>
              </a:spcBef>
              <a:spcAft>
                <a:spcPct val="0"/>
              </a:spcAft>
              <a:buFont typeface="Arial"/>
              <a:buChar char="•"/>
            </a:pPr>
            <a:endParaRPr lang="en-US" sz="1600" dirty="0">
              <a:latin typeface="Constantia"/>
              <a:cs typeface="Arial"/>
            </a:endParaRPr>
          </a:p>
          <a:p>
            <a:pPr>
              <a:spcBef>
                <a:spcPts val="400"/>
              </a:spcBef>
              <a:spcAft>
                <a:spcPct val="0"/>
              </a:spcAft>
            </a:pPr>
            <a:r>
              <a:rPr lang="en-US" sz="1600" b="1" dirty="0">
                <a:latin typeface="Constantia"/>
                <a:cs typeface="Arial"/>
              </a:rPr>
              <a:t>SYNTAX</a:t>
            </a:r>
            <a:endParaRPr lang="en-US" sz="1600" dirty="0">
              <a:latin typeface="Constantia"/>
              <a:cs typeface="Arial"/>
            </a:endParaRPr>
          </a:p>
          <a:p>
            <a:pPr>
              <a:spcBef>
                <a:spcPts val="400"/>
              </a:spcBef>
              <a:spcAft>
                <a:spcPct val="0"/>
              </a:spcAft>
            </a:pPr>
            <a:endParaRPr lang="en-US" sz="1600" b="1" dirty="0">
              <a:latin typeface="Constantia"/>
              <a:cs typeface="Arial"/>
            </a:endParaRPr>
          </a:p>
          <a:p>
            <a:pPr>
              <a:spcBef>
                <a:spcPts val="400"/>
              </a:spcBef>
              <a:spcAft>
                <a:spcPct val="0"/>
              </a:spcAft>
            </a:pPr>
            <a:r>
              <a:rPr lang="en-US" dirty="0">
                <a:latin typeface="Constantia"/>
                <a:cs typeface="Arial"/>
              </a:rPr>
              <a:t>  for(</a:t>
            </a:r>
            <a:r>
              <a:rPr lang="en-US" dirty="0" err="1">
                <a:latin typeface="Constantia"/>
                <a:cs typeface="Arial"/>
              </a:rPr>
              <a:t>init;condition;inc</a:t>
            </a:r>
            <a:r>
              <a:rPr lang="en-US" dirty="0">
                <a:latin typeface="Constantia"/>
                <a:cs typeface="Arial"/>
              </a:rPr>
              <a:t>/dec){ = 1 , &lt;=10 , I+=2</a:t>
            </a:r>
          </a:p>
          <a:p>
            <a:pPr>
              <a:spcBef>
                <a:spcPts val="400"/>
              </a:spcBef>
              <a:spcAft>
                <a:spcPct val="0"/>
              </a:spcAft>
            </a:pPr>
            <a:r>
              <a:rPr lang="en-US" dirty="0">
                <a:latin typeface="Constantia"/>
                <a:cs typeface="Arial"/>
              </a:rPr>
              <a:t>    //statements to be executed or body</a:t>
            </a:r>
          </a:p>
          <a:p>
            <a:pPr>
              <a:spcBef>
                <a:spcPts val="400"/>
              </a:spcBef>
              <a:spcAft>
                <a:spcPct val="0"/>
              </a:spcAft>
            </a:pPr>
            <a:r>
              <a:rPr lang="en-US" dirty="0">
                <a:latin typeface="Constantia"/>
                <a:cs typeface="Arial"/>
              </a:rPr>
              <a:t>  }</a:t>
            </a:r>
          </a:p>
          <a:p>
            <a:pPr>
              <a:spcBef>
                <a:spcPts val="400"/>
              </a:spcBef>
              <a:spcAft>
                <a:spcPct val="0"/>
              </a:spcAft>
            </a:pPr>
            <a:endParaRPr lang="en-US" dirty="0">
              <a:latin typeface="Constantia"/>
              <a:cs typeface="Arial"/>
            </a:endParaRPr>
          </a:p>
          <a:p>
            <a:pPr marL="342900" indent="-342900">
              <a:spcBef>
                <a:spcPts val="400"/>
              </a:spcBef>
              <a:spcAft>
                <a:spcPct val="0"/>
              </a:spcAft>
              <a:buFont typeface="Arial"/>
              <a:buChar char="•"/>
            </a:pPr>
            <a:r>
              <a:rPr lang="en-US" b="1" dirty="0">
                <a:latin typeface="Constantia"/>
                <a:cs typeface="Arial"/>
              </a:rPr>
              <a:t>Init </a:t>
            </a:r>
            <a:endParaRPr lang="en-US" dirty="0">
              <a:latin typeface="Constantia"/>
              <a:cs typeface="Arial"/>
            </a:endParaRPr>
          </a:p>
          <a:p>
            <a:pPr>
              <a:spcBef>
                <a:spcPts val="400"/>
              </a:spcBef>
              <a:spcAft>
                <a:spcPct val="0"/>
              </a:spcAft>
            </a:pPr>
            <a:r>
              <a:rPr lang="en-US" dirty="0">
                <a:latin typeface="Constantia"/>
                <a:cs typeface="Arial"/>
              </a:rPr>
              <a:t>      The </a:t>
            </a:r>
            <a:r>
              <a:rPr lang="en-US" err="1">
                <a:latin typeface="Constantia"/>
                <a:cs typeface="Arial"/>
              </a:rPr>
              <a:t>init</a:t>
            </a:r>
            <a:r>
              <a:rPr lang="en-US" dirty="0">
                <a:latin typeface="Constantia"/>
                <a:cs typeface="Arial"/>
              </a:rPr>
              <a:t> expression  is used for initializing a variable, and it is executed only once.</a:t>
            </a:r>
          </a:p>
          <a:p>
            <a:pPr marL="285750" indent="-285750" algn="just">
              <a:spcBef>
                <a:spcPts val="400"/>
              </a:spcBef>
              <a:spcAft>
                <a:spcPct val="0"/>
              </a:spcAft>
              <a:buFont typeface="Arial"/>
              <a:buChar char="•"/>
            </a:pPr>
            <a:r>
              <a:rPr lang="en-US" b="1" dirty="0">
                <a:latin typeface="Constantia"/>
                <a:cs typeface="Arial"/>
              </a:rPr>
              <a:t>Condition</a:t>
            </a:r>
            <a:endParaRPr lang="en-US" dirty="0">
              <a:latin typeface="Constantia"/>
              <a:cs typeface="Arial"/>
            </a:endParaRPr>
          </a:p>
          <a:p>
            <a:pPr marL="742950" lvl="1" indent="-285750" algn="just">
              <a:spcBef>
                <a:spcPts val="400"/>
              </a:spcBef>
              <a:spcAft>
                <a:spcPct val="0"/>
              </a:spcAft>
              <a:buFont typeface="Courier New"/>
              <a:buChar char="o"/>
            </a:pPr>
            <a:r>
              <a:rPr lang="en-US" dirty="0">
                <a:latin typeface="Constantia"/>
                <a:cs typeface="Arial"/>
              </a:rPr>
              <a:t>It executes the condition statement for every iteration. If it evaluates the condition to be true, it executes the body of the loop. The loop will continue to run until the condition becomes false</a:t>
            </a:r>
            <a:r>
              <a:rPr lang="en-US" b="1" dirty="0">
                <a:latin typeface="Constantia"/>
                <a:cs typeface="Arial"/>
              </a:rPr>
              <a:t>.</a:t>
            </a:r>
            <a:endParaRPr lang="en-US" dirty="0">
              <a:latin typeface="Constantia"/>
              <a:cs typeface="Arial"/>
            </a:endParaRPr>
          </a:p>
          <a:p>
            <a:pPr marL="285750" indent="-285750" algn="just">
              <a:spcBef>
                <a:spcPts val="400"/>
              </a:spcBef>
              <a:spcAft>
                <a:spcPct val="0"/>
              </a:spcAft>
              <a:buFont typeface="Arial"/>
              <a:buChar char="•"/>
            </a:pPr>
            <a:r>
              <a:rPr lang="en-US" b="1" dirty="0" err="1">
                <a:latin typeface="Constantia"/>
                <a:cs typeface="Arial"/>
              </a:rPr>
              <a:t>Incr</a:t>
            </a:r>
            <a:r>
              <a:rPr lang="en-US" b="1" dirty="0">
                <a:latin typeface="Constantia"/>
                <a:cs typeface="Arial"/>
              </a:rPr>
              <a:t>/</a:t>
            </a:r>
            <a:r>
              <a:rPr lang="en-US" b="1" dirty="0" err="1">
                <a:latin typeface="Constantia"/>
                <a:cs typeface="Arial"/>
              </a:rPr>
              <a:t>Decr</a:t>
            </a:r>
            <a:r>
              <a:rPr lang="en-US" b="1" dirty="0">
                <a:latin typeface="Constantia"/>
                <a:cs typeface="Arial"/>
              </a:rPr>
              <a:t>:</a:t>
            </a:r>
            <a:endParaRPr lang="en-US" dirty="0">
              <a:latin typeface="Constantia"/>
              <a:cs typeface="Arial"/>
            </a:endParaRPr>
          </a:p>
          <a:p>
            <a:pPr marL="742950" lvl="1" indent="-285750" algn="just">
              <a:spcBef>
                <a:spcPts val="400"/>
              </a:spcBef>
              <a:spcAft>
                <a:spcPct val="0"/>
              </a:spcAft>
              <a:buFont typeface="Courier New"/>
              <a:buChar char="o"/>
            </a:pPr>
            <a:r>
              <a:rPr lang="en-US" dirty="0">
                <a:latin typeface="Constantia"/>
                <a:cs typeface="Arial"/>
              </a:rPr>
              <a:t>It is the increment or decrement statement applied to the variable  to update the initial expression.</a:t>
            </a:r>
            <a:endParaRPr lang="en-US">
              <a:latin typeface="Constantia"/>
            </a:endParaRPr>
          </a:p>
        </p:txBody>
      </p:sp>
      <p:pic>
        <p:nvPicPr>
          <p:cNvPr id="4" name="Picture 3" descr="A diagram of a condition checking&#10;&#10;Description automatically generated">
            <a:extLst>
              <a:ext uri="{FF2B5EF4-FFF2-40B4-BE49-F238E27FC236}">
                <a16:creationId xmlns:a16="http://schemas.microsoft.com/office/drawing/2014/main" id="{52E02C6F-F6DB-DB25-7A90-EBC3A695634A}"/>
              </a:ext>
            </a:extLst>
          </p:cNvPr>
          <p:cNvPicPr>
            <a:picLocks noChangeAspect="1"/>
          </p:cNvPicPr>
          <p:nvPr/>
        </p:nvPicPr>
        <p:blipFill>
          <a:blip r:embed="rId2"/>
          <a:stretch>
            <a:fillRect/>
          </a:stretch>
        </p:blipFill>
        <p:spPr>
          <a:xfrm>
            <a:off x="6091882" y="2079920"/>
            <a:ext cx="5058100" cy="2284870"/>
          </a:xfrm>
          <a:prstGeom prst="rect">
            <a:avLst/>
          </a:prstGeom>
        </p:spPr>
      </p:pic>
    </p:spTree>
    <p:extLst>
      <p:ext uri="{BB962C8B-B14F-4D97-AF65-F5344CB8AC3E}">
        <p14:creationId xmlns:p14="http://schemas.microsoft.com/office/powerpoint/2010/main" val="2418142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While Loop</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47033" y="1323595"/>
            <a:ext cx="10896833" cy="47602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ts val="400"/>
              </a:spcBef>
              <a:spcAft>
                <a:spcPct val="0"/>
              </a:spcAft>
              <a:buFont typeface="Arial"/>
              <a:buChar char="•"/>
            </a:pPr>
            <a:r>
              <a:rPr lang="en-US" dirty="0">
                <a:latin typeface="Constantia"/>
                <a:cs typeface="Arial"/>
              </a:rPr>
              <a:t>The while loop is a control flow statement in java that allows a block of code to be executed repeatedly as along as given condition is true. </a:t>
            </a:r>
            <a:endParaRPr lang="en-US" sz="1600" b="1" dirty="0">
              <a:latin typeface="Constantia"/>
              <a:cs typeface="Arial"/>
            </a:endParaRPr>
          </a:p>
          <a:p>
            <a:pPr marL="285750" indent="-285750" algn="just">
              <a:spcBef>
                <a:spcPts val="400"/>
              </a:spcBef>
              <a:spcAft>
                <a:spcPct val="0"/>
              </a:spcAft>
              <a:buFont typeface="Arial"/>
              <a:buChar char="•"/>
            </a:pPr>
            <a:r>
              <a:rPr lang="en-US" dirty="0">
                <a:latin typeface="Constantia"/>
                <a:cs typeface="Arial"/>
              </a:rPr>
              <a:t>It is recommended when number of iterations is not known in advance. </a:t>
            </a:r>
          </a:p>
          <a:p>
            <a:pPr marL="342900" indent="-342900">
              <a:spcBef>
                <a:spcPts val="400"/>
              </a:spcBef>
              <a:spcAft>
                <a:spcPct val="0"/>
              </a:spcAft>
            </a:pPr>
            <a:endParaRPr lang="en-US" sz="1600" dirty="0">
              <a:latin typeface="Constantia"/>
              <a:cs typeface="Arial"/>
            </a:endParaRPr>
          </a:p>
          <a:p>
            <a:pPr marL="342900" indent="-342900">
              <a:spcBef>
                <a:spcPts val="400"/>
              </a:spcBef>
              <a:spcAft>
                <a:spcPct val="0"/>
              </a:spcAft>
            </a:pPr>
            <a:r>
              <a:rPr lang="en-US" sz="1600" b="1" dirty="0">
                <a:latin typeface="Constantia"/>
                <a:cs typeface="Arial"/>
              </a:rPr>
              <a:t>SYNTAX</a:t>
            </a:r>
            <a:endParaRPr lang="en-US" sz="1600" dirty="0">
              <a:latin typeface="Constantia"/>
              <a:cs typeface="Arial"/>
            </a:endParaRPr>
          </a:p>
          <a:p>
            <a:pPr marL="342900" indent="-342900">
              <a:spcBef>
                <a:spcPts val="400"/>
              </a:spcBef>
              <a:spcAft>
                <a:spcPct val="0"/>
              </a:spcAft>
            </a:pPr>
            <a:endParaRPr lang="en-US" sz="1600" dirty="0">
              <a:latin typeface="Constantia"/>
              <a:cs typeface="Arial"/>
            </a:endParaRPr>
          </a:p>
          <a:p>
            <a:pPr marL="342900" indent="-342900">
              <a:spcBef>
                <a:spcPts val="400"/>
              </a:spcBef>
              <a:spcAft>
                <a:spcPct val="0"/>
              </a:spcAft>
            </a:pPr>
            <a:r>
              <a:rPr lang="en-US" sz="1600" dirty="0">
                <a:latin typeface="Constantia"/>
                <a:cs typeface="Arial"/>
              </a:rPr>
              <a:t>//Initialization</a:t>
            </a:r>
          </a:p>
          <a:p>
            <a:pPr marL="342900" indent="-342900">
              <a:spcBef>
                <a:spcPts val="400"/>
              </a:spcBef>
              <a:spcAft>
                <a:spcPct val="0"/>
              </a:spcAft>
            </a:pPr>
            <a:r>
              <a:rPr lang="en-US" dirty="0">
                <a:latin typeface="Constantia"/>
                <a:cs typeface="Arial"/>
              </a:rPr>
              <a:t>while(condition){</a:t>
            </a:r>
          </a:p>
          <a:p>
            <a:pPr marL="342900" indent="-342900">
              <a:spcBef>
                <a:spcPts val="400"/>
              </a:spcBef>
              <a:spcAft>
                <a:spcPct val="0"/>
              </a:spcAft>
            </a:pPr>
            <a:endParaRPr lang="en-US" dirty="0">
              <a:latin typeface="Constantia"/>
              <a:cs typeface="Arial"/>
            </a:endParaRPr>
          </a:p>
          <a:p>
            <a:pPr marL="342900" indent="-342900">
              <a:spcBef>
                <a:spcPts val="400"/>
              </a:spcBef>
              <a:spcAft>
                <a:spcPct val="0"/>
              </a:spcAft>
            </a:pPr>
            <a:r>
              <a:rPr lang="en-US" dirty="0">
                <a:latin typeface="Constantia"/>
                <a:cs typeface="Arial"/>
              </a:rPr>
              <a:t>//statements to be executed or body</a:t>
            </a:r>
          </a:p>
          <a:p>
            <a:pPr marL="342900" indent="-342900">
              <a:spcBef>
                <a:spcPts val="400"/>
              </a:spcBef>
              <a:spcAft>
                <a:spcPct val="0"/>
              </a:spcAft>
            </a:pPr>
            <a:r>
              <a:rPr lang="en-US" err="1">
                <a:latin typeface="Constantia"/>
                <a:cs typeface="Arial"/>
              </a:rPr>
              <a:t>Incr</a:t>
            </a:r>
            <a:r>
              <a:rPr lang="en-US" dirty="0">
                <a:latin typeface="Constantia"/>
                <a:cs typeface="Arial"/>
              </a:rPr>
              <a:t>/</a:t>
            </a:r>
            <a:r>
              <a:rPr lang="en-US" err="1">
                <a:latin typeface="Constantia"/>
                <a:cs typeface="Arial"/>
              </a:rPr>
              <a:t>decr</a:t>
            </a:r>
            <a:r>
              <a:rPr lang="en-US" dirty="0">
                <a:latin typeface="Constantia"/>
                <a:cs typeface="Arial"/>
              </a:rPr>
              <a:t>;</a:t>
            </a:r>
          </a:p>
          <a:p>
            <a:pPr marL="342900" indent="-342900">
              <a:spcBef>
                <a:spcPts val="400"/>
              </a:spcBef>
              <a:spcAft>
                <a:spcPct val="0"/>
              </a:spcAft>
            </a:pPr>
            <a:endParaRPr lang="en-US" dirty="0">
              <a:latin typeface="Constantia"/>
              <a:cs typeface="Arial"/>
            </a:endParaRPr>
          </a:p>
          <a:p>
            <a:pPr marL="342900" indent="-342900">
              <a:spcBef>
                <a:spcPts val="400"/>
              </a:spcBef>
              <a:spcAft>
                <a:spcPct val="0"/>
              </a:spcAft>
            </a:pPr>
            <a:r>
              <a:rPr lang="en-US" dirty="0">
                <a:latin typeface="Constantia"/>
                <a:cs typeface="Arial"/>
              </a:rPr>
              <a:t>}</a:t>
            </a:r>
          </a:p>
          <a:p>
            <a:pPr marL="342900" indent="-342900">
              <a:spcBef>
                <a:spcPts val="400"/>
              </a:spcBef>
              <a:spcAft>
                <a:spcPct val="0"/>
              </a:spcAft>
            </a:pPr>
            <a:endParaRPr lang="en-US" sz="1600" dirty="0">
              <a:latin typeface="Constantia"/>
              <a:cs typeface="Arial"/>
            </a:endParaRPr>
          </a:p>
          <a:p>
            <a:pPr marL="342900" indent="-342900">
              <a:spcBef>
                <a:spcPts val="400"/>
              </a:spcBef>
              <a:spcAft>
                <a:spcPct val="0"/>
              </a:spcAft>
            </a:pPr>
            <a:r>
              <a:rPr lang="en-US" dirty="0">
                <a:latin typeface="Constantia"/>
                <a:cs typeface="Arial"/>
              </a:rPr>
              <a:t>The Condition of while loop is </a:t>
            </a:r>
            <a:r>
              <a:rPr lang="en-US" err="1">
                <a:latin typeface="Constantia"/>
                <a:cs typeface="Arial"/>
              </a:rPr>
              <a:t>boolean</a:t>
            </a:r>
            <a:r>
              <a:rPr lang="en-US" dirty="0">
                <a:latin typeface="Constantia"/>
                <a:cs typeface="Arial"/>
              </a:rPr>
              <a:t> expression that is evaluated at the beginning of each iteration.</a:t>
            </a:r>
            <a:endParaRPr lang="en-US" dirty="0">
              <a:latin typeface="Constantia"/>
            </a:endParaRPr>
          </a:p>
        </p:txBody>
      </p:sp>
      <p:pic>
        <p:nvPicPr>
          <p:cNvPr id="5" name="Picture 4" descr="A diagram of a condition checking&#10;&#10;Description automatically generated">
            <a:extLst>
              <a:ext uri="{FF2B5EF4-FFF2-40B4-BE49-F238E27FC236}">
                <a16:creationId xmlns:a16="http://schemas.microsoft.com/office/drawing/2014/main" id="{D4AE1D98-DDB5-C11E-366E-01852C4B75A3}"/>
              </a:ext>
            </a:extLst>
          </p:cNvPr>
          <p:cNvPicPr>
            <a:picLocks noChangeAspect="1"/>
          </p:cNvPicPr>
          <p:nvPr/>
        </p:nvPicPr>
        <p:blipFill>
          <a:blip r:embed="rId2"/>
          <a:stretch>
            <a:fillRect/>
          </a:stretch>
        </p:blipFill>
        <p:spPr>
          <a:xfrm>
            <a:off x="4341449" y="2375473"/>
            <a:ext cx="6981825" cy="2894039"/>
          </a:xfrm>
          <a:prstGeom prst="rect">
            <a:avLst/>
          </a:prstGeom>
        </p:spPr>
      </p:pic>
    </p:spTree>
    <p:extLst>
      <p:ext uri="{BB962C8B-B14F-4D97-AF65-F5344CB8AC3E}">
        <p14:creationId xmlns:p14="http://schemas.microsoft.com/office/powerpoint/2010/main" val="3139770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Do-While Loop</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47033" y="1251514"/>
            <a:ext cx="10896833"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ts val="400"/>
              </a:spcBef>
              <a:spcAft>
                <a:spcPct val="0"/>
              </a:spcAft>
              <a:buFont typeface="Arial"/>
              <a:buChar char="•"/>
            </a:pPr>
            <a:r>
              <a:rPr lang="en-US" dirty="0">
                <a:latin typeface="Constantia"/>
                <a:cs typeface="Arial"/>
              </a:rPr>
              <a:t>The do-while loop is a control flow statement in java that is similar to the while loop but with one key difference: the code inside the loop is executed at least once, even if the condition is initially false.</a:t>
            </a:r>
          </a:p>
          <a:p>
            <a:pPr marL="285750" indent="-285750">
              <a:spcBef>
                <a:spcPts val="400"/>
              </a:spcBef>
              <a:spcAft>
                <a:spcPct val="0"/>
              </a:spcAft>
              <a:buFont typeface="Arial,Sans-Serif"/>
              <a:buChar char="•"/>
            </a:pPr>
            <a:r>
              <a:rPr lang="en-US" dirty="0">
                <a:latin typeface="Constantia"/>
                <a:cs typeface="Arial"/>
              </a:rPr>
              <a:t>It is recommended when the code inside the loop must be expected at least once, regardless of the value of the condition.</a:t>
            </a:r>
          </a:p>
          <a:p>
            <a:pPr marL="285750" indent="-285750">
              <a:spcBef>
                <a:spcPts val="400"/>
              </a:spcBef>
              <a:spcAft>
                <a:spcPct val="0"/>
              </a:spcAft>
              <a:buFont typeface="Arial,Sans-Serif"/>
              <a:buChar char="•"/>
            </a:pPr>
            <a:endParaRPr lang="en-US" sz="1600" dirty="0">
              <a:latin typeface="Constantia"/>
              <a:cs typeface="Arial"/>
            </a:endParaRPr>
          </a:p>
          <a:p>
            <a:pPr>
              <a:spcBef>
                <a:spcPts val="400"/>
              </a:spcBef>
              <a:spcAft>
                <a:spcPct val="0"/>
              </a:spcAft>
            </a:pPr>
            <a:r>
              <a:rPr lang="en-US" sz="1600" b="1" dirty="0">
                <a:latin typeface="Constantia"/>
                <a:cs typeface="Arial"/>
              </a:rPr>
              <a:t>SYNTAX</a:t>
            </a:r>
            <a:endParaRPr lang="en-US" sz="1600" dirty="0">
              <a:latin typeface="Constantia"/>
              <a:cs typeface="Arial"/>
            </a:endParaRPr>
          </a:p>
          <a:p>
            <a:pPr>
              <a:spcBef>
                <a:spcPts val="400"/>
              </a:spcBef>
              <a:spcAft>
                <a:spcPct val="0"/>
              </a:spcAft>
            </a:pPr>
            <a:endParaRPr lang="en-US" sz="1600" dirty="0">
              <a:latin typeface="Constantia"/>
              <a:cs typeface="Arial"/>
            </a:endParaRPr>
          </a:p>
          <a:p>
            <a:pPr>
              <a:spcBef>
                <a:spcPts val="400"/>
              </a:spcBef>
              <a:spcAft>
                <a:spcPct val="0"/>
              </a:spcAft>
            </a:pPr>
            <a:r>
              <a:rPr lang="en-US" dirty="0">
                <a:latin typeface="Constantia"/>
                <a:cs typeface="Arial"/>
              </a:rPr>
              <a:t>do{</a:t>
            </a:r>
          </a:p>
          <a:p>
            <a:pPr>
              <a:spcBef>
                <a:spcPts val="400"/>
              </a:spcBef>
              <a:spcAft>
                <a:spcPct val="0"/>
              </a:spcAft>
            </a:pPr>
            <a:r>
              <a:rPr lang="en-US" dirty="0">
                <a:latin typeface="Constantia"/>
                <a:cs typeface="Arial"/>
              </a:rPr>
              <a:t> //statements to be executed or body</a:t>
            </a:r>
          </a:p>
          <a:p>
            <a:pPr>
              <a:spcBef>
                <a:spcPts val="400"/>
              </a:spcBef>
              <a:spcAft>
                <a:spcPct val="0"/>
              </a:spcAft>
            </a:pPr>
            <a:r>
              <a:rPr lang="en-US" dirty="0">
                <a:latin typeface="Constantia"/>
                <a:cs typeface="Arial"/>
              </a:rPr>
              <a:t> </a:t>
            </a:r>
            <a:r>
              <a:rPr lang="en-US" dirty="0" err="1">
                <a:latin typeface="Constantia"/>
                <a:cs typeface="Arial"/>
              </a:rPr>
              <a:t>Incr</a:t>
            </a:r>
            <a:r>
              <a:rPr lang="en-US" dirty="0">
                <a:latin typeface="Constantia"/>
                <a:cs typeface="Arial"/>
              </a:rPr>
              <a:t>/</a:t>
            </a:r>
            <a:r>
              <a:rPr lang="en-US" dirty="0" err="1">
                <a:latin typeface="Constantia"/>
                <a:cs typeface="Arial"/>
              </a:rPr>
              <a:t>decr</a:t>
            </a:r>
            <a:r>
              <a:rPr lang="en-US" dirty="0">
                <a:latin typeface="Constantia"/>
                <a:cs typeface="Arial"/>
              </a:rPr>
              <a:t>;</a:t>
            </a:r>
          </a:p>
          <a:p>
            <a:pPr>
              <a:spcBef>
                <a:spcPts val="400"/>
              </a:spcBef>
              <a:spcAft>
                <a:spcPct val="0"/>
              </a:spcAft>
            </a:pPr>
            <a:r>
              <a:rPr lang="en-US" dirty="0">
                <a:latin typeface="Constantia"/>
                <a:cs typeface="Arial"/>
              </a:rPr>
              <a:t>} </a:t>
            </a:r>
          </a:p>
          <a:p>
            <a:pPr>
              <a:spcBef>
                <a:spcPts val="400"/>
              </a:spcBef>
              <a:spcAft>
                <a:spcPct val="0"/>
              </a:spcAft>
            </a:pPr>
            <a:r>
              <a:rPr lang="en-US" dirty="0">
                <a:latin typeface="Constantia"/>
                <a:cs typeface="Arial"/>
              </a:rPr>
              <a:t>while(condition);</a:t>
            </a:r>
          </a:p>
        </p:txBody>
      </p:sp>
      <p:pic>
        <p:nvPicPr>
          <p:cNvPr id="5" name="Picture 4" descr="A diagram of a statement&#10;&#10;Description automatically generated">
            <a:extLst>
              <a:ext uri="{FF2B5EF4-FFF2-40B4-BE49-F238E27FC236}">
                <a16:creationId xmlns:a16="http://schemas.microsoft.com/office/drawing/2014/main" id="{22B698A9-77BA-E462-4CAF-DF02D588063C}"/>
              </a:ext>
            </a:extLst>
          </p:cNvPr>
          <p:cNvPicPr>
            <a:picLocks noChangeAspect="1"/>
          </p:cNvPicPr>
          <p:nvPr/>
        </p:nvPicPr>
        <p:blipFill>
          <a:blip r:embed="rId2"/>
          <a:stretch>
            <a:fillRect/>
          </a:stretch>
        </p:blipFill>
        <p:spPr>
          <a:xfrm>
            <a:off x="4989617" y="2652166"/>
            <a:ext cx="6010275" cy="2952750"/>
          </a:xfrm>
          <a:prstGeom prst="rect">
            <a:avLst/>
          </a:prstGeom>
        </p:spPr>
      </p:pic>
    </p:spTree>
    <p:extLst>
      <p:ext uri="{BB962C8B-B14F-4D97-AF65-F5344CB8AC3E}">
        <p14:creationId xmlns:p14="http://schemas.microsoft.com/office/powerpoint/2010/main" val="4042176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Nested Loops</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47033" y="1189055"/>
            <a:ext cx="10896833" cy="5129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ts val="400"/>
              </a:spcBef>
              <a:spcAft>
                <a:spcPct val="0"/>
              </a:spcAft>
              <a:buFont typeface="Arial"/>
              <a:buChar char="•"/>
            </a:pPr>
            <a:r>
              <a:rPr lang="en-US" dirty="0">
                <a:latin typeface="Constantia"/>
                <a:cs typeface="Arial"/>
              </a:rPr>
              <a:t>Nested loops are the loops within loops, where the inner loop is executed multiple times for each iteration of outer loop.</a:t>
            </a:r>
            <a:endParaRPr lang="en-US">
              <a:latin typeface="Constantia"/>
            </a:endParaRPr>
          </a:p>
          <a:p>
            <a:pPr marL="285750" indent="-285750" algn="just">
              <a:spcBef>
                <a:spcPts val="400"/>
              </a:spcBef>
              <a:spcAft>
                <a:spcPct val="0"/>
              </a:spcAft>
              <a:buFont typeface="Arial"/>
              <a:buChar char="•"/>
            </a:pPr>
            <a:r>
              <a:rPr lang="en-US" dirty="0">
                <a:latin typeface="Constantia"/>
                <a:cs typeface="Arial"/>
              </a:rPr>
              <a:t>It is commonly used in programming to perform repetitive tasks on a two-dimensional or multi-dimensional arrays.</a:t>
            </a:r>
          </a:p>
          <a:p>
            <a:pPr marL="285750" indent="-285750">
              <a:spcBef>
                <a:spcPts val="400"/>
              </a:spcBef>
              <a:spcAft>
                <a:spcPct val="0"/>
              </a:spcAft>
              <a:buFont typeface="Arial"/>
              <a:buChar char="•"/>
            </a:pPr>
            <a:endParaRPr lang="en-US" sz="1600" dirty="0">
              <a:latin typeface="Constantia"/>
              <a:cs typeface="Arial"/>
            </a:endParaRPr>
          </a:p>
          <a:p>
            <a:pPr>
              <a:spcBef>
                <a:spcPts val="400"/>
              </a:spcBef>
              <a:spcAft>
                <a:spcPct val="0"/>
              </a:spcAft>
            </a:pPr>
            <a:r>
              <a:rPr lang="en-US" b="1" dirty="0">
                <a:latin typeface="Constantia"/>
                <a:cs typeface="Arial"/>
              </a:rPr>
              <a:t>SYNTAX</a:t>
            </a:r>
          </a:p>
          <a:p>
            <a:pPr>
              <a:spcBef>
                <a:spcPts val="400"/>
              </a:spcBef>
              <a:spcAft>
                <a:spcPct val="0"/>
              </a:spcAft>
            </a:pPr>
            <a:endParaRPr lang="en-US" sz="1600" dirty="0">
              <a:latin typeface="Constantia"/>
              <a:cs typeface="Arial"/>
            </a:endParaRPr>
          </a:p>
          <a:p>
            <a:pPr>
              <a:spcBef>
                <a:spcPts val="400"/>
              </a:spcBef>
              <a:spcAft>
                <a:spcPct val="0"/>
              </a:spcAft>
            </a:pPr>
            <a:r>
              <a:rPr lang="en-US" dirty="0">
                <a:latin typeface="Constantia"/>
                <a:cs typeface="Arial"/>
              </a:rPr>
              <a:t>for(</a:t>
            </a:r>
            <a:r>
              <a:rPr lang="en-US" err="1">
                <a:latin typeface="Constantia"/>
                <a:cs typeface="Arial"/>
              </a:rPr>
              <a:t>init;condition;incr</a:t>
            </a:r>
            <a:r>
              <a:rPr lang="en-US" dirty="0">
                <a:latin typeface="Constantia"/>
                <a:cs typeface="Arial"/>
              </a:rPr>
              <a:t>/</a:t>
            </a:r>
            <a:r>
              <a:rPr lang="en-US" err="1">
                <a:latin typeface="Constantia"/>
                <a:cs typeface="Arial"/>
              </a:rPr>
              <a:t>decr</a:t>
            </a:r>
            <a:r>
              <a:rPr lang="en-US" dirty="0">
                <a:latin typeface="Constantia"/>
                <a:cs typeface="Arial"/>
              </a:rPr>
              <a:t>){</a:t>
            </a:r>
          </a:p>
          <a:p>
            <a:pPr>
              <a:spcBef>
                <a:spcPts val="400"/>
              </a:spcBef>
              <a:spcAft>
                <a:spcPct val="0"/>
              </a:spcAft>
            </a:pPr>
            <a:endParaRPr lang="en-US" dirty="0">
              <a:latin typeface="Constantia"/>
              <a:cs typeface="Arial"/>
            </a:endParaRPr>
          </a:p>
          <a:p>
            <a:pPr>
              <a:spcBef>
                <a:spcPts val="400"/>
              </a:spcBef>
              <a:spcAft>
                <a:spcPct val="0"/>
              </a:spcAft>
            </a:pPr>
            <a:r>
              <a:rPr lang="en-US" dirty="0">
                <a:latin typeface="Constantia"/>
                <a:cs typeface="Arial"/>
              </a:rPr>
              <a:t>        for(</a:t>
            </a:r>
            <a:r>
              <a:rPr lang="en-US" err="1">
                <a:latin typeface="Constantia"/>
                <a:cs typeface="Arial"/>
              </a:rPr>
              <a:t>init;condition;incr</a:t>
            </a:r>
            <a:r>
              <a:rPr lang="en-US" dirty="0">
                <a:latin typeface="Constantia"/>
                <a:cs typeface="Arial"/>
              </a:rPr>
              <a:t>/</a:t>
            </a:r>
            <a:r>
              <a:rPr lang="en-US" err="1">
                <a:latin typeface="Constantia"/>
                <a:cs typeface="Arial"/>
              </a:rPr>
              <a:t>decr</a:t>
            </a:r>
            <a:r>
              <a:rPr lang="en-US" dirty="0">
                <a:latin typeface="Constantia"/>
                <a:cs typeface="Arial"/>
              </a:rPr>
              <a:t>){</a:t>
            </a:r>
          </a:p>
          <a:p>
            <a:pPr>
              <a:spcBef>
                <a:spcPts val="400"/>
              </a:spcBef>
              <a:spcAft>
                <a:spcPct val="0"/>
              </a:spcAft>
            </a:pPr>
            <a:r>
              <a:rPr lang="en-US" dirty="0">
                <a:latin typeface="Constantia"/>
                <a:cs typeface="Arial"/>
              </a:rPr>
              <a:t>             </a:t>
            </a:r>
          </a:p>
          <a:p>
            <a:pPr>
              <a:spcBef>
                <a:spcPts val="400"/>
              </a:spcBef>
              <a:spcAft>
                <a:spcPct val="0"/>
              </a:spcAft>
            </a:pPr>
            <a:r>
              <a:rPr lang="en-US" dirty="0">
                <a:latin typeface="Constantia"/>
                <a:cs typeface="Arial"/>
              </a:rPr>
              <a:t>         //inner loop code</a:t>
            </a:r>
          </a:p>
          <a:p>
            <a:pPr>
              <a:spcBef>
                <a:spcPts val="400"/>
              </a:spcBef>
              <a:spcAft>
                <a:spcPct val="0"/>
              </a:spcAft>
            </a:pPr>
            <a:endParaRPr lang="en-US" dirty="0">
              <a:latin typeface="Constantia"/>
              <a:cs typeface="Arial"/>
            </a:endParaRPr>
          </a:p>
          <a:p>
            <a:pPr>
              <a:spcBef>
                <a:spcPts val="400"/>
              </a:spcBef>
              <a:spcAft>
                <a:spcPct val="0"/>
              </a:spcAft>
            </a:pPr>
            <a:r>
              <a:rPr lang="en-US" dirty="0">
                <a:latin typeface="Constantia"/>
                <a:cs typeface="Arial"/>
              </a:rPr>
              <a:t>        }</a:t>
            </a:r>
          </a:p>
          <a:p>
            <a:pPr>
              <a:spcBef>
                <a:spcPts val="400"/>
              </a:spcBef>
              <a:spcAft>
                <a:spcPct val="0"/>
              </a:spcAft>
            </a:pPr>
            <a:r>
              <a:rPr lang="en-US" dirty="0">
                <a:latin typeface="Constantia"/>
                <a:cs typeface="Arial"/>
              </a:rPr>
              <a:t>       //outer loop code</a:t>
            </a:r>
          </a:p>
          <a:p>
            <a:pPr>
              <a:spcBef>
                <a:spcPts val="400"/>
              </a:spcBef>
              <a:spcAft>
                <a:spcPct val="0"/>
              </a:spcAft>
            </a:pPr>
            <a:r>
              <a:rPr lang="en-US" dirty="0">
                <a:latin typeface="Constantia"/>
                <a:cs typeface="Arial"/>
              </a:rPr>
              <a:t>}</a:t>
            </a:r>
          </a:p>
        </p:txBody>
      </p:sp>
    </p:spTree>
    <p:extLst>
      <p:ext uri="{BB962C8B-B14F-4D97-AF65-F5344CB8AC3E}">
        <p14:creationId xmlns:p14="http://schemas.microsoft.com/office/powerpoint/2010/main" val="613986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Jump Statements</a:t>
            </a:r>
            <a:endParaRPr lang="en-IN" sz="3200" dirty="0">
              <a:latin typeface="Constantia"/>
            </a:endParaRPr>
          </a:p>
        </p:txBody>
      </p:sp>
      <p:sp>
        <p:nvSpPr>
          <p:cNvPr id="6" name="TextBox 5">
            <a:extLst>
              <a:ext uri="{FF2B5EF4-FFF2-40B4-BE49-F238E27FC236}">
                <a16:creationId xmlns:a16="http://schemas.microsoft.com/office/drawing/2014/main" id="{DF0500B9-06E1-402A-1A50-C310899C4564}"/>
              </a:ext>
            </a:extLst>
          </p:cNvPr>
          <p:cNvSpPr txBox="1"/>
          <p:nvPr/>
        </p:nvSpPr>
        <p:spPr>
          <a:xfrm>
            <a:off x="684508" y="1214039"/>
            <a:ext cx="11246603"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latin typeface="Constantia"/>
                <a:cs typeface="Arial"/>
              </a:rPr>
              <a:t>Java supports 3 types of Jump statements.</a:t>
            </a:r>
            <a:endParaRPr lang="en-US">
              <a:cs typeface="Arial"/>
            </a:endParaRPr>
          </a:p>
          <a:p>
            <a:pPr marL="914400" lvl="1" indent="-457200">
              <a:buAutoNum type="arabicPeriod"/>
            </a:pPr>
            <a:r>
              <a:rPr lang="en-US" sz="2800" b="1" dirty="0">
                <a:latin typeface="Constantia"/>
                <a:cs typeface="Arial"/>
              </a:rPr>
              <a:t>break</a:t>
            </a:r>
          </a:p>
          <a:p>
            <a:pPr marL="914400" lvl="1" indent="-457200">
              <a:buAutoNum type="arabicPeriod"/>
            </a:pPr>
            <a:r>
              <a:rPr lang="en-US" sz="2800" b="1" dirty="0">
                <a:latin typeface="Constantia"/>
                <a:cs typeface="Arial"/>
              </a:rPr>
              <a:t>continue</a:t>
            </a:r>
          </a:p>
          <a:p>
            <a:pPr marL="914400" lvl="1" indent="-457200">
              <a:buAutoNum type="arabicPeriod"/>
            </a:pPr>
            <a:r>
              <a:rPr lang="en-US" sz="2800" b="1" dirty="0">
                <a:latin typeface="Constantia"/>
                <a:cs typeface="Arial"/>
              </a:rPr>
              <a:t>return</a:t>
            </a:r>
            <a:endParaRPr lang="en-US" sz="2800" dirty="0">
              <a:latin typeface="Constantia"/>
              <a:cs typeface="Arial"/>
            </a:endParaRPr>
          </a:p>
          <a:p>
            <a:pPr lvl="1"/>
            <a:endParaRPr lang="en-US" sz="2800" b="1" dirty="0">
              <a:latin typeface="Constantia"/>
              <a:cs typeface="Arial"/>
            </a:endParaRPr>
          </a:p>
          <a:p>
            <a:pPr marL="457200" indent="-457200">
              <a:buFont typeface="Arial"/>
              <a:buChar char="•"/>
            </a:pPr>
            <a:r>
              <a:rPr lang="en-US" sz="2800" dirty="0">
                <a:latin typeface="Constantia"/>
                <a:cs typeface="Arial"/>
              </a:rPr>
              <a:t>These 3 statements transfer control to another part of the program.</a:t>
            </a:r>
          </a:p>
          <a:p>
            <a:pPr marL="457200" indent="-457200">
              <a:buFont typeface="Arial"/>
              <a:buChar char="•"/>
            </a:pPr>
            <a:endParaRPr lang="en-US" sz="2800" dirty="0">
              <a:latin typeface="Constantia"/>
              <a:cs typeface="Arial"/>
            </a:endParaRPr>
          </a:p>
          <a:p>
            <a:pPr marL="514350" indent="-514350">
              <a:buFont typeface="Arial"/>
              <a:buChar char="•"/>
            </a:pPr>
            <a:r>
              <a:rPr lang="en-US" sz="2800" b="1" dirty="0">
                <a:latin typeface="Constantia"/>
                <a:cs typeface="Arial"/>
              </a:rPr>
              <a:t>break </a:t>
            </a:r>
            <a:r>
              <a:rPr lang="en-US" sz="2800" dirty="0">
                <a:latin typeface="Constantia"/>
                <a:cs typeface="Arial"/>
              </a:rPr>
              <a:t>: Used to terminate the loop, switch case statements.</a:t>
            </a:r>
          </a:p>
          <a:p>
            <a:pPr marL="514350" indent="-514350">
              <a:buFont typeface="Arial"/>
              <a:buChar char="•"/>
            </a:pPr>
            <a:r>
              <a:rPr lang="en-US" sz="2800" b="1" dirty="0">
                <a:latin typeface="Constantia"/>
                <a:cs typeface="Arial"/>
              </a:rPr>
              <a:t>continue </a:t>
            </a:r>
            <a:r>
              <a:rPr lang="en-US" sz="2800" dirty="0">
                <a:latin typeface="Constantia"/>
                <a:cs typeface="Arial"/>
              </a:rPr>
              <a:t>: Used to skip the iteration of the loop statements.</a:t>
            </a:r>
          </a:p>
          <a:p>
            <a:pPr marL="514350" indent="-514350">
              <a:buFont typeface="Arial"/>
              <a:buChar char="•"/>
            </a:pPr>
            <a:r>
              <a:rPr lang="en-US" sz="2800" b="1" dirty="0">
                <a:latin typeface="Constantia"/>
                <a:cs typeface="Arial"/>
              </a:rPr>
              <a:t>return </a:t>
            </a:r>
            <a:r>
              <a:rPr lang="en-US" sz="2800" dirty="0">
                <a:latin typeface="Constantia"/>
                <a:cs typeface="Arial"/>
              </a:rPr>
              <a:t>: Used to explicitly return value from a method.</a:t>
            </a:r>
          </a:p>
          <a:p>
            <a:pPr marL="971550" lvl="1" indent="-514350">
              <a:buFontTx/>
              <a:buAutoNum type="arabicPeriod"/>
            </a:pPr>
            <a:endParaRPr lang="en-US" sz="2800" b="1" dirty="0">
              <a:latin typeface="Constantia"/>
              <a:cs typeface="Arial"/>
            </a:endParaRPr>
          </a:p>
        </p:txBody>
      </p:sp>
    </p:spTree>
    <p:extLst>
      <p:ext uri="{BB962C8B-B14F-4D97-AF65-F5344CB8AC3E}">
        <p14:creationId xmlns:p14="http://schemas.microsoft.com/office/powerpoint/2010/main" val="535240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Importance of Loops</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47033" y="1938563"/>
            <a:ext cx="10896833"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ts val="400"/>
              </a:spcBef>
              <a:spcAft>
                <a:spcPct val="0"/>
              </a:spcAft>
              <a:buFont typeface="Wingdings"/>
              <a:buChar char="q"/>
            </a:pPr>
            <a:r>
              <a:rPr lang="en-US" sz="2400" dirty="0">
                <a:latin typeface="Constantia"/>
                <a:cs typeface="Arial"/>
              </a:rPr>
              <a:t>Efficiency</a:t>
            </a:r>
            <a:endParaRPr lang="en-US" dirty="0"/>
          </a:p>
          <a:p>
            <a:pPr marL="285750" indent="-285750" algn="just">
              <a:spcBef>
                <a:spcPts val="400"/>
              </a:spcBef>
              <a:spcAft>
                <a:spcPct val="0"/>
              </a:spcAft>
              <a:buFont typeface="Wingdings"/>
              <a:buChar char="q"/>
            </a:pPr>
            <a:endParaRPr lang="en-US" sz="2400" dirty="0">
              <a:latin typeface="Constantia"/>
              <a:cs typeface="Arial"/>
            </a:endParaRPr>
          </a:p>
          <a:p>
            <a:pPr marL="285750" indent="-285750" algn="just">
              <a:spcBef>
                <a:spcPts val="400"/>
              </a:spcBef>
              <a:spcAft>
                <a:spcPct val="0"/>
              </a:spcAft>
              <a:buFont typeface="Wingdings"/>
              <a:buChar char="q"/>
            </a:pPr>
            <a:r>
              <a:rPr lang="en-US" sz="2400" dirty="0">
                <a:latin typeface="Constantia"/>
                <a:cs typeface="Arial"/>
              </a:rPr>
              <a:t>Flexibility</a:t>
            </a:r>
          </a:p>
          <a:p>
            <a:pPr marL="285750" indent="-285750" algn="just">
              <a:spcBef>
                <a:spcPts val="400"/>
              </a:spcBef>
              <a:spcAft>
                <a:spcPct val="0"/>
              </a:spcAft>
              <a:buFont typeface="Wingdings"/>
              <a:buChar char="q"/>
            </a:pPr>
            <a:endParaRPr lang="en-US" sz="2400" dirty="0">
              <a:latin typeface="Constantia"/>
              <a:cs typeface="Arial"/>
            </a:endParaRPr>
          </a:p>
          <a:p>
            <a:pPr marL="285750" indent="-285750" algn="just">
              <a:spcBef>
                <a:spcPts val="400"/>
              </a:spcBef>
              <a:spcAft>
                <a:spcPct val="0"/>
              </a:spcAft>
              <a:buFont typeface="Wingdings"/>
              <a:buChar char="q"/>
            </a:pPr>
            <a:r>
              <a:rPr lang="en-US" sz="2400" dirty="0">
                <a:latin typeface="Constantia"/>
                <a:cs typeface="Arial"/>
              </a:rPr>
              <a:t>Code Readability</a:t>
            </a:r>
          </a:p>
          <a:p>
            <a:pPr marL="285750" indent="-285750" algn="just">
              <a:spcBef>
                <a:spcPts val="400"/>
              </a:spcBef>
              <a:spcAft>
                <a:spcPct val="0"/>
              </a:spcAft>
              <a:buFont typeface="Wingdings"/>
              <a:buChar char="q"/>
            </a:pPr>
            <a:endParaRPr lang="en-US" sz="2400" dirty="0">
              <a:latin typeface="Constantia"/>
              <a:cs typeface="Arial"/>
            </a:endParaRPr>
          </a:p>
          <a:p>
            <a:pPr marL="342900" indent="-342900" algn="just">
              <a:spcBef>
                <a:spcPts val="400"/>
              </a:spcBef>
              <a:spcAft>
                <a:spcPct val="0"/>
              </a:spcAft>
              <a:buFont typeface="Wingdings"/>
              <a:buChar char="q"/>
            </a:pPr>
            <a:r>
              <a:rPr lang="en-US" sz="2400" dirty="0">
                <a:latin typeface="Constantia"/>
                <a:cs typeface="Arial"/>
              </a:rPr>
              <a:t>Reducing code duplication.</a:t>
            </a:r>
          </a:p>
        </p:txBody>
      </p:sp>
    </p:spTree>
    <p:extLst>
      <p:ext uri="{BB962C8B-B14F-4D97-AF65-F5344CB8AC3E}">
        <p14:creationId xmlns:p14="http://schemas.microsoft.com/office/powerpoint/2010/main" val="1297962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Strings</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47033" y="1251514"/>
            <a:ext cx="10896833" cy="34265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ts val="400"/>
              </a:spcBef>
              <a:spcAft>
                <a:spcPct val="0"/>
              </a:spcAft>
              <a:buFont typeface="Arial"/>
              <a:buChar char="•"/>
            </a:pPr>
            <a:r>
              <a:rPr lang="en-US" dirty="0">
                <a:latin typeface="Constantia"/>
                <a:cs typeface="Arial"/>
              </a:rPr>
              <a:t>In Java, a </a:t>
            </a:r>
            <a:r>
              <a:rPr lang="en-US" b="1" dirty="0">
                <a:latin typeface="Constantia"/>
                <a:cs typeface="Arial"/>
              </a:rPr>
              <a:t>String </a:t>
            </a:r>
            <a:r>
              <a:rPr lang="en-US" dirty="0">
                <a:latin typeface="Constantia"/>
                <a:cs typeface="Arial"/>
              </a:rPr>
              <a:t>is an object that represent a sequence of characters.</a:t>
            </a:r>
          </a:p>
          <a:p>
            <a:pPr marL="285750" indent="-285750" algn="just">
              <a:spcBef>
                <a:spcPts val="400"/>
              </a:spcBef>
              <a:spcAft>
                <a:spcPct val="0"/>
              </a:spcAft>
              <a:buFont typeface="Arial"/>
              <a:buChar char="•"/>
            </a:pPr>
            <a:r>
              <a:rPr lang="en-US" dirty="0">
                <a:latin typeface="Constantia"/>
                <a:cs typeface="Arial"/>
              </a:rPr>
              <a:t>Java provides a robust and flexible API for handling strings, allowing for various operations such as </a:t>
            </a:r>
            <a:r>
              <a:rPr lang="en-US" b="1" dirty="0">
                <a:latin typeface="Constantia"/>
                <a:cs typeface="Arial"/>
              </a:rPr>
              <a:t>concatenation</a:t>
            </a:r>
            <a:r>
              <a:rPr lang="en-US" dirty="0">
                <a:latin typeface="Constantia"/>
                <a:cs typeface="Arial"/>
              </a:rPr>
              <a:t>, </a:t>
            </a:r>
            <a:r>
              <a:rPr lang="en-US" b="1" dirty="0">
                <a:latin typeface="Constantia"/>
                <a:cs typeface="Arial"/>
              </a:rPr>
              <a:t>comparison </a:t>
            </a:r>
            <a:r>
              <a:rPr lang="en-US" dirty="0">
                <a:latin typeface="Constantia"/>
                <a:cs typeface="Arial"/>
              </a:rPr>
              <a:t>and </a:t>
            </a:r>
            <a:r>
              <a:rPr lang="en-US" b="1" dirty="0">
                <a:latin typeface="Constantia"/>
                <a:cs typeface="Arial"/>
              </a:rPr>
              <a:t>manipulation</a:t>
            </a:r>
            <a:r>
              <a:rPr lang="en-US" dirty="0">
                <a:latin typeface="Constantia"/>
                <a:cs typeface="Arial"/>
              </a:rPr>
              <a:t>.</a:t>
            </a:r>
          </a:p>
          <a:p>
            <a:pPr marL="285750" indent="-285750">
              <a:spcBef>
                <a:spcPts val="400"/>
              </a:spcBef>
              <a:spcAft>
                <a:spcPct val="0"/>
              </a:spcAft>
              <a:buFont typeface="Arial"/>
              <a:buChar char="•"/>
            </a:pPr>
            <a:endParaRPr lang="en-US" sz="1600" dirty="0">
              <a:latin typeface="Constantia"/>
              <a:cs typeface="Arial"/>
            </a:endParaRPr>
          </a:p>
          <a:p>
            <a:pPr>
              <a:spcBef>
                <a:spcPts val="400"/>
              </a:spcBef>
              <a:spcAft>
                <a:spcPct val="0"/>
              </a:spcAft>
            </a:pPr>
            <a:r>
              <a:rPr lang="en-US" sz="2400" b="1" dirty="0">
                <a:latin typeface="Constantia"/>
                <a:cs typeface="Arial"/>
              </a:rPr>
              <a:t>String</a:t>
            </a:r>
          </a:p>
          <a:p>
            <a:pPr marL="342900" indent="-342900">
              <a:spcBef>
                <a:spcPts val="400"/>
              </a:spcBef>
              <a:spcAft>
                <a:spcPct val="0"/>
              </a:spcAft>
              <a:buFont typeface="Arial"/>
              <a:buChar char="•"/>
            </a:pPr>
            <a:r>
              <a:rPr lang="en-US" dirty="0">
                <a:latin typeface="Constantia"/>
                <a:cs typeface="Arial"/>
              </a:rPr>
              <a:t>Strings are the type of objects that can store the character of values.</a:t>
            </a:r>
          </a:p>
          <a:p>
            <a:pPr marL="342900" indent="-342900">
              <a:spcBef>
                <a:spcPts val="400"/>
              </a:spcBef>
              <a:spcAft>
                <a:spcPct val="0"/>
              </a:spcAft>
              <a:buFont typeface="Arial"/>
              <a:buChar char="•"/>
            </a:pPr>
            <a:r>
              <a:rPr lang="en-US" dirty="0">
                <a:latin typeface="Constantia"/>
                <a:cs typeface="Arial"/>
              </a:rPr>
              <a:t>Every character is stored in 16 bits </a:t>
            </a:r>
            <a:r>
              <a:rPr lang="en-US" dirty="0" err="1">
                <a:latin typeface="Constantia"/>
                <a:cs typeface="Arial"/>
              </a:rPr>
              <a:t>i,e</a:t>
            </a:r>
            <a:r>
              <a:rPr lang="en-US" dirty="0">
                <a:latin typeface="Constantia"/>
                <a:cs typeface="Arial"/>
              </a:rPr>
              <a:t>. UTF 16-bit encoding.</a:t>
            </a:r>
          </a:p>
          <a:p>
            <a:pPr marL="342900" indent="-342900">
              <a:spcBef>
                <a:spcPts val="400"/>
              </a:spcBef>
              <a:spcAft>
                <a:spcPct val="0"/>
              </a:spcAft>
              <a:buFont typeface="Arial"/>
              <a:buChar char="•"/>
            </a:pPr>
            <a:r>
              <a:rPr lang="en-US" dirty="0">
                <a:latin typeface="Constantia"/>
                <a:cs typeface="Arial"/>
              </a:rPr>
              <a:t>A String acts as same as array of characters in Java.</a:t>
            </a:r>
          </a:p>
          <a:p>
            <a:pPr marL="342900" indent="-342900">
              <a:spcBef>
                <a:spcPts val="400"/>
              </a:spcBef>
              <a:spcAft>
                <a:spcPct val="0"/>
              </a:spcAft>
              <a:buFont typeface="Arial"/>
              <a:buChar char="•"/>
            </a:pPr>
            <a:endParaRPr lang="en-US" dirty="0">
              <a:latin typeface="Constantia"/>
              <a:cs typeface="Arial"/>
            </a:endParaRPr>
          </a:p>
          <a:p>
            <a:pPr>
              <a:spcBef>
                <a:spcPts val="400"/>
              </a:spcBef>
              <a:spcAft>
                <a:spcPct val="0"/>
              </a:spcAft>
            </a:pPr>
            <a:r>
              <a:rPr lang="en-US" sz="2400" b="1" dirty="0">
                <a:latin typeface="Constantia"/>
                <a:cs typeface="Arial"/>
              </a:rPr>
              <a:t>String Declaration and Initialization</a:t>
            </a:r>
            <a:r>
              <a:rPr lang="en-US" dirty="0">
                <a:latin typeface="Constantia"/>
                <a:cs typeface="Arial"/>
              </a:rPr>
              <a:t> :</a:t>
            </a:r>
          </a:p>
        </p:txBody>
      </p:sp>
      <p:pic>
        <p:nvPicPr>
          <p:cNvPr id="3" name="Picture 2">
            <a:extLst>
              <a:ext uri="{FF2B5EF4-FFF2-40B4-BE49-F238E27FC236}">
                <a16:creationId xmlns:a16="http://schemas.microsoft.com/office/drawing/2014/main" id="{C03A8047-E92E-3A6D-3076-8B0F038DF687}"/>
              </a:ext>
            </a:extLst>
          </p:cNvPr>
          <p:cNvPicPr>
            <a:picLocks noChangeAspect="1"/>
          </p:cNvPicPr>
          <p:nvPr/>
        </p:nvPicPr>
        <p:blipFill>
          <a:blip r:embed="rId2"/>
          <a:stretch>
            <a:fillRect/>
          </a:stretch>
        </p:blipFill>
        <p:spPr>
          <a:xfrm>
            <a:off x="648559" y="4917165"/>
            <a:ext cx="5635832" cy="696261"/>
          </a:xfrm>
          <a:prstGeom prst="rect">
            <a:avLst/>
          </a:prstGeom>
        </p:spPr>
      </p:pic>
      <p:pic>
        <p:nvPicPr>
          <p:cNvPr id="4" name="Picture 3" descr="A green squares with numbers&#10;&#10;Description automatically generated">
            <a:extLst>
              <a:ext uri="{FF2B5EF4-FFF2-40B4-BE49-F238E27FC236}">
                <a16:creationId xmlns:a16="http://schemas.microsoft.com/office/drawing/2014/main" id="{4072AA93-2ABF-6D10-D92F-B05C3CCBA1FF}"/>
              </a:ext>
            </a:extLst>
          </p:cNvPr>
          <p:cNvPicPr>
            <a:picLocks noChangeAspect="1"/>
          </p:cNvPicPr>
          <p:nvPr/>
        </p:nvPicPr>
        <p:blipFill>
          <a:blip r:embed="rId3"/>
          <a:stretch>
            <a:fillRect/>
          </a:stretch>
        </p:blipFill>
        <p:spPr>
          <a:xfrm>
            <a:off x="6752287" y="3980124"/>
            <a:ext cx="4546080" cy="2308016"/>
          </a:xfrm>
          <a:prstGeom prst="rect">
            <a:avLst/>
          </a:prstGeom>
        </p:spPr>
      </p:pic>
    </p:spTree>
    <p:extLst>
      <p:ext uri="{BB962C8B-B14F-4D97-AF65-F5344CB8AC3E}">
        <p14:creationId xmlns:p14="http://schemas.microsoft.com/office/powerpoint/2010/main" val="385121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Strings</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47033" y="1251514"/>
            <a:ext cx="10896833" cy="21339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400"/>
              </a:spcBef>
              <a:spcAft>
                <a:spcPct val="0"/>
              </a:spcAft>
            </a:pPr>
            <a:r>
              <a:rPr lang="en-US" sz="2400" b="1" dirty="0">
                <a:latin typeface="Constantia"/>
                <a:cs typeface="Arial"/>
              </a:rPr>
              <a:t>Ways of creating a String</a:t>
            </a:r>
          </a:p>
          <a:p>
            <a:pPr marL="285750" indent="-285750" algn="just">
              <a:spcBef>
                <a:spcPts val="400"/>
              </a:spcBef>
              <a:spcAft>
                <a:spcPct val="0"/>
              </a:spcAft>
              <a:buFont typeface="Arial"/>
              <a:buChar char="•"/>
            </a:pPr>
            <a:r>
              <a:rPr lang="en-US" dirty="0">
                <a:latin typeface="Constantia"/>
                <a:cs typeface="Arial"/>
              </a:rPr>
              <a:t>There are two ways to create a String in Java.</a:t>
            </a:r>
          </a:p>
          <a:p>
            <a:pPr marL="800100" lvl="1" indent="-342900" algn="just">
              <a:spcBef>
                <a:spcPts val="400"/>
              </a:spcBef>
              <a:spcAft>
                <a:spcPct val="0"/>
              </a:spcAft>
              <a:buAutoNum type="arabicPeriod"/>
            </a:pPr>
            <a:r>
              <a:rPr lang="en-US" dirty="0">
                <a:latin typeface="Constantia"/>
                <a:cs typeface="Arial"/>
              </a:rPr>
              <a:t>String Literal</a:t>
            </a:r>
          </a:p>
          <a:p>
            <a:pPr marL="800100" lvl="1" indent="-342900" algn="just">
              <a:spcBef>
                <a:spcPts val="400"/>
              </a:spcBef>
              <a:spcAft>
                <a:spcPct val="0"/>
              </a:spcAft>
              <a:buAutoNum type="arabicPeriod"/>
            </a:pPr>
            <a:r>
              <a:rPr lang="en-US" dirty="0">
                <a:latin typeface="Constantia"/>
                <a:cs typeface="Arial"/>
              </a:rPr>
              <a:t>Using New Keyword</a:t>
            </a:r>
          </a:p>
          <a:p>
            <a:pPr marL="800100" lvl="1" indent="-342900" algn="just">
              <a:spcBef>
                <a:spcPts val="400"/>
              </a:spcBef>
              <a:spcAft>
                <a:spcPct val="0"/>
              </a:spcAft>
              <a:buAutoNum type="arabicPeriod"/>
            </a:pPr>
            <a:endParaRPr lang="en-US" dirty="0">
              <a:latin typeface="Constantia"/>
              <a:cs typeface="Arial"/>
            </a:endParaRPr>
          </a:p>
          <a:p>
            <a:pPr lvl="1" algn="just">
              <a:spcBef>
                <a:spcPts val="400"/>
              </a:spcBef>
              <a:spcAft>
                <a:spcPct val="0"/>
              </a:spcAft>
            </a:pPr>
            <a:r>
              <a:rPr lang="en-US" sz="2000" b="1" dirty="0">
                <a:latin typeface="Constantia"/>
                <a:cs typeface="Arial"/>
              </a:rPr>
              <a:t>Syntax</a:t>
            </a:r>
          </a:p>
        </p:txBody>
      </p:sp>
      <p:pic>
        <p:nvPicPr>
          <p:cNvPr id="5" name="Picture 4">
            <a:extLst>
              <a:ext uri="{FF2B5EF4-FFF2-40B4-BE49-F238E27FC236}">
                <a16:creationId xmlns:a16="http://schemas.microsoft.com/office/drawing/2014/main" id="{21D7B4ED-E83F-4637-998E-23BAFF0681A3}"/>
              </a:ext>
            </a:extLst>
          </p:cNvPr>
          <p:cNvPicPr>
            <a:picLocks noChangeAspect="1"/>
          </p:cNvPicPr>
          <p:nvPr/>
        </p:nvPicPr>
        <p:blipFill>
          <a:blip r:embed="rId2"/>
          <a:stretch>
            <a:fillRect/>
          </a:stretch>
        </p:blipFill>
        <p:spPr>
          <a:xfrm>
            <a:off x="1181412" y="3427049"/>
            <a:ext cx="5981700" cy="428625"/>
          </a:xfrm>
          <a:prstGeom prst="rect">
            <a:avLst/>
          </a:prstGeom>
        </p:spPr>
      </p:pic>
      <p:sp>
        <p:nvSpPr>
          <p:cNvPr id="7" name="TextBox 6">
            <a:extLst>
              <a:ext uri="{FF2B5EF4-FFF2-40B4-BE49-F238E27FC236}">
                <a16:creationId xmlns:a16="http://schemas.microsoft.com/office/drawing/2014/main" id="{A406F003-A7E9-BDBC-B07B-36F3842930B9}"/>
              </a:ext>
            </a:extLst>
          </p:cNvPr>
          <p:cNvSpPr txBox="1"/>
          <p:nvPr/>
        </p:nvSpPr>
        <p:spPr>
          <a:xfrm>
            <a:off x="1184179" y="4099644"/>
            <a:ext cx="597506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400"/>
              </a:spcBef>
              <a:spcAft>
                <a:spcPct val="0"/>
              </a:spcAft>
            </a:pPr>
            <a:r>
              <a:rPr lang="en-US" sz="2000" b="1" dirty="0">
                <a:latin typeface="Constantia"/>
                <a:cs typeface="Arial"/>
              </a:rPr>
              <a:t>String Literal</a:t>
            </a:r>
          </a:p>
        </p:txBody>
      </p:sp>
      <p:pic>
        <p:nvPicPr>
          <p:cNvPr id="8" name="Picture 7" descr="A black text with a white background&#10;&#10;Description automatically generated">
            <a:extLst>
              <a:ext uri="{FF2B5EF4-FFF2-40B4-BE49-F238E27FC236}">
                <a16:creationId xmlns:a16="http://schemas.microsoft.com/office/drawing/2014/main" id="{679C768A-DCE5-20F8-9198-CB511A643AB1}"/>
              </a:ext>
            </a:extLst>
          </p:cNvPr>
          <p:cNvPicPr>
            <a:picLocks noChangeAspect="1"/>
          </p:cNvPicPr>
          <p:nvPr/>
        </p:nvPicPr>
        <p:blipFill>
          <a:blip r:embed="rId3"/>
          <a:stretch>
            <a:fillRect/>
          </a:stretch>
        </p:blipFill>
        <p:spPr>
          <a:xfrm>
            <a:off x="1176259" y="4505481"/>
            <a:ext cx="5967022" cy="570251"/>
          </a:xfrm>
          <a:prstGeom prst="rect">
            <a:avLst/>
          </a:prstGeom>
        </p:spPr>
      </p:pic>
      <p:sp>
        <p:nvSpPr>
          <p:cNvPr id="10" name="TextBox 9">
            <a:extLst>
              <a:ext uri="{FF2B5EF4-FFF2-40B4-BE49-F238E27FC236}">
                <a16:creationId xmlns:a16="http://schemas.microsoft.com/office/drawing/2014/main" id="{0B79FC70-DA57-480C-DD18-75A9FD342025}"/>
              </a:ext>
            </a:extLst>
          </p:cNvPr>
          <p:cNvSpPr txBox="1"/>
          <p:nvPr/>
        </p:nvSpPr>
        <p:spPr>
          <a:xfrm>
            <a:off x="1171686" y="5273873"/>
            <a:ext cx="597506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400"/>
              </a:spcBef>
              <a:spcAft>
                <a:spcPct val="0"/>
              </a:spcAft>
            </a:pPr>
            <a:r>
              <a:rPr lang="en-US" sz="2000" b="1" dirty="0">
                <a:latin typeface="Constantia"/>
                <a:cs typeface="Arial"/>
              </a:rPr>
              <a:t>Using New Keyword</a:t>
            </a:r>
          </a:p>
        </p:txBody>
      </p:sp>
      <p:pic>
        <p:nvPicPr>
          <p:cNvPr id="11" name="Picture 10" descr="A close up of a word&#10;&#10;Description automatically generated">
            <a:extLst>
              <a:ext uri="{FF2B5EF4-FFF2-40B4-BE49-F238E27FC236}">
                <a16:creationId xmlns:a16="http://schemas.microsoft.com/office/drawing/2014/main" id="{9EAF6D53-B782-A399-4C97-CA7F3C845150}"/>
              </a:ext>
            </a:extLst>
          </p:cNvPr>
          <p:cNvPicPr>
            <a:picLocks noChangeAspect="1"/>
          </p:cNvPicPr>
          <p:nvPr/>
        </p:nvPicPr>
        <p:blipFill>
          <a:blip r:embed="rId4"/>
          <a:stretch>
            <a:fillRect/>
          </a:stretch>
        </p:blipFill>
        <p:spPr>
          <a:xfrm>
            <a:off x="1181725" y="5677915"/>
            <a:ext cx="5981075" cy="523875"/>
          </a:xfrm>
          <a:prstGeom prst="rect">
            <a:avLst/>
          </a:prstGeom>
        </p:spPr>
      </p:pic>
    </p:spTree>
    <p:extLst>
      <p:ext uri="{BB962C8B-B14F-4D97-AF65-F5344CB8AC3E}">
        <p14:creationId xmlns:p14="http://schemas.microsoft.com/office/powerpoint/2010/main" val="2110926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String Methods</a:t>
            </a:r>
            <a:endParaRPr lang="en-US" dirty="0"/>
          </a:p>
        </p:txBody>
      </p:sp>
      <p:graphicFrame>
        <p:nvGraphicFramePr>
          <p:cNvPr id="5" name="Table 4">
            <a:extLst>
              <a:ext uri="{FF2B5EF4-FFF2-40B4-BE49-F238E27FC236}">
                <a16:creationId xmlns:a16="http://schemas.microsoft.com/office/drawing/2014/main" id="{A0CAAB26-790F-504A-F379-32521EEFD0ED}"/>
              </a:ext>
            </a:extLst>
          </p:cNvPr>
          <p:cNvGraphicFramePr>
            <a:graphicFrameLocks noGrp="1"/>
          </p:cNvGraphicFramePr>
          <p:nvPr>
            <p:extLst>
              <p:ext uri="{D42A27DB-BD31-4B8C-83A1-F6EECF244321}">
                <p14:modId xmlns:p14="http://schemas.microsoft.com/office/powerpoint/2010/main" val="349854731"/>
              </p:ext>
            </p:extLst>
          </p:nvPr>
        </p:nvGraphicFramePr>
        <p:xfrm>
          <a:off x="487180" y="1111770"/>
          <a:ext cx="11049198" cy="5093004"/>
        </p:xfrm>
        <a:graphic>
          <a:graphicData uri="http://schemas.openxmlformats.org/drawingml/2006/table">
            <a:tbl>
              <a:tblPr firstRow="1" bandRow="1">
                <a:tableStyleId>{5C22544A-7EE6-4342-B048-85BDC9FD1C3A}</a:tableStyleId>
              </a:tblPr>
              <a:tblGrid>
                <a:gridCol w="2120080">
                  <a:extLst>
                    <a:ext uri="{9D8B030D-6E8A-4147-A177-3AD203B41FA5}">
                      <a16:colId xmlns:a16="http://schemas.microsoft.com/office/drawing/2014/main" val="3002021692"/>
                    </a:ext>
                  </a:extLst>
                </a:gridCol>
                <a:gridCol w="6967460">
                  <a:extLst>
                    <a:ext uri="{9D8B030D-6E8A-4147-A177-3AD203B41FA5}">
                      <a16:colId xmlns:a16="http://schemas.microsoft.com/office/drawing/2014/main" val="578792065"/>
                    </a:ext>
                  </a:extLst>
                </a:gridCol>
                <a:gridCol w="1961658">
                  <a:extLst>
                    <a:ext uri="{9D8B030D-6E8A-4147-A177-3AD203B41FA5}">
                      <a16:colId xmlns:a16="http://schemas.microsoft.com/office/drawing/2014/main" val="1012513748"/>
                    </a:ext>
                  </a:extLst>
                </a:gridCol>
              </a:tblGrid>
              <a:tr h="781925">
                <a:tc>
                  <a:txBody>
                    <a:bodyPr/>
                    <a:lstStyle/>
                    <a:p>
                      <a:pPr lvl="0" algn="ctr">
                        <a:buNone/>
                      </a:pPr>
                      <a:r>
                        <a:rPr lang="en-US" sz="2400" b="1" i="0" dirty="0">
                          <a:latin typeface="Constantia"/>
                        </a:rPr>
                        <a:t>Method Name</a:t>
                      </a:r>
                    </a:p>
                  </a:txBody>
                  <a:tcPr anchor="ctr"/>
                </a:tc>
                <a:tc>
                  <a:txBody>
                    <a:bodyPr/>
                    <a:lstStyle/>
                    <a:p>
                      <a:pPr lvl="0" algn="ctr">
                        <a:buNone/>
                      </a:pPr>
                      <a:r>
                        <a:rPr lang="en-US" sz="2400" b="1" i="0" dirty="0">
                          <a:latin typeface="Constantia"/>
                        </a:rPr>
                        <a:t>Description</a:t>
                      </a:r>
                      <a:endParaRPr lang="en-US" dirty="0"/>
                    </a:p>
                  </a:txBody>
                  <a:tcPr anchor="ctr"/>
                </a:tc>
                <a:tc>
                  <a:txBody>
                    <a:bodyPr/>
                    <a:lstStyle/>
                    <a:p>
                      <a:pPr lvl="0" algn="ctr">
                        <a:buNone/>
                      </a:pPr>
                      <a:r>
                        <a:rPr lang="en-US" sz="2400" b="1" i="0" dirty="0">
                          <a:latin typeface="Constantia"/>
                        </a:rPr>
                        <a:t>Return Type</a:t>
                      </a:r>
                    </a:p>
                  </a:txBody>
                  <a:tcPr anchor="ctr"/>
                </a:tc>
                <a:extLst>
                  <a:ext uri="{0D108BD9-81ED-4DB2-BD59-A6C34878D82A}">
                    <a16:rowId xmlns:a16="http://schemas.microsoft.com/office/drawing/2014/main" val="199225050"/>
                  </a:ext>
                </a:extLst>
              </a:tr>
              <a:tr h="493848">
                <a:tc>
                  <a:txBody>
                    <a:bodyPr/>
                    <a:lstStyle/>
                    <a:p>
                      <a:pPr marL="0" indent="0">
                        <a:buNone/>
                      </a:pPr>
                      <a:r>
                        <a:rPr lang="en-US" sz="2000" b="0" i="1" dirty="0">
                          <a:latin typeface="Constantia"/>
                        </a:rPr>
                        <a:t>length()</a:t>
                      </a:r>
                    </a:p>
                  </a:txBody>
                  <a:tcPr anchor="ctr"/>
                </a:tc>
                <a:tc>
                  <a:txBody>
                    <a:bodyPr/>
                    <a:lstStyle/>
                    <a:p>
                      <a:pPr marL="0" indent="0">
                        <a:buNone/>
                      </a:pPr>
                      <a:r>
                        <a:rPr lang="en-US" sz="2000" b="0" i="1" dirty="0">
                          <a:latin typeface="Constantia"/>
                        </a:rPr>
                        <a:t>Returns the number of characters in a string</a:t>
                      </a:r>
                    </a:p>
                  </a:txBody>
                  <a:tcPr anchor="ctr"/>
                </a:tc>
                <a:tc>
                  <a:txBody>
                    <a:bodyPr/>
                    <a:lstStyle/>
                    <a:p>
                      <a:pPr marL="0" lvl="0" indent="0">
                        <a:buNone/>
                      </a:pPr>
                      <a:r>
                        <a:rPr lang="en-US" sz="2000" b="0" i="1" dirty="0">
                          <a:latin typeface="Constantia"/>
                        </a:rPr>
                        <a:t>Int</a:t>
                      </a:r>
                      <a:endParaRPr lang="en-US" dirty="0"/>
                    </a:p>
                  </a:txBody>
                  <a:tcPr anchor="ctr"/>
                </a:tc>
                <a:extLst>
                  <a:ext uri="{0D108BD9-81ED-4DB2-BD59-A6C34878D82A}">
                    <a16:rowId xmlns:a16="http://schemas.microsoft.com/office/drawing/2014/main" val="3850007030"/>
                  </a:ext>
                </a:extLst>
              </a:tr>
              <a:tr h="452694">
                <a:tc>
                  <a:txBody>
                    <a:bodyPr/>
                    <a:lstStyle/>
                    <a:p>
                      <a:pPr marL="0" lvl="0" indent="0">
                        <a:buNone/>
                      </a:pPr>
                      <a:r>
                        <a:rPr lang="en-US" sz="2000" b="0" i="1" noProof="1">
                          <a:latin typeface="Constantia"/>
                        </a:rPr>
                        <a:t>charAt(int i)</a:t>
                      </a:r>
                      <a:endParaRPr lang="en-US" noProof="1"/>
                    </a:p>
                  </a:txBody>
                  <a:tcPr anchor="ctr"/>
                </a:tc>
                <a:tc>
                  <a:txBody>
                    <a:bodyPr/>
                    <a:lstStyle/>
                    <a:p>
                      <a:pPr marL="0" lvl="0" indent="0">
                        <a:buNone/>
                      </a:pPr>
                      <a:r>
                        <a:rPr lang="en-US" sz="2000" b="0" i="1" dirty="0">
                          <a:latin typeface="Constantia"/>
                        </a:rPr>
                        <a:t>Returns the character at </a:t>
                      </a:r>
                      <a:r>
                        <a:rPr lang="en-US" sz="2000" b="0" i="1" err="1">
                          <a:latin typeface="Constantia"/>
                        </a:rPr>
                        <a:t>i</a:t>
                      </a:r>
                      <a:r>
                        <a:rPr lang="en-US" sz="2000" b="0" i="1" baseline="30000" err="1">
                          <a:latin typeface="Constantia"/>
                        </a:rPr>
                        <a:t>th</a:t>
                      </a:r>
                      <a:r>
                        <a:rPr lang="en-US" sz="2000" b="0" i="1" dirty="0">
                          <a:latin typeface="Constantia"/>
                        </a:rPr>
                        <a:t> index</a:t>
                      </a:r>
                      <a:endParaRPr lang="en-US" dirty="0"/>
                    </a:p>
                  </a:txBody>
                  <a:tcPr anchor="ctr"/>
                </a:tc>
                <a:tc>
                  <a:txBody>
                    <a:bodyPr/>
                    <a:lstStyle/>
                    <a:p>
                      <a:pPr marL="0" lvl="0" indent="0">
                        <a:buNone/>
                      </a:pPr>
                      <a:r>
                        <a:rPr lang="en-US" sz="2000" b="0" i="1" dirty="0">
                          <a:latin typeface="Constantia"/>
                        </a:rPr>
                        <a:t>Char</a:t>
                      </a:r>
                    </a:p>
                  </a:txBody>
                  <a:tcPr anchor="ctr"/>
                </a:tc>
                <a:extLst>
                  <a:ext uri="{0D108BD9-81ED-4DB2-BD59-A6C34878D82A}">
                    <a16:rowId xmlns:a16="http://schemas.microsoft.com/office/drawing/2014/main" val="755816620"/>
                  </a:ext>
                </a:extLst>
              </a:tr>
              <a:tr h="432116">
                <a:tc>
                  <a:txBody>
                    <a:bodyPr/>
                    <a:lstStyle/>
                    <a:p>
                      <a:pPr marL="0" lvl="0" indent="0">
                        <a:buNone/>
                      </a:pPr>
                      <a:r>
                        <a:rPr lang="en-US" sz="2000" b="0" i="1" dirty="0">
                          <a:latin typeface="Constantia"/>
                        </a:rPr>
                        <a:t>Substring(int I)</a:t>
                      </a:r>
                      <a:endParaRPr lang="en-US" dirty="0"/>
                    </a:p>
                  </a:txBody>
                  <a:tcPr anchor="ctr"/>
                </a:tc>
                <a:tc>
                  <a:txBody>
                    <a:bodyPr/>
                    <a:lstStyle/>
                    <a:p>
                      <a:pPr marL="0" lvl="0" indent="0">
                        <a:buNone/>
                      </a:pPr>
                      <a:r>
                        <a:rPr lang="en-US" sz="2000" b="0" i="1" dirty="0">
                          <a:latin typeface="Constantia"/>
                        </a:rPr>
                        <a:t>Returns the substring from </a:t>
                      </a:r>
                      <a:r>
                        <a:rPr lang="en-US" sz="2000" b="0" i="1" err="1">
                          <a:latin typeface="Constantia"/>
                        </a:rPr>
                        <a:t>i</a:t>
                      </a:r>
                      <a:r>
                        <a:rPr lang="en-US" sz="2000" b="0" i="1" baseline="30000" err="1">
                          <a:latin typeface="Constantia"/>
                        </a:rPr>
                        <a:t>th</a:t>
                      </a:r>
                      <a:r>
                        <a:rPr lang="en-US" sz="2000" b="0" i="1" dirty="0">
                          <a:latin typeface="Constantia"/>
                        </a:rPr>
                        <a:t> index character to end </a:t>
                      </a:r>
                      <a:endParaRPr lang="en-US" dirty="0"/>
                    </a:p>
                  </a:txBody>
                  <a:tcPr anchor="ctr"/>
                </a:tc>
                <a:tc>
                  <a:txBody>
                    <a:bodyPr/>
                    <a:lstStyle/>
                    <a:p>
                      <a:pPr marL="0" lvl="0" indent="0">
                        <a:buNone/>
                      </a:pPr>
                      <a:r>
                        <a:rPr lang="en-US" sz="2000" b="0" i="1" dirty="0">
                          <a:latin typeface="Constantia"/>
                        </a:rPr>
                        <a:t>String</a:t>
                      </a:r>
                      <a:endParaRPr lang="en-US" dirty="0"/>
                    </a:p>
                  </a:txBody>
                  <a:tcPr anchor="ctr"/>
                </a:tc>
                <a:extLst>
                  <a:ext uri="{0D108BD9-81ED-4DB2-BD59-A6C34878D82A}">
                    <a16:rowId xmlns:a16="http://schemas.microsoft.com/office/drawing/2014/main" val="1424164359"/>
                  </a:ext>
                </a:extLst>
              </a:tr>
              <a:tr h="535000">
                <a:tc>
                  <a:txBody>
                    <a:bodyPr/>
                    <a:lstStyle/>
                    <a:p>
                      <a:pPr marL="0" lvl="0" indent="0">
                        <a:buNone/>
                      </a:pPr>
                      <a:r>
                        <a:rPr lang="en-US" sz="2000" b="0" i="1" noProof="1">
                          <a:latin typeface="Constantia"/>
                        </a:rPr>
                        <a:t>concat</a:t>
                      </a:r>
                      <a:r>
                        <a:rPr lang="en-US" sz="2000" b="0" i="1" dirty="0">
                          <a:latin typeface="Constantia"/>
                        </a:rPr>
                        <a:t>(String s)</a:t>
                      </a:r>
                      <a:endParaRPr lang="en-US" dirty="0"/>
                    </a:p>
                  </a:txBody>
                  <a:tcPr anchor="ctr"/>
                </a:tc>
                <a:tc>
                  <a:txBody>
                    <a:bodyPr/>
                    <a:lstStyle/>
                    <a:p>
                      <a:pPr marL="0" lvl="0" indent="0">
                        <a:buNone/>
                      </a:pPr>
                      <a:r>
                        <a:rPr lang="en-US" sz="2000" b="0" i="1" u="none" strike="noStrike" noProof="0" dirty="0">
                          <a:solidFill>
                            <a:srgbClr val="000000"/>
                          </a:solidFill>
                          <a:latin typeface="Constantia"/>
                        </a:rPr>
                        <a:t>Concatenates specified string to the end of the string</a:t>
                      </a:r>
                      <a:endParaRPr lang="en-US" dirty="0"/>
                    </a:p>
                  </a:txBody>
                  <a:tcPr anchor="ctr"/>
                </a:tc>
                <a:tc>
                  <a:txBody>
                    <a:bodyPr/>
                    <a:lstStyle/>
                    <a:p>
                      <a:pPr marL="0" lvl="0" indent="0">
                        <a:buNone/>
                      </a:pPr>
                      <a:r>
                        <a:rPr lang="en-US" sz="2000" b="0" i="1" dirty="0">
                          <a:latin typeface="Constantia"/>
                        </a:rPr>
                        <a:t>string</a:t>
                      </a:r>
                    </a:p>
                  </a:txBody>
                  <a:tcPr anchor="ctr"/>
                </a:tc>
                <a:extLst>
                  <a:ext uri="{0D108BD9-81ED-4DB2-BD59-A6C34878D82A}">
                    <a16:rowId xmlns:a16="http://schemas.microsoft.com/office/drawing/2014/main" val="4171659585"/>
                  </a:ext>
                </a:extLst>
              </a:tr>
              <a:tr h="761348">
                <a:tc>
                  <a:txBody>
                    <a:bodyPr/>
                    <a:lstStyle/>
                    <a:p>
                      <a:pPr marL="0" lvl="0" indent="0">
                        <a:buNone/>
                      </a:pPr>
                      <a:r>
                        <a:rPr lang="en-US" sz="2000" b="0" i="1" err="1">
                          <a:latin typeface="Constantia"/>
                        </a:rPr>
                        <a:t>i</a:t>
                      </a:r>
                      <a:r>
                        <a:rPr lang="en-US" sz="2000" b="0" i="1" noProof="1">
                          <a:latin typeface="Constantia"/>
                        </a:rPr>
                        <a:t>ndexOf(String s)</a:t>
                      </a:r>
                    </a:p>
                  </a:txBody>
                  <a:tcPr anchor="ctr"/>
                </a:tc>
                <a:tc>
                  <a:txBody>
                    <a:bodyPr/>
                    <a:lstStyle/>
                    <a:p>
                      <a:pPr marL="0" lvl="0" indent="0">
                        <a:buNone/>
                      </a:pPr>
                      <a:r>
                        <a:rPr lang="en-US" sz="2000" b="0" i="1" u="none" strike="noStrike" noProof="0" dirty="0">
                          <a:solidFill>
                            <a:srgbClr val="000000"/>
                          </a:solidFill>
                          <a:latin typeface="Constantia"/>
                        </a:rPr>
                        <a:t>Returns the index within the string of the first occurrence of the specified string</a:t>
                      </a:r>
                      <a:endParaRPr lang="en-US" dirty="0"/>
                    </a:p>
                  </a:txBody>
                  <a:tcPr anchor="ctr"/>
                </a:tc>
                <a:tc>
                  <a:txBody>
                    <a:bodyPr/>
                    <a:lstStyle/>
                    <a:p>
                      <a:pPr marL="0" lvl="0" indent="0">
                        <a:buNone/>
                      </a:pPr>
                      <a:r>
                        <a:rPr lang="en-US" sz="2000" b="0" i="1" dirty="0">
                          <a:latin typeface="Constantia"/>
                        </a:rPr>
                        <a:t>Int</a:t>
                      </a:r>
                    </a:p>
                  </a:txBody>
                  <a:tcPr anchor="ctr"/>
                </a:tc>
                <a:extLst>
                  <a:ext uri="{0D108BD9-81ED-4DB2-BD59-A6C34878D82A}">
                    <a16:rowId xmlns:a16="http://schemas.microsoft.com/office/drawing/2014/main" val="167373224"/>
                  </a:ext>
                </a:extLst>
              </a:tr>
              <a:tr h="497758">
                <a:tc>
                  <a:txBody>
                    <a:bodyPr/>
                    <a:lstStyle/>
                    <a:p>
                      <a:pPr marL="0" lvl="0" indent="0">
                        <a:buNone/>
                      </a:pPr>
                      <a:r>
                        <a:rPr lang="en-US" sz="2000" b="0" i="1" dirty="0">
                          <a:latin typeface="Constantia"/>
                        </a:rPr>
                        <a:t>Equals(Object o)</a:t>
                      </a:r>
                      <a:endParaRPr lang="en-US" dirty="0"/>
                    </a:p>
                  </a:txBody>
                  <a:tcPr anchor="ctr"/>
                </a:tc>
                <a:tc>
                  <a:txBody>
                    <a:bodyPr/>
                    <a:lstStyle/>
                    <a:p>
                      <a:pPr marL="0" lvl="0" indent="0">
                        <a:buNone/>
                      </a:pPr>
                      <a:r>
                        <a:rPr lang="en-US" sz="2000" b="0" i="1" u="none" strike="noStrike" noProof="0" dirty="0">
                          <a:solidFill>
                            <a:srgbClr val="000000"/>
                          </a:solidFill>
                          <a:latin typeface="Constantia"/>
                        </a:rPr>
                        <a:t>Compares the string to the specified object</a:t>
                      </a:r>
                      <a:endParaRPr lang="en-US" dirty="0"/>
                    </a:p>
                  </a:txBody>
                  <a:tcPr anchor="ctr"/>
                </a:tc>
                <a:tc>
                  <a:txBody>
                    <a:bodyPr/>
                    <a:lstStyle/>
                    <a:p>
                      <a:pPr marL="0" lvl="0" indent="0">
                        <a:buNone/>
                      </a:pPr>
                      <a:r>
                        <a:rPr lang="en-US" sz="2000" b="0" i="1" noProof="1">
                          <a:latin typeface="Constantia"/>
                        </a:rPr>
                        <a:t>boolean</a:t>
                      </a:r>
                    </a:p>
                  </a:txBody>
                  <a:tcPr anchor="ctr"/>
                </a:tc>
                <a:extLst>
                  <a:ext uri="{0D108BD9-81ED-4DB2-BD59-A6C34878D82A}">
                    <a16:rowId xmlns:a16="http://schemas.microsoft.com/office/drawing/2014/main" val="2405942396"/>
                  </a:ext>
                </a:extLst>
              </a:tr>
              <a:tr h="370385">
                <a:tc>
                  <a:txBody>
                    <a:bodyPr/>
                    <a:lstStyle/>
                    <a:p>
                      <a:pPr marL="0" lvl="0" indent="0">
                        <a:buNone/>
                      </a:pPr>
                      <a:r>
                        <a:rPr lang="en-US" sz="2000" b="0" i="1" dirty="0">
                          <a:latin typeface="Constantia"/>
                        </a:rPr>
                        <a:t>Trim()</a:t>
                      </a:r>
                    </a:p>
                  </a:txBody>
                  <a:tcPr anchor="ctr"/>
                </a:tc>
                <a:tc>
                  <a:txBody>
                    <a:bodyPr/>
                    <a:lstStyle/>
                    <a:p>
                      <a:pPr marL="0" lvl="0" indent="0">
                        <a:buNone/>
                      </a:pPr>
                      <a:r>
                        <a:rPr lang="en-US" sz="2000" b="0" i="1" dirty="0">
                          <a:latin typeface="Constantia"/>
                        </a:rPr>
                        <a:t>Returns the copy of </a:t>
                      </a:r>
                      <a:r>
                        <a:rPr lang="en-US" sz="2000" b="0" i="1" dirty="0" err="1">
                          <a:latin typeface="Constantia"/>
                        </a:rPr>
                        <a:t>strin</a:t>
                      </a:r>
                      <a:r>
                        <a:rPr lang="en-US" sz="2000" b="0" i="1" dirty="0">
                          <a:latin typeface="Constantia"/>
                        </a:rPr>
                        <a:t> by removing whitespace at both ends</a:t>
                      </a:r>
                      <a:endParaRPr lang="en-US" dirty="0"/>
                    </a:p>
                  </a:txBody>
                  <a:tcPr anchor="ctr"/>
                </a:tc>
                <a:tc>
                  <a:txBody>
                    <a:bodyPr/>
                    <a:lstStyle/>
                    <a:p>
                      <a:pPr marL="0" lvl="0" indent="0">
                        <a:buNone/>
                      </a:pPr>
                      <a:r>
                        <a:rPr lang="en-US" sz="2000" b="0" i="1" dirty="0">
                          <a:latin typeface="Constantia"/>
                        </a:rPr>
                        <a:t>string</a:t>
                      </a:r>
                    </a:p>
                  </a:txBody>
                  <a:tcPr anchor="ctr"/>
                </a:tc>
                <a:extLst>
                  <a:ext uri="{0D108BD9-81ED-4DB2-BD59-A6C34878D82A}">
                    <a16:rowId xmlns:a16="http://schemas.microsoft.com/office/drawing/2014/main" val="2563552617"/>
                  </a:ext>
                </a:extLst>
              </a:tr>
              <a:tr h="535000">
                <a:tc>
                  <a:txBody>
                    <a:bodyPr/>
                    <a:lstStyle/>
                    <a:p>
                      <a:pPr marL="0" lvl="0" indent="0">
                        <a:buNone/>
                      </a:pPr>
                      <a:r>
                        <a:rPr lang="en-US" sz="2000" b="0" i="1" dirty="0">
                          <a:latin typeface="Constantia"/>
                        </a:rPr>
                        <a:t>Replace(char a, char b)</a:t>
                      </a:r>
                    </a:p>
                  </a:txBody>
                  <a:tcPr anchor="ctr"/>
                </a:tc>
                <a:tc>
                  <a:txBody>
                    <a:bodyPr/>
                    <a:lstStyle/>
                    <a:p>
                      <a:pPr marL="0" lvl="0" indent="0">
                        <a:buNone/>
                      </a:pPr>
                      <a:r>
                        <a:rPr lang="en-US" sz="2000" b="0" i="1" u="none" strike="noStrike" noProof="0" dirty="0">
                          <a:solidFill>
                            <a:srgbClr val="000000"/>
                          </a:solidFill>
                          <a:latin typeface="Constantia"/>
                        </a:rPr>
                        <a:t>Returns new string by replacing all occurrences of a with b</a:t>
                      </a:r>
                      <a:endParaRPr lang="en-US" dirty="0"/>
                    </a:p>
                  </a:txBody>
                  <a:tcPr anchor="ctr"/>
                </a:tc>
                <a:tc>
                  <a:txBody>
                    <a:bodyPr/>
                    <a:lstStyle/>
                    <a:p>
                      <a:pPr marL="0" lvl="0" indent="0">
                        <a:buNone/>
                      </a:pPr>
                      <a:r>
                        <a:rPr lang="en-US" sz="2000" b="0" i="1" dirty="0">
                          <a:latin typeface="Constantia"/>
                        </a:rPr>
                        <a:t>string</a:t>
                      </a:r>
                    </a:p>
                  </a:txBody>
                  <a:tcPr anchor="ctr"/>
                </a:tc>
                <a:extLst>
                  <a:ext uri="{0D108BD9-81ED-4DB2-BD59-A6C34878D82A}">
                    <a16:rowId xmlns:a16="http://schemas.microsoft.com/office/drawing/2014/main" val="243107150"/>
                  </a:ext>
                </a:extLst>
              </a:tr>
            </a:tbl>
          </a:graphicData>
        </a:graphic>
      </p:graphicFrame>
    </p:spTree>
    <p:extLst>
      <p:ext uri="{BB962C8B-B14F-4D97-AF65-F5344CB8AC3E}">
        <p14:creationId xmlns:p14="http://schemas.microsoft.com/office/powerpoint/2010/main" val="4152208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Immutable Strings</a:t>
            </a:r>
            <a:endParaRPr lang="en-US" dirty="0"/>
          </a:p>
        </p:txBody>
      </p:sp>
      <p:sp>
        <p:nvSpPr>
          <p:cNvPr id="6" name="TextBox 5">
            <a:extLst>
              <a:ext uri="{FF2B5EF4-FFF2-40B4-BE49-F238E27FC236}">
                <a16:creationId xmlns:a16="http://schemas.microsoft.com/office/drawing/2014/main" id="{DF0500B9-06E1-402A-1A50-C310899C4564}"/>
              </a:ext>
            </a:extLst>
          </p:cNvPr>
          <p:cNvSpPr txBox="1"/>
          <p:nvPr/>
        </p:nvSpPr>
        <p:spPr>
          <a:xfrm>
            <a:off x="647033" y="1251514"/>
            <a:ext cx="10896833" cy="17132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Bef>
                <a:spcPts val="400"/>
              </a:spcBef>
              <a:spcAft>
                <a:spcPct val="0"/>
              </a:spcAft>
              <a:buFont typeface="Arial"/>
              <a:buChar char="•"/>
            </a:pPr>
            <a:r>
              <a:rPr lang="en-US" dirty="0">
                <a:latin typeface="Constantia"/>
                <a:cs typeface="Arial"/>
              </a:rPr>
              <a:t>In Java, string objects are immutable.</a:t>
            </a:r>
          </a:p>
          <a:p>
            <a:pPr marL="285750" indent="-285750" algn="just">
              <a:spcBef>
                <a:spcPts val="400"/>
              </a:spcBef>
              <a:spcAft>
                <a:spcPct val="0"/>
              </a:spcAft>
              <a:buFont typeface="Arial"/>
              <a:buChar char="•"/>
            </a:pPr>
            <a:r>
              <a:rPr lang="en-US" dirty="0">
                <a:latin typeface="Constantia"/>
                <a:cs typeface="Arial"/>
              </a:rPr>
              <a:t>Immutable simply means unmodifiable or unchangeable.</a:t>
            </a:r>
          </a:p>
          <a:p>
            <a:pPr marL="285750" indent="-285750" algn="just">
              <a:spcBef>
                <a:spcPts val="400"/>
              </a:spcBef>
              <a:spcAft>
                <a:spcPct val="0"/>
              </a:spcAft>
              <a:buFont typeface="Arial"/>
              <a:buChar char="•"/>
            </a:pPr>
            <a:r>
              <a:rPr lang="en-US" dirty="0">
                <a:latin typeface="Constantia"/>
                <a:cs typeface="Arial"/>
              </a:rPr>
              <a:t>Once a string is created its data or state can't be changed but a new string object is created.</a:t>
            </a:r>
          </a:p>
          <a:p>
            <a:pPr marL="285750" indent="-285750" algn="just">
              <a:spcBef>
                <a:spcPts val="400"/>
              </a:spcBef>
              <a:spcAft>
                <a:spcPct val="0"/>
              </a:spcAft>
              <a:buFont typeface="Arial"/>
              <a:buChar char="•"/>
            </a:pPr>
            <a:endParaRPr lang="en-US" dirty="0">
              <a:latin typeface="Constantia"/>
              <a:cs typeface="Arial"/>
            </a:endParaRPr>
          </a:p>
          <a:p>
            <a:pPr algn="just">
              <a:spcBef>
                <a:spcPts val="400"/>
              </a:spcBef>
              <a:spcAft>
                <a:spcPct val="0"/>
              </a:spcAft>
            </a:pPr>
            <a:r>
              <a:rPr lang="en-US" sz="2000" b="1" dirty="0">
                <a:latin typeface="Constantia"/>
                <a:cs typeface="Arial"/>
              </a:rPr>
              <a:t>Example:</a:t>
            </a:r>
            <a:r>
              <a:rPr lang="en-US" dirty="0">
                <a:latin typeface="Constantia"/>
                <a:cs typeface="Arial"/>
              </a:rPr>
              <a:t> </a:t>
            </a:r>
          </a:p>
        </p:txBody>
      </p:sp>
      <p:pic>
        <p:nvPicPr>
          <p:cNvPr id="5" name="Picture 4" descr="A screen shot of a computer program&#10;&#10;Description automatically generated">
            <a:extLst>
              <a:ext uri="{FF2B5EF4-FFF2-40B4-BE49-F238E27FC236}">
                <a16:creationId xmlns:a16="http://schemas.microsoft.com/office/drawing/2014/main" id="{63788FBF-E97F-DDE5-8CA1-27F7CC1D7864}"/>
              </a:ext>
            </a:extLst>
          </p:cNvPr>
          <p:cNvPicPr>
            <a:picLocks noChangeAspect="1"/>
          </p:cNvPicPr>
          <p:nvPr/>
        </p:nvPicPr>
        <p:blipFill>
          <a:blip r:embed="rId2"/>
          <a:stretch>
            <a:fillRect/>
          </a:stretch>
        </p:blipFill>
        <p:spPr>
          <a:xfrm>
            <a:off x="652931" y="2948145"/>
            <a:ext cx="5114925" cy="3422598"/>
          </a:xfrm>
          <a:prstGeom prst="rect">
            <a:avLst/>
          </a:prstGeom>
        </p:spPr>
      </p:pic>
      <p:sp>
        <p:nvSpPr>
          <p:cNvPr id="8" name="TextBox 7">
            <a:extLst>
              <a:ext uri="{FF2B5EF4-FFF2-40B4-BE49-F238E27FC236}">
                <a16:creationId xmlns:a16="http://schemas.microsoft.com/office/drawing/2014/main" id="{66FE8583-1070-9AD6-E30E-F169C16A1277}"/>
              </a:ext>
            </a:extLst>
          </p:cNvPr>
          <p:cNvSpPr txBox="1"/>
          <p:nvPr/>
        </p:nvSpPr>
        <p:spPr>
          <a:xfrm>
            <a:off x="5768670" y="2550660"/>
            <a:ext cx="204014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400"/>
              </a:spcBef>
              <a:spcAft>
                <a:spcPct val="0"/>
              </a:spcAft>
            </a:pPr>
            <a:r>
              <a:rPr lang="en-US" sz="2000" b="1" dirty="0">
                <a:latin typeface="Constantia"/>
                <a:cs typeface="Arial"/>
              </a:rPr>
              <a:t>Description:</a:t>
            </a:r>
            <a:r>
              <a:rPr lang="en-US" dirty="0">
                <a:latin typeface="Constantia"/>
                <a:cs typeface="Arial"/>
              </a:rPr>
              <a:t> </a:t>
            </a:r>
            <a:endParaRPr lang="en-US" dirty="0"/>
          </a:p>
        </p:txBody>
      </p:sp>
      <p:sp>
        <p:nvSpPr>
          <p:cNvPr id="9" name="TextBox 8">
            <a:extLst>
              <a:ext uri="{FF2B5EF4-FFF2-40B4-BE49-F238E27FC236}">
                <a16:creationId xmlns:a16="http://schemas.microsoft.com/office/drawing/2014/main" id="{84ADDE2B-A26E-28BF-142D-5DEF28A24BAE}"/>
              </a:ext>
            </a:extLst>
          </p:cNvPr>
          <p:cNvSpPr txBox="1"/>
          <p:nvPr/>
        </p:nvSpPr>
        <p:spPr>
          <a:xfrm>
            <a:off x="3907392" y="6373152"/>
            <a:ext cx="204014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400"/>
              </a:spcBef>
              <a:spcAft>
                <a:spcPct val="0"/>
              </a:spcAft>
            </a:pPr>
            <a:r>
              <a:rPr lang="en-US" sz="2000" b="1" dirty="0">
                <a:latin typeface="Constantia"/>
                <a:cs typeface="Arial"/>
              </a:rPr>
              <a:t>Output:</a:t>
            </a:r>
            <a:r>
              <a:rPr lang="en-US" dirty="0">
                <a:latin typeface="Constantia"/>
                <a:cs typeface="Arial"/>
              </a:rPr>
              <a:t>  Sachin</a:t>
            </a:r>
            <a:endParaRPr lang="en-US" dirty="0"/>
          </a:p>
        </p:txBody>
      </p:sp>
      <p:sp>
        <p:nvSpPr>
          <p:cNvPr id="10" name="TextBox 6">
            <a:extLst>
              <a:ext uri="{FF2B5EF4-FFF2-40B4-BE49-F238E27FC236}">
                <a16:creationId xmlns:a16="http://schemas.microsoft.com/office/drawing/2014/main" id="{37AF023C-51D0-8312-A106-30011C2722E6}"/>
              </a:ext>
            </a:extLst>
          </p:cNvPr>
          <p:cNvSpPr txBox="1"/>
          <p:nvPr/>
        </p:nvSpPr>
        <p:spPr>
          <a:xfrm>
            <a:off x="5768671" y="2987874"/>
            <a:ext cx="6025029" cy="15799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spcBef>
                <a:spcPts val="400"/>
              </a:spcBef>
              <a:spcAft>
                <a:spcPct val="0"/>
              </a:spcAft>
              <a:buFont typeface="Arial"/>
              <a:buChar char="•"/>
            </a:pPr>
            <a:r>
              <a:rPr lang="en-US" dirty="0">
                <a:latin typeface="Constantia"/>
                <a:cs typeface="Arial"/>
              </a:rPr>
              <a:t>Here 'Sachin' is not changed but a new object is created with 'Sachin Tendulkar'.</a:t>
            </a:r>
          </a:p>
          <a:p>
            <a:pPr marL="342900" indent="-342900" algn="just">
              <a:spcBef>
                <a:spcPts val="400"/>
              </a:spcBef>
              <a:spcAft>
                <a:spcPct val="0"/>
              </a:spcAft>
              <a:buFont typeface="Arial"/>
              <a:buChar char="•"/>
            </a:pPr>
            <a:r>
              <a:rPr lang="en-US" dirty="0">
                <a:latin typeface="Constantia"/>
                <a:cs typeface="Arial"/>
              </a:rPr>
              <a:t>That's why Strings are </a:t>
            </a:r>
            <a:r>
              <a:rPr lang="en-US" b="1" dirty="0">
                <a:latin typeface="Constantia"/>
                <a:cs typeface="Arial"/>
              </a:rPr>
              <a:t>immutable</a:t>
            </a:r>
            <a:r>
              <a:rPr lang="en-US" dirty="0">
                <a:latin typeface="Constantia"/>
                <a:cs typeface="Arial"/>
              </a:rPr>
              <a:t>.</a:t>
            </a:r>
          </a:p>
          <a:p>
            <a:pPr marL="342900" indent="-342900" algn="just">
              <a:spcBef>
                <a:spcPts val="400"/>
              </a:spcBef>
              <a:spcAft>
                <a:spcPct val="0"/>
              </a:spcAft>
              <a:buFont typeface="Arial"/>
              <a:buChar char="•"/>
            </a:pPr>
            <a:r>
              <a:rPr lang="en-US" dirty="0">
                <a:latin typeface="Constantia"/>
                <a:cs typeface="Arial"/>
              </a:rPr>
              <a:t>But if we explicitly assign it to the reference variable, it will refer to the "Sachin Tendulkar" object.</a:t>
            </a:r>
          </a:p>
        </p:txBody>
      </p:sp>
      <p:pic>
        <p:nvPicPr>
          <p:cNvPr id="11" name="Picture 10" descr="A screen shot of a computer code&#10;&#10;Description automatically generated">
            <a:extLst>
              <a:ext uri="{FF2B5EF4-FFF2-40B4-BE49-F238E27FC236}">
                <a16:creationId xmlns:a16="http://schemas.microsoft.com/office/drawing/2014/main" id="{2945FA1B-50B2-B4FE-4461-CB74B9434106}"/>
              </a:ext>
            </a:extLst>
          </p:cNvPr>
          <p:cNvPicPr>
            <a:picLocks noChangeAspect="1"/>
          </p:cNvPicPr>
          <p:nvPr/>
        </p:nvPicPr>
        <p:blipFill>
          <a:blip r:embed="rId3"/>
          <a:stretch>
            <a:fillRect/>
          </a:stretch>
        </p:blipFill>
        <p:spPr>
          <a:xfrm>
            <a:off x="6097485" y="4598779"/>
            <a:ext cx="5430966" cy="1757754"/>
          </a:xfrm>
          <a:prstGeom prst="rect">
            <a:avLst/>
          </a:prstGeom>
        </p:spPr>
      </p:pic>
      <p:sp>
        <p:nvSpPr>
          <p:cNvPr id="12" name="TextBox 11">
            <a:extLst>
              <a:ext uri="{FF2B5EF4-FFF2-40B4-BE49-F238E27FC236}">
                <a16:creationId xmlns:a16="http://schemas.microsoft.com/office/drawing/2014/main" id="{B5E0E906-2D5A-91CF-083D-373F61A6601F}"/>
              </a:ext>
            </a:extLst>
          </p:cNvPr>
          <p:cNvSpPr txBox="1"/>
          <p:nvPr/>
        </p:nvSpPr>
        <p:spPr>
          <a:xfrm>
            <a:off x="8629294" y="6360659"/>
            <a:ext cx="315191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400"/>
              </a:spcBef>
              <a:spcAft>
                <a:spcPct val="0"/>
              </a:spcAft>
            </a:pPr>
            <a:r>
              <a:rPr lang="en-US" sz="2000" b="1" dirty="0">
                <a:latin typeface="Constantia"/>
                <a:cs typeface="Arial"/>
              </a:rPr>
              <a:t>Output:</a:t>
            </a:r>
            <a:r>
              <a:rPr lang="en-US" dirty="0">
                <a:latin typeface="Constantia"/>
                <a:cs typeface="Arial"/>
              </a:rPr>
              <a:t>  Sachin Tendulkar</a:t>
            </a:r>
            <a:endParaRPr lang="en-US" dirty="0"/>
          </a:p>
        </p:txBody>
      </p:sp>
    </p:spTree>
    <p:extLst>
      <p:ext uri="{BB962C8B-B14F-4D97-AF65-F5344CB8AC3E}">
        <p14:creationId xmlns:p14="http://schemas.microsoft.com/office/powerpoint/2010/main" val="2070127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onstantia"/>
                <a:cs typeface="Arial"/>
              </a:rPr>
              <a:t>Immutable Strings</a:t>
            </a:r>
            <a:endParaRPr lang="en-US" dirty="0"/>
          </a:p>
        </p:txBody>
      </p:sp>
      <p:pic>
        <p:nvPicPr>
          <p:cNvPr id="3" name="Picture 2" descr="Lightbox">
            <a:extLst>
              <a:ext uri="{FF2B5EF4-FFF2-40B4-BE49-F238E27FC236}">
                <a16:creationId xmlns:a16="http://schemas.microsoft.com/office/drawing/2014/main" id="{A034BCC7-5A73-6FBD-385C-8FE66F2CDE05}"/>
              </a:ext>
            </a:extLst>
          </p:cNvPr>
          <p:cNvPicPr>
            <a:picLocks noChangeAspect="1"/>
          </p:cNvPicPr>
          <p:nvPr/>
        </p:nvPicPr>
        <p:blipFill>
          <a:blip r:embed="rId2"/>
          <a:stretch>
            <a:fillRect/>
          </a:stretch>
        </p:blipFill>
        <p:spPr>
          <a:xfrm>
            <a:off x="1408670" y="1079059"/>
            <a:ext cx="9384955" cy="5163260"/>
          </a:xfrm>
          <a:prstGeom prst="rect">
            <a:avLst/>
          </a:prstGeom>
        </p:spPr>
      </p:pic>
    </p:spTree>
    <p:extLst>
      <p:ext uri="{BB962C8B-B14F-4D97-AF65-F5344CB8AC3E}">
        <p14:creationId xmlns:p14="http://schemas.microsoft.com/office/powerpoint/2010/main" val="4239413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4800" b="1">
                <a:solidFill>
                  <a:srgbClr val="FFFFFF"/>
                </a:solidFill>
                <a:latin typeface="Constantia"/>
                <a:cs typeface="Arial"/>
              </a:rPr>
              <a:t>Thank You</a:t>
            </a:r>
            <a:endParaRPr lang="en-US" sz="4800">
              <a:latin typeface="Constantia"/>
            </a:endParaRPr>
          </a:p>
        </p:txBody>
      </p:sp>
    </p:spTree>
    <p:extLst>
      <p:ext uri="{BB962C8B-B14F-4D97-AF65-F5344CB8AC3E}">
        <p14:creationId xmlns:p14="http://schemas.microsoft.com/office/powerpoint/2010/main" val="36766179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CS Template 2012 (Arial)">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office theme</vt:lpstr>
      <vt:lpstr>TCS Template 2012 (Arial)</vt:lpstr>
      <vt:lpstr>Loops and Strings</vt:lpstr>
      <vt:lpstr>AGENDA</vt:lpstr>
      <vt:lpstr>Loops Statements</vt:lpstr>
      <vt:lpstr>For Loop</vt:lpstr>
      <vt:lpstr>While Loop</vt:lpstr>
      <vt:lpstr>Do-While Loop</vt:lpstr>
      <vt:lpstr>Nested Loops</vt:lpstr>
      <vt:lpstr>Jump Statements</vt:lpstr>
      <vt:lpstr>Importance of Loops</vt:lpstr>
      <vt:lpstr>Strings</vt:lpstr>
      <vt:lpstr>Strings</vt:lpstr>
      <vt:lpstr>String Methods</vt:lpstr>
      <vt:lpstr>Immutable Strings</vt:lpstr>
      <vt:lpstr>Immutable Strings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434</cp:revision>
  <dcterms:created xsi:type="dcterms:W3CDTF">2024-09-03T19:29:23Z</dcterms:created>
  <dcterms:modified xsi:type="dcterms:W3CDTF">2026-03-24T10:08:11Z</dcterms:modified>
</cp:coreProperties>
</file>