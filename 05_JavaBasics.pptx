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60" r:id="rId2"/>
  </p:sldMasterIdLst>
  <p:sldIdLst>
    <p:sldId id="257" r:id="rId3"/>
    <p:sldId id="258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6" r:id="rId14"/>
    <p:sldId id="295" r:id="rId15"/>
    <p:sldId id="298" r:id="rId16"/>
    <p:sldId id="297" r:id="rId17"/>
    <p:sldId id="299" r:id="rId18"/>
    <p:sldId id="300" r:id="rId19"/>
    <p:sldId id="301" r:id="rId20"/>
    <p:sldId id="303" r:id="rId21"/>
    <p:sldId id="305" r:id="rId22"/>
    <p:sldId id="306" r:id="rId23"/>
    <p:sldId id="307" r:id="rId24"/>
    <p:sldId id="304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28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04E95-455B-8761-7409-808A8AE565B9}" v="9" dt="2026-06-20T18:04:16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i V M" userId="S::2981811@tcs.com::5f20d764-a61d-4667-ae26-fa41e3127e79" providerId="AD" clId="Web-{79304E95-455B-8761-7409-808A8AE565B9}"/>
    <pc:docChg chg="modSld">
      <pc:chgData name="Sarathi V M" userId="S::2981811@tcs.com::5f20d764-a61d-4667-ae26-fa41e3127e79" providerId="AD" clId="Web-{79304E95-455B-8761-7409-808A8AE565B9}" dt="2026-06-20T18:04:11.864" v="3" actId="20577"/>
      <pc:docMkLst>
        <pc:docMk/>
      </pc:docMkLst>
      <pc:sldChg chg="modSp">
        <pc:chgData name="Sarathi V M" userId="S::2981811@tcs.com::5f20d764-a61d-4667-ae26-fa41e3127e79" providerId="AD" clId="Web-{79304E95-455B-8761-7409-808A8AE565B9}" dt="2026-06-20T18:04:11.864" v="3" actId="20577"/>
        <pc:sldMkLst>
          <pc:docMk/>
          <pc:sldMk cId="3467831669" sldId="303"/>
        </pc:sldMkLst>
        <pc:spChg chg="mod">
          <ac:chgData name="Sarathi V M" userId="S::2981811@tcs.com::5f20d764-a61d-4667-ae26-fa41e3127e79" providerId="AD" clId="Web-{79304E95-455B-8761-7409-808A8AE565B9}" dt="2026-06-20T18:04:11.864" v="3" actId="20577"/>
          <ac:spMkLst>
            <pc:docMk/>
            <pc:sldMk cId="3467831669" sldId="303"/>
            <ac:spMk id="6" creationId="{DF0500B9-06E1-402A-1A50-C310899C4564}"/>
          </ac:spMkLst>
        </pc:spChg>
      </pc:sldChg>
    </pc:docChg>
  </pc:docChgLst>
  <pc:docChgLst>
    <pc:chgData name="Reavanth M" userId="S::2853088@tcs.com::966ba632-0ddc-4acf-a43a-75ffd852fa52" providerId="AD" clId="Web-{F6499708-7F05-B12A-77F0-1D2912CC8DA8}"/>
    <pc:docChg chg="modSld">
      <pc:chgData name="Reavanth M" userId="S::2853088@tcs.com::966ba632-0ddc-4acf-a43a-75ffd852fa52" providerId="AD" clId="Web-{F6499708-7F05-B12A-77F0-1D2912CC8DA8}" dt="2026-06-05T04:55:31.322" v="0" actId="1076"/>
      <pc:docMkLst>
        <pc:docMk/>
      </pc:docMkLst>
      <pc:sldChg chg="modSp">
        <pc:chgData name="Reavanth M" userId="S::2853088@tcs.com::966ba632-0ddc-4acf-a43a-75ffd852fa52" providerId="AD" clId="Web-{F6499708-7F05-B12A-77F0-1D2912CC8DA8}" dt="2026-06-05T04:55:31.322" v="0" actId="1076"/>
        <pc:sldMkLst>
          <pc:docMk/>
          <pc:sldMk cId="4260550191" sldId="294"/>
        </pc:sldMkLst>
        <pc:picChg chg="mod">
          <ac:chgData name="Reavanth M" userId="S::2853088@tcs.com::966ba632-0ddc-4acf-a43a-75ffd852fa52" providerId="AD" clId="Web-{F6499708-7F05-B12A-77F0-1D2912CC8DA8}" dt="2026-06-05T04:55:31.322" v="0" actId="1076"/>
          <ac:picMkLst>
            <pc:docMk/>
            <pc:sldMk cId="4260550191" sldId="294"/>
            <ac:picMk id="4" creationId="{B133E1C6-D08F-1C8F-FEA3-395D868865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10000">
              <a:srgbClr val="0067AC"/>
            </a:gs>
            <a:gs pos="100000">
              <a:srgbClr val="56BBED"/>
            </a:gs>
          </a:gsLst>
          <a:lin ang="91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683" y="3200401"/>
            <a:ext cx="10363200" cy="609600"/>
          </a:xfrm>
        </p:spPr>
        <p:txBody>
          <a:bodyPr>
            <a:no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683" y="3858638"/>
            <a:ext cx="10380133" cy="6096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6"/>
          <p:cNvSpPr>
            <a:spLocks noChangeArrowheads="1"/>
          </p:cNvSpPr>
          <p:nvPr/>
        </p:nvSpPr>
        <p:spPr bwMode="auto">
          <a:xfrm>
            <a:off x="0" y="1976439"/>
            <a:ext cx="12192000" cy="847725"/>
          </a:xfrm>
          <a:prstGeom prst="rect">
            <a:avLst/>
          </a:prstGeom>
          <a:solidFill>
            <a:srgbClr val="0067AC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grpSp>
        <p:nvGrpSpPr>
          <p:cNvPr id="4" name="Group 5"/>
          <p:cNvGrpSpPr>
            <a:grpSpLocks noChangeAspect="1"/>
          </p:cNvGrpSpPr>
          <p:nvPr/>
        </p:nvGrpSpPr>
        <p:grpSpPr bwMode="auto">
          <a:xfrm>
            <a:off x="565151" y="428625"/>
            <a:ext cx="4349749" cy="376238"/>
            <a:chOff x="267" y="270"/>
            <a:chExt cx="2055" cy="237"/>
          </a:xfrm>
        </p:grpSpPr>
        <p:sp>
          <p:nvSpPr>
            <p:cNvPr id="102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267" y="270"/>
              <a:ext cx="205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0" name="Freeform 6"/>
            <p:cNvSpPr>
              <a:spLocks noEditPoints="1"/>
            </p:cNvSpPr>
            <p:nvPr userDrawn="1"/>
          </p:nvSpPr>
          <p:spPr bwMode="auto">
            <a:xfrm>
              <a:off x="1382" y="270"/>
              <a:ext cx="462" cy="80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1" name="Freeform 7"/>
            <p:cNvSpPr>
              <a:spLocks noEditPoints="1"/>
            </p:cNvSpPr>
            <p:nvPr userDrawn="1"/>
          </p:nvSpPr>
          <p:spPr bwMode="auto">
            <a:xfrm>
              <a:off x="617" y="270"/>
              <a:ext cx="737" cy="80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2" name="Freeform 8"/>
            <p:cNvSpPr>
              <a:spLocks noEditPoints="1"/>
            </p:cNvSpPr>
            <p:nvPr userDrawn="1"/>
          </p:nvSpPr>
          <p:spPr bwMode="auto">
            <a:xfrm>
              <a:off x="267" y="271"/>
              <a:ext cx="311" cy="78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33" name="Freeform 9"/>
            <p:cNvSpPr>
              <a:spLocks noEditPoints="1"/>
            </p:cNvSpPr>
            <p:nvPr userDrawn="1"/>
          </p:nvSpPr>
          <p:spPr bwMode="auto">
            <a:xfrm>
              <a:off x="1328" y="402"/>
              <a:ext cx="994" cy="105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rgbClr val="B4D7F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0" name="Freeform 9"/>
          <p:cNvSpPr>
            <a:spLocks noEditPoints="1"/>
          </p:cNvSpPr>
          <p:nvPr/>
        </p:nvSpPr>
        <p:spPr bwMode="auto">
          <a:xfrm>
            <a:off x="10909580" y="424799"/>
            <a:ext cx="647277" cy="424339"/>
          </a:xfrm>
          <a:custGeom>
            <a:avLst/>
            <a:gdLst/>
            <a:ahLst/>
            <a:cxnLst>
              <a:cxn ang="0">
                <a:pos x="491" y="5"/>
              </a:cxn>
              <a:cxn ang="0">
                <a:pos x="581" y="30"/>
              </a:cxn>
              <a:cxn ang="0">
                <a:pos x="653" y="71"/>
              </a:cxn>
              <a:cxn ang="0">
                <a:pos x="705" y="124"/>
              </a:cxn>
              <a:cxn ang="0">
                <a:pos x="602" y="117"/>
              </a:cxn>
              <a:cxn ang="0">
                <a:pos x="478" y="104"/>
              </a:cxn>
              <a:cxn ang="0">
                <a:pos x="444" y="106"/>
              </a:cxn>
              <a:cxn ang="0">
                <a:pos x="432" y="119"/>
              </a:cxn>
              <a:cxn ang="0">
                <a:pos x="403" y="415"/>
              </a:cxn>
              <a:cxn ang="0">
                <a:pos x="402" y="115"/>
              </a:cxn>
              <a:cxn ang="0">
                <a:pos x="388" y="105"/>
              </a:cxn>
              <a:cxn ang="0">
                <a:pos x="331" y="106"/>
              </a:cxn>
              <a:cxn ang="0">
                <a:pos x="195" y="124"/>
              </a:cxn>
              <a:cxn ang="0">
                <a:pos x="140" y="110"/>
              </a:cxn>
              <a:cxn ang="0">
                <a:pos x="197" y="59"/>
              </a:cxn>
              <a:cxn ang="0">
                <a:pos x="274" y="22"/>
              </a:cxn>
              <a:cxn ang="0">
                <a:pos x="367" y="2"/>
              </a:cxn>
              <a:cxn ang="0">
                <a:pos x="201" y="519"/>
              </a:cxn>
              <a:cxn ang="0">
                <a:pos x="100" y="519"/>
              </a:cxn>
              <a:cxn ang="0">
                <a:pos x="0" y="519"/>
              </a:cxn>
              <a:cxn ang="0">
                <a:pos x="141" y="727"/>
              </a:cxn>
              <a:cxn ang="0">
                <a:pos x="261" y="727"/>
              </a:cxn>
              <a:cxn ang="0">
                <a:pos x="303" y="519"/>
              </a:cxn>
              <a:cxn ang="0">
                <a:pos x="346" y="727"/>
              </a:cxn>
              <a:cxn ang="0">
                <a:pos x="583" y="519"/>
              </a:cxn>
              <a:cxn ang="0">
                <a:pos x="483" y="519"/>
              </a:cxn>
              <a:cxn ang="0">
                <a:pos x="407" y="579"/>
              </a:cxn>
              <a:cxn ang="0">
                <a:pos x="548" y="579"/>
              </a:cxn>
              <a:cxn ang="0">
                <a:pos x="587" y="727"/>
              </a:cxn>
              <a:cxn ang="0">
                <a:pos x="733" y="519"/>
              </a:cxn>
              <a:cxn ang="0">
                <a:pos x="712" y="602"/>
              </a:cxn>
              <a:cxn ang="0">
                <a:pos x="731" y="198"/>
              </a:cxn>
              <a:cxn ang="0">
                <a:pos x="722" y="257"/>
              </a:cxn>
              <a:cxn ang="0">
                <a:pos x="685" y="316"/>
              </a:cxn>
              <a:cxn ang="0">
                <a:pos x="622" y="365"/>
              </a:cxn>
              <a:cxn ang="0">
                <a:pos x="541" y="398"/>
              </a:cxn>
              <a:cxn ang="0">
                <a:pos x="474" y="183"/>
              </a:cxn>
              <a:cxn ang="0">
                <a:pos x="477" y="158"/>
              </a:cxn>
              <a:cxn ang="0">
                <a:pos x="489" y="146"/>
              </a:cxn>
              <a:cxn ang="0">
                <a:pos x="556" y="148"/>
              </a:cxn>
              <a:cxn ang="0">
                <a:pos x="669" y="163"/>
              </a:cxn>
              <a:cxn ang="0">
                <a:pos x="295" y="399"/>
              </a:cxn>
              <a:cxn ang="0">
                <a:pos x="213" y="365"/>
              </a:cxn>
              <a:cxn ang="0">
                <a:pos x="150" y="316"/>
              </a:cxn>
              <a:cxn ang="0">
                <a:pos x="112" y="257"/>
              </a:cxn>
              <a:cxn ang="0">
                <a:pos x="103" y="198"/>
              </a:cxn>
              <a:cxn ang="0">
                <a:pos x="136" y="168"/>
              </a:cxn>
              <a:cxn ang="0">
                <a:pos x="250" y="151"/>
              </a:cxn>
              <a:cxn ang="0">
                <a:pos x="342" y="144"/>
              </a:cxn>
              <a:cxn ang="0">
                <a:pos x="357" y="153"/>
              </a:cxn>
              <a:cxn ang="0">
                <a:pos x="362" y="175"/>
              </a:cxn>
              <a:cxn ang="0">
                <a:pos x="317" y="405"/>
              </a:cxn>
            </a:cxnLst>
            <a:rect l="0" t="0" r="r" b="b"/>
            <a:pathLst>
              <a:path w="835" h="727">
                <a:moveTo>
                  <a:pt x="417" y="0"/>
                </a:moveTo>
                <a:lnTo>
                  <a:pt x="443" y="0"/>
                </a:lnTo>
                <a:lnTo>
                  <a:pt x="467" y="2"/>
                </a:lnTo>
                <a:lnTo>
                  <a:pt x="491" y="5"/>
                </a:lnTo>
                <a:lnTo>
                  <a:pt x="515" y="9"/>
                </a:lnTo>
                <a:lnTo>
                  <a:pt x="538" y="16"/>
                </a:lnTo>
                <a:lnTo>
                  <a:pt x="559" y="22"/>
                </a:lnTo>
                <a:lnTo>
                  <a:pt x="581" y="30"/>
                </a:lnTo>
                <a:lnTo>
                  <a:pt x="600" y="38"/>
                </a:lnTo>
                <a:lnTo>
                  <a:pt x="620" y="48"/>
                </a:lnTo>
                <a:lnTo>
                  <a:pt x="637" y="59"/>
                </a:lnTo>
                <a:lnTo>
                  <a:pt x="653" y="71"/>
                </a:lnTo>
                <a:lnTo>
                  <a:pt x="668" y="83"/>
                </a:lnTo>
                <a:lnTo>
                  <a:pt x="682" y="96"/>
                </a:lnTo>
                <a:lnTo>
                  <a:pt x="694" y="110"/>
                </a:lnTo>
                <a:lnTo>
                  <a:pt x="705" y="124"/>
                </a:lnTo>
                <a:lnTo>
                  <a:pt x="714" y="139"/>
                </a:lnTo>
                <a:lnTo>
                  <a:pt x="676" y="131"/>
                </a:lnTo>
                <a:lnTo>
                  <a:pt x="639" y="124"/>
                </a:lnTo>
                <a:lnTo>
                  <a:pt x="602" y="117"/>
                </a:lnTo>
                <a:lnTo>
                  <a:pt x="567" y="113"/>
                </a:lnTo>
                <a:lnTo>
                  <a:pt x="534" y="109"/>
                </a:lnTo>
                <a:lnTo>
                  <a:pt x="504" y="106"/>
                </a:lnTo>
                <a:lnTo>
                  <a:pt x="478" y="104"/>
                </a:lnTo>
                <a:lnTo>
                  <a:pt x="458" y="104"/>
                </a:lnTo>
                <a:lnTo>
                  <a:pt x="453" y="104"/>
                </a:lnTo>
                <a:lnTo>
                  <a:pt x="448" y="105"/>
                </a:lnTo>
                <a:lnTo>
                  <a:pt x="444" y="106"/>
                </a:lnTo>
                <a:lnTo>
                  <a:pt x="440" y="109"/>
                </a:lnTo>
                <a:lnTo>
                  <a:pt x="436" y="112"/>
                </a:lnTo>
                <a:lnTo>
                  <a:pt x="434" y="115"/>
                </a:lnTo>
                <a:lnTo>
                  <a:pt x="432" y="119"/>
                </a:lnTo>
                <a:lnTo>
                  <a:pt x="432" y="124"/>
                </a:lnTo>
                <a:lnTo>
                  <a:pt x="432" y="133"/>
                </a:lnTo>
                <a:lnTo>
                  <a:pt x="432" y="415"/>
                </a:lnTo>
                <a:lnTo>
                  <a:pt x="403" y="415"/>
                </a:lnTo>
                <a:lnTo>
                  <a:pt x="404" y="133"/>
                </a:lnTo>
                <a:lnTo>
                  <a:pt x="404" y="124"/>
                </a:lnTo>
                <a:lnTo>
                  <a:pt x="403" y="119"/>
                </a:lnTo>
                <a:lnTo>
                  <a:pt x="402" y="115"/>
                </a:lnTo>
                <a:lnTo>
                  <a:pt x="398" y="112"/>
                </a:lnTo>
                <a:lnTo>
                  <a:pt x="395" y="109"/>
                </a:lnTo>
                <a:lnTo>
                  <a:pt x="392" y="106"/>
                </a:lnTo>
                <a:lnTo>
                  <a:pt x="388" y="105"/>
                </a:lnTo>
                <a:lnTo>
                  <a:pt x="382" y="104"/>
                </a:lnTo>
                <a:lnTo>
                  <a:pt x="378" y="104"/>
                </a:lnTo>
                <a:lnTo>
                  <a:pt x="356" y="104"/>
                </a:lnTo>
                <a:lnTo>
                  <a:pt x="331" y="106"/>
                </a:lnTo>
                <a:lnTo>
                  <a:pt x="301" y="109"/>
                </a:lnTo>
                <a:lnTo>
                  <a:pt x="268" y="113"/>
                </a:lnTo>
                <a:lnTo>
                  <a:pt x="232" y="118"/>
                </a:lnTo>
                <a:lnTo>
                  <a:pt x="195" y="124"/>
                </a:lnTo>
                <a:lnTo>
                  <a:pt x="157" y="131"/>
                </a:lnTo>
                <a:lnTo>
                  <a:pt x="121" y="139"/>
                </a:lnTo>
                <a:lnTo>
                  <a:pt x="129" y="125"/>
                </a:lnTo>
                <a:lnTo>
                  <a:pt x="140" y="110"/>
                </a:lnTo>
                <a:lnTo>
                  <a:pt x="152" y="96"/>
                </a:lnTo>
                <a:lnTo>
                  <a:pt x="166" y="83"/>
                </a:lnTo>
                <a:lnTo>
                  <a:pt x="180" y="71"/>
                </a:lnTo>
                <a:lnTo>
                  <a:pt x="197" y="59"/>
                </a:lnTo>
                <a:lnTo>
                  <a:pt x="215" y="48"/>
                </a:lnTo>
                <a:lnTo>
                  <a:pt x="233" y="38"/>
                </a:lnTo>
                <a:lnTo>
                  <a:pt x="254" y="30"/>
                </a:lnTo>
                <a:lnTo>
                  <a:pt x="274" y="22"/>
                </a:lnTo>
                <a:lnTo>
                  <a:pt x="296" y="16"/>
                </a:lnTo>
                <a:lnTo>
                  <a:pt x="319" y="9"/>
                </a:lnTo>
                <a:lnTo>
                  <a:pt x="342" y="5"/>
                </a:lnTo>
                <a:lnTo>
                  <a:pt x="367" y="2"/>
                </a:lnTo>
                <a:lnTo>
                  <a:pt x="392" y="0"/>
                </a:lnTo>
                <a:lnTo>
                  <a:pt x="417" y="0"/>
                </a:lnTo>
                <a:close/>
                <a:moveTo>
                  <a:pt x="201" y="579"/>
                </a:moveTo>
                <a:lnTo>
                  <a:pt x="201" y="519"/>
                </a:lnTo>
                <a:lnTo>
                  <a:pt x="175" y="519"/>
                </a:lnTo>
                <a:lnTo>
                  <a:pt x="150" y="519"/>
                </a:lnTo>
                <a:lnTo>
                  <a:pt x="125" y="519"/>
                </a:lnTo>
                <a:lnTo>
                  <a:pt x="100" y="519"/>
                </a:lnTo>
                <a:lnTo>
                  <a:pt x="75" y="519"/>
                </a:lnTo>
                <a:lnTo>
                  <a:pt x="49" y="519"/>
                </a:lnTo>
                <a:lnTo>
                  <a:pt x="25" y="519"/>
                </a:lnTo>
                <a:lnTo>
                  <a:pt x="0" y="519"/>
                </a:lnTo>
                <a:lnTo>
                  <a:pt x="0" y="579"/>
                </a:lnTo>
                <a:lnTo>
                  <a:pt x="58" y="579"/>
                </a:lnTo>
                <a:lnTo>
                  <a:pt x="58" y="727"/>
                </a:lnTo>
                <a:lnTo>
                  <a:pt x="141" y="727"/>
                </a:lnTo>
                <a:lnTo>
                  <a:pt x="141" y="579"/>
                </a:lnTo>
                <a:lnTo>
                  <a:pt x="201" y="579"/>
                </a:lnTo>
                <a:close/>
                <a:moveTo>
                  <a:pt x="303" y="602"/>
                </a:moveTo>
                <a:lnTo>
                  <a:pt x="261" y="727"/>
                </a:lnTo>
                <a:lnTo>
                  <a:pt x="180" y="727"/>
                </a:lnTo>
                <a:lnTo>
                  <a:pt x="260" y="519"/>
                </a:lnTo>
                <a:lnTo>
                  <a:pt x="282" y="519"/>
                </a:lnTo>
                <a:lnTo>
                  <a:pt x="303" y="519"/>
                </a:lnTo>
                <a:lnTo>
                  <a:pt x="326" y="519"/>
                </a:lnTo>
                <a:lnTo>
                  <a:pt x="348" y="519"/>
                </a:lnTo>
                <a:lnTo>
                  <a:pt x="427" y="727"/>
                </a:lnTo>
                <a:lnTo>
                  <a:pt x="346" y="727"/>
                </a:lnTo>
                <a:lnTo>
                  <a:pt x="303" y="602"/>
                </a:lnTo>
                <a:close/>
                <a:moveTo>
                  <a:pt x="608" y="579"/>
                </a:moveTo>
                <a:lnTo>
                  <a:pt x="608" y="519"/>
                </a:lnTo>
                <a:lnTo>
                  <a:pt x="583" y="519"/>
                </a:lnTo>
                <a:lnTo>
                  <a:pt x="557" y="519"/>
                </a:lnTo>
                <a:lnTo>
                  <a:pt x="532" y="519"/>
                </a:lnTo>
                <a:lnTo>
                  <a:pt x="507" y="519"/>
                </a:lnTo>
                <a:lnTo>
                  <a:pt x="483" y="519"/>
                </a:lnTo>
                <a:lnTo>
                  <a:pt x="458" y="519"/>
                </a:lnTo>
                <a:lnTo>
                  <a:pt x="432" y="519"/>
                </a:lnTo>
                <a:lnTo>
                  <a:pt x="407" y="519"/>
                </a:lnTo>
                <a:lnTo>
                  <a:pt x="407" y="579"/>
                </a:lnTo>
                <a:lnTo>
                  <a:pt x="466" y="579"/>
                </a:lnTo>
                <a:lnTo>
                  <a:pt x="466" y="727"/>
                </a:lnTo>
                <a:lnTo>
                  <a:pt x="548" y="727"/>
                </a:lnTo>
                <a:lnTo>
                  <a:pt x="548" y="579"/>
                </a:lnTo>
                <a:lnTo>
                  <a:pt x="608" y="579"/>
                </a:lnTo>
                <a:close/>
                <a:moveTo>
                  <a:pt x="712" y="602"/>
                </a:moveTo>
                <a:lnTo>
                  <a:pt x="669" y="727"/>
                </a:lnTo>
                <a:lnTo>
                  <a:pt x="587" y="727"/>
                </a:lnTo>
                <a:lnTo>
                  <a:pt x="667" y="519"/>
                </a:lnTo>
                <a:lnTo>
                  <a:pt x="689" y="519"/>
                </a:lnTo>
                <a:lnTo>
                  <a:pt x="712" y="519"/>
                </a:lnTo>
                <a:lnTo>
                  <a:pt x="733" y="519"/>
                </a:lnTo>
                <a:lnTo>
                  <a:pt x="755" y="519"/>
                </a:lnTo>
                <a:lnTo>
                  <a:pt x="835" y="727"/>
                </a:lnTo>
                <a:lnTo>
                  <a:pt x="754" y="727"/>
                </a:lnTo>
                <a:lnTo>
                  <a:pt x="712" y="602"/>
                </a:lnTo>
                <a:close/>
                <a:moveTo>
                  <a:pt x="727" y="172"/>
                </a:moveTo>
                <a:lnTo>
                  <a:pt x="729" y="181"/>
                </a:lnTo>
                <a:lnTo>
                  <a:pt x="730" y="190"/>
                </a:lnTo>
                <a:lnTo>
                  <a:pt x="731" y="198"/>
                </a:lnTo>
                <a:lnTo>
                  <a:pt x="731" y="207"/>
                </a:lnTo>
                <a:lnTo>
                  <a:pt x="730" y="224"/>
                </a:lnTo>
                <a:lnTo>
                  <a:pt x="727" y="240"/>
                </a:lnTo>
                <a:lnTo>
                  <a:pt x="722" y="257"/>
                </a:lnTo>
                <a:lnTo>
                  <a:pt x="715" y="273"/>
                </a:lnTo>
                <a:lnTo>
                  <a:pt x="706" y="288"/>
                </a:lnTo>
                <a:lnTo>
                  <a:pt x="696" y="302"/>
                </a:lnTo>
                <a:lnTo>
                  <a:pt x="685" y="316"/>
                </a:lnTo>
                <a:lnTo>
                  <a:pt x="670" y="329"/>
                </a:lnTo>
                <a:lnTo>
                  <a:pt x="656" y="342"/>
                </a:lnTo>
                <a:lnTo>
                  <a:pt x="640" y="354"/>
                </a:lnTo>
                <a:lnTo>
                  <a:pt x="622" y="365"/>
                </a:lnTo>
                <a:lnTo>
                  <a:pt x="604" y="374"/>
                </a:lnTo>
                <a:lnTo>
                  <a:pt x="584" y="383"/>
                </a:lnTo>
                <a:lnTo>
                  <a:pt x="562" y="392"/>
                </a:lnTo>
                <a:lnTo>
                  <a:pt x="541" y="398"/>
                </a:lnTo>
                <a:lnTo>
                  <a:pt x="518" y="405"/>
                </a:lnTo>
                <a:lnTo>
                  <a:pt x="476" y="202"/>
                </a:lnTo>
                <a:lnTo>
                  <a:pt x="475" y="193"/>
                </a:lnTo>
                <a:lnTo>
                  <a:pt x="474" y="183"/>
                </a:lnTo>
                <a:lnTo>
                  <a:pt x="474" y="175"/>
                </a:lnTo>
                <a:lnTo>
                  <a:pt x="474" y="166"/>
                </a:lnTo>
                <a:lnTo>
                  <a:pt x="475" y="162"/>
                </a:lnTo>
                <a:lnTo>
                  <a:pt x="477" y="158"/>
                </a:lnTo>
                <a:lnTo>
                  <a:pt x="479" y="155"/>
                </a:lnTo>
                <a:lnTo>
                  <a:pt x="481" y="152"/>
                </a:lnTo>
                <a:lnTo>
                  <a:pt x="485" y="149"/>
                </a:lnTo>
                <a:lnTo>
                  <a:pt x="489" y="146"/>
                </a:lnTo>
                <a:lnTo>
                  <a:pt x="493" y="145"/>
                </a:lnTo>
                <a:lnTo>
                  <a:pt x="499" y="144"/>
                </a:lnTo>
                <a:lnTo>
                  <a:pt x="528" y="145"/>
                </a:lnTo>
                <a:lnTo>
                  <a:pt x="556" y="148"/>
                </a:lnTo>
                <a:lnTo>
                  <a:pt x="584" y="151"/>
                </a:lnTo>
                <a:lnTo>
                  <a:pt x="613" y="154"/>
                </a:lnTo>
                <a:lnTo>
                  <a:pt x="641" y="158"/>
                </a:lnTo>
                <a:lnTo>
                  <a:pt x="669" y="163"/>
                </a:lnTo>
                <a:lnTo>
                  <a:pt x="699" y="167"/>
                </a:lnTo>
                <a:lnTo>
                  <a:pt x="727" y="172"/>
                </a:lnTo>
                <a:close/>
                <a:moveTo>
                  <a:pt x="317" y="405"/>
                </a:moveTo>
                <a:lnTo>
                  <a:pt x="295" y="399"/>
                </a:lnTo>
                <a:lnTo>
                  <a:pt x="272" y="392"/>
                </a:lnTo>
                <a:lnTo>
                  <a:pt x="251" y="384"/>
                </a:lnTo>
                <a:lnTo>
                  <a:pt x="231" y="374"/>
                </a:lnTo>
                <a:lnTo>
                  <a:pt x="213" y="365"/>
                </a:lnTo>
                <a:lnTo>
                  <a:pt x="195" y="354"/>
                </a:lnTo>
                <a:lnTo>
                  <a:pt x="179" y="342"/>
                </a:lnTo>
                <a:lnTo>
                  <a:pt x="164" y="330"/>
                </a:lnTo>
                <a:lnTo>
                  <a:pt x="150" y="316"/>
                </a:lnTo>
                <a:lnTo>
                  <a:pt x="138" y="303"/>
                </a:lnTo>
                <a:lnTo>
                  <a:pt x="128" y="288"/>
                </a:lnTo>
                <a:lnTo>
                  <a:pt x="120" y="273"/>
                </a:lnTo>
                <a:lnTo>
                  <a:pt x="112" y="257"/>
                </a:lnTo>
                <a:lnTo>
                  <a:pt x="108" y="240"/>
                </a:lnTo>
                <a:lnTo>
                  <a:pt x="105" y="224"/>
                </a:lnTo>
                <a:lnTo>
                  <a:pt x="103" y="207"/>
                </a:lnTo>
                <a:lnTo>
                  <a:pt x="103" y="198"/>
                </a:lnTo>
                <a:lnTo>
                  <a:pt x="105" y="190"/>
                </a:lnTo>
                <a:lnTo>
                  <a:pt x="106" y="181"/>
                </a:lnTo>
                <a:lnTo>
                  <a:pt x="108" y="172"/>
                </a:lnTo>
                <a:lnTo>
                  <a:pt x="136" y="168"/>
                </a:lnTo>
                <a:lnTo>
                  <a:pt x="165" y="163"/>
                </a:lnTo>
                <a:lnTo>
                  <a:pt x="193" y="158"/>
                </a:lnTo>
                <a:lnTo>
                  <a:pt x="222" y="154"/>
                </a:lnTo>
                <a:lnTo>
                  <a:pt x="250" y="151"/>
                </a:lnTo>
                <a:lnTo>
                  <a:pt x="280" y="148"/>
                </a:lnTo>
                <a:lnTo>
                  <a:pt x="308" y="145"/>
                </a:lnTo>
                <a:lnTo>
                  <a:pt x="337" y="144"/>
                </a:lnTo>
                <a:lnTo>
                  <a:pt x="342" y="144"/>
                </a:lnTo>
                <a:lnTo>
                  <a:pt x="348" y="145"/>
                </a:lnTo>
                <a:lnTo>
                  <a:pt x="351" y="146"/>
                </a:lnTo>
                <a:lnTo>
                  <a:pt x="354" y="150"/>
                </a:lnTo>
                <a:lnTo>
                  <a:pt x="357" y="153"/>
                </a:lnTo>
                <a:lnTo>
                  <a:pt x="358" y="156"/>
                </a:lnTo>
                <a:lnTo>
                  <a:pt x="361" y="161"/>
                </a:lnTo>
                <a:lnTo>
                  <a:pt x="362" y="165"/>
                </a:lnTo>
                <a:lnTo>
                  <a:pt x="362" y="175"/>
                </a:lnTo>
                <a:lnTo>
                  <a:pt x="362" y="184"/>
                </a:lnTo>
                <a:lnTo>
                  <a:pt x="361" y="194"/>
                </a:lnTo>
                <a:lnTo>
                  <a:pt x="359" y="202"/>
                </a:lnTo>
                <a:lnTo>
                  <a:pt x="317" y="405"/>
                </a:lnTo>
                <a:close/>
              </a:path>
            </a:pathLst>
          </a:custGeom>
          <a:solidFill>
            <a:srgbClr val="FEFEF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9" name="Picture 4" descr="Q:\Repro 2\New guidelines 2011_12\Final 260411\PPT\OLD\050511\WMF\TATA Patter revised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345407"/>
            <a:ext cx="3282087" cy="1260043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448733" y="6334126"/>
            <a:ext cx="32512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>
                <a:solidFill>
                  <a:schemeClr val="bg1"/>
                </a:solidFill>
                <a:latin typeface="+mn-lt"/>
              </a:rPr>
              <a:t>Copyright © 2012 Tata Consultancy Services Limited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886200"/>
            <a:ext cx="10363200" cy="622300"/>
          </a:xfrm>
        </p:spPr>
        <p:txBody>
          <a:bodyPr anchor="t">
            <a:noAutofit/>
          </a:bodyPr>
          <a:lstStyle>
            <a:lvl1pPr algn="ctr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750887"/>
          </a:xfrm>
        </p:spPr>
        <p:txBody>
          <a:bodyPr anchor="b">
            <a:no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896" y="1189037"/>
            <a:ext cx="5384800" cy="45259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6371768" y="1189037"/>
            <a:ext cx="5384800" cy="45259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896" y="1187450"/>
            <a:ext cx="5386917" cy="7127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896" y="1916112"/>
            <a:ext cx="5386917" cy="3951288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184" y="1187450"/>
            <a:ext cx="5389033" cy="7127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8184" y="1916112"/>
            <a:ext cx="5389033" cy="3951288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897" y="1125538"/>
            <a:ext cx="4011084" cy="787399"/>
          </a:xfrm>
        </p:spPr>
        <p:txBody>
          <a:bodyPr anchor="b">
            <a:noAutofit/>
          </a:bodyPr>
          <a:lstStyle>
            <a:lvl1pPr algn="l">
              <a:defRPr sz="2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5437" y="1125538"/>
            <a:ext cx="6815667" cy="51990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897" y="1951037"/>
            <a:ext cx="4011084" cy="4373563"/>
          </a:xfrm>
        </p:spPr>
        <p:txBody>
          <a:bodyPr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76801"/>
            <a:ext cx="73152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43001"/>
            <a:ext cx="7315200" cy="366077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3539"/>
            <a:ext cx="73152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4405" y="1190625"/>
            <a:ext cx="11161184" cy="1323975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192" y="1168400"/>
            <a:ext cx="11237408" cy="515620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71424" y="1189038"/>
            <a:ext cx="2743200" cy="5135563"/>
          </a:xfrm>
        </p:spPr>
        <p:txBody>
          <a:bodyPr vert="eaVer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544" y="1189038"/>
            <a:ext cx="8253789" cy="5135563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800" y="304800"/>
            <a:ext cx="406400" cy="152400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" name="Rectangle 8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27200" y="331694"/>
            <a:ext cx="100584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192" y="1189037"/>
            <a:ext cx="112374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9" name="Rectangle 71"/>
          <p:cNvSpPr txBox="1">
            <a:spLocks noChangeArrowheads="1"/>
          </p:cNvSpPr>
          <p:nvPr/>
        </p:nvSpPr>
        <p:spPr bwMode="auto">
          <a:xfrm>
            <a:off x="10972801" y="6311900"/>
            <a:ext cx="884767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1200" kern="1200" noProof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200" kern="1200" noProof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</a:p>
        </p:txBody>
      </p:sp>
      <p:grpSp>
        <p:nvGrpSpPr>
          <p:cNvPr id="5" name="Group 8"/>
          <p:cNvGrpSpPr>
            <a:grpSpLocks noChangeAspect="1"/>
          </p:cNvGrpSpPr>
          <p:nvPr/>
        </p:nvGrpSpPr>
        <p:grpSpPr bwMode="auto">
          <a:xfrm>
            <a:off x="567267" y="6426200"/>
            <a:ext cx="3230189" cy="279400"/>
            <a:chOff x="240" y="3744"/>
            <a:chExt cx="2055" cy="237"/>
          </a:xfrm>
        </p:grpSpPr>
        <p:sp>
          <p:nvSpPr>
            <p:cNvPr id="76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240" y="3744"/>
              <a:ext cx="205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Freeform 9"/>
            <p:cNvSpPr>
              <a:spLocks noEditPoints="1"/>
            </p:cNvSpPr>
            <p:nvPr userDrawn="1"/>
          </p:nvSpPr>
          <p:spPr bwMode="auto">
            <a:xfrm>
              <a:off x="1355" y="3744"/>
              <a:ext cx="462" cy="80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Freeform 10"/>
            <p:cNvSpPr>
              <a:spLocks noEditPoints="1"/>
            </p:cNvSpPr>
            <p:nvPr userDrawn="1"/>
          </p:nvSpPr>
          <p:spPr bwMode="auto">
            <a:xfrm>
              <a:off x="590" y="3744"/>
              <a:ext cx="737" cy="80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Freeform 11"/>
            <p:cNvSpPr>
              <a:spLocks noEditPoints="1"/>
            </p:cNvSpPr>
            <p:nvPr userDrawn="1"/>
          </p:nvSpPr>
          <p:spPr bwMode="auto">
            <a:xfrm>
              <a:off x="240" y="3745"/>
              <a:ext cx="311" cy="78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12"/>
            <p:cNvSpPr>
              <a:spLocks noEditPoints="1"/>
            </p:cNvSpPr>
            <p:nvPr userDrawn="1"/>
          </p:nvSpPr>
          <p:spPr bwMode="auto">
            <a:xfrm>
              <a:off x="1301" y="3876"/>
              <a:ext cx="994" cy="105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rgbClr val="7D99C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3810001"/>
            <a:ext cx="121920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4" name="Picture 2" descr="Q:\Repro 2\New guidelines 2011_12\Final 260411\PPT\OLD\050511\WMF\text slide pattern_2 boxes_060511.wmf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1"/>
            <a:ext cx="1658443" cy="10668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Constantia"/>
                <a:cs typeface="Arial"/>
              </a:rPr>
              <a:t>Java Basics</a:t>
            </a:r>
            <a:endParaRPr lang="en-US" sz="4800" b="1" dirty="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119632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AGENDA</a:t>
            </a:r>
            <a:endParaRPr lang="en-IN" sz="320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762000" y="1575666"/>
            <a:ext cx="1082040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Introduction to Java</a:t>
            </a:r>
            <a:endParaRPr lang="en-US" dirty="0">
              <a:cs typeface="Arial"/>
            </a:endParaRP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JDK, JRE and JVM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Byte Code V/S Machine Code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Java Basic Syntax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Hello World Program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Data Types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Variables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Java Operators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Access Modifiers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Scanner Class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Constantia"/>
                <a:cs typeface="Arial"/>
              </a:rPr>
              <a:t>Control Statements</a:t>
            </a:r>
          </a:p>
        </p:txBody>
      </p:sp>
    </p:spTree>
    <p:extLst>
      <p:ext uri="{BB962C8B-B14F-4D97-AF65-F5344CB8AC3E}">
        <p14:creationId xmlns:p14="http://schemas.microsoft.com/office/powerpoint/2010/main" val="359149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Introduction to Java</a:t>
            </a:r>
            <a:endParaRPr lang="en-IN" sz="3200" dirty="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762000" y="1575666"/>
            <a:ext cx="1082040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Constantia"/>
                <a:cs typeface="Arial"/>
              </a:rPr>
              <a:t>Java is a </a:t>
            </a:r>
            <a:r>
              <a:rPr lang="en-US" sz="2400" b="1" dirty="0">
                <a:latin typeface="Constantia"/>
                <a:cs typeface="Arial"/>
              </a:rPr>
              <a:t>class-based</a:t>
            </a:r>
            <a:r>
              <a:rPr lang="en-US" sz="2400" dirty="0">
                <a:latin typeface="Constantia"/>
                <a:cs typeface="Arial"/>
              </a:rPr>
              <a:t>,</a:t>
            </a:r>
            <a:r>
              <a:rPr lang="en-US" sz="2400" b="1" dirty="0">
                <a:latin typeface="Constantia"/>
                <a:cs typeface="Arial"/>
              </a:rPr>
              <a:t> object-oriented</a:t>
            </a:r>
            <a:r>
              <a:rPr lang="en-US" sz="2400" dirty="0">
                <a:latin typeface="Constantia"/>
                <a:cs typeface="Arial"/>
              </a:rPr>
              <a:t> programming language.</a:t>
            </a:r>
            <a:endParaRPr lang="en-US"/>
          </a:p>
          <a:p>
            <a:pPr marL="457200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Constantia"/>
                <a:cs typeface="Arial"/>
              </a:rPr>
              <a:t>It is intended to let application developers </a:t>
            </a:r>
            <a:r>
              <a:rPr lang="en-US" sz="2400" b="1" dirty="0">
                <a:latin typeface="Constantia"/>
                <a:cs typeface="Arial"/>
              </a:rPr>
              <a:t>Write once,  run anywhere</a:t>
            </a:r>
            <a:r>
              <a:rPr lang="en-US" sz="2400" dirty="0">
                <a:latin typeface="Constantia"/>
                <a:cs typeface="Arial"/>
              </a:rPr>
              <a:t> (WORA), meaning that compiled java code can run on all platforms that supports java without need of recompilation.</a:t>
            </a:r>
          </a:p>
          <a:p>
            <a:pPr marL="457200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Constantia"/>
                <a:cs typeface="Arial"/>
              </a:rPr>
              <a:t>Java was widely used for developing applications for desktop, web and mobile devices.</a:t>
            </a:r>
          </a:p>
          <a:p>
            <a:pPr marL="457200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Java is known for its </a:t>
            </a:r>
            <a:r>
              <a:rPr lang="en-US" sz="2400" b="1">
                <a:latin typeface="Constantia"/>
                <a:cs typeface="Arial"/>
              </a:rPr>
              <a:t>simplicity</a:t>
            </a:r>
            <a:r>
              <a:rPr lang="en-US" sz="2400">
                <a:latin typeface="Constantia"/>
                <a:cs typeface="Arial"/>
              </a:rPr>
              <a:t>, </a:t>
            </a:r>
            <a:r>
              <a:rPr lang="en-US" sz="2400" b="1">
                <a:latin typeface="Constantia"/>
                <a:cs typeface="Arial"/>
              </a:rPr>
              <a:t>robustness </a:t>
            </a:r>
            <a:r>
              <a:rPr lang="en-US" sz="2400">
                <a:latin typeface="Constantia"/>
                <a:cs typeface="Arial"/>
              </a:rPr>
              <a:t>and </a:t>
            </a:r>
            <a:r>
              <a:rPr lang="en-US" sz="2400" b="1">
                <a:latin typeface="Constantia"/>
                <a:cs typeface="Arial"/>
              </a:rPr>
              <a:t>security </a:t>
            </a:r>
            <a:r>
              <a:rPr lang="en-US" sz="2400">
                <a:latin typeface="Constantia"/>
                <a:cs typeface="Arial"/>
              </a:rPr>
              <a:t>features.</a:t>
            </a: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761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Introduction to Java</a:t>
            </a:r>
            <a:endParaRPr lang="en-IN" sz="3200" dirty="0">
              <a:latin typeface="Constant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859B2-C20B-51DD-ECF3-36E954D52F94}"/>
              </a:ext>
            </a:extLst>
          </p:cNvPr>
          <p:cNvSpPr txBox="1"/>
          <p:nvPr/>
        </p:nvSpPr>
        <p:spPr>
          <a:xfrm>
            <a:off x="725697" y="1157316"/>
            <a:ext cx="5136641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 dirty="0">
                <a:latin typeface="Constantia"/>
                <a:cs typeface="Arial"/>
              </a:rPr>
              <a:t>Features of Java</a:t>
            </a:r>
          </a:p>
          <a:p>
            <a:pPr marL="514350" indent="-514350" algn="just">
              <a:buFont typeface="Arial"/>
              <a:buChar char="•"/>
            </a:pPr>
            <a:endParaRPr lang="en-US" sz="2800" b="1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Platform Independent</a:t>
            </a:r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Object-oriented Programming</a:t>
            </a:r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Simplicity</a:t>
            </a:r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Robustness – Garbage Collector</a:t>
            </a:r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Security</a:t>
            </a:r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Distributed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919FB-B7C1-17DC-5D43-A33ABC358877}"/>
              </a:ext>
            </a:extLst>
          </p:cNvPr>
          <p:cNvSpPr txBox="1"/>
          <p:nvPr/>
        </p:nvSpPr>
        <p:spPr>
          <a:xfrm>
            <a:off x="6095999" y="1614410"/>
            <a:ext cx="4827723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Multithreading</a:t>
            </a:r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Portability</a:t>
            </a:r>
            <a:endParaRPr lang="en-US"/>
          </a:p>
          <a:p>
            <a:pPr marL="514350" indent="-51435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514350" indent="-51435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High Performance</a:t>
            </a: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20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onstantia"/>
                <a:cs typeface="Arial"/>
              </a:rPr>
              <a:t>Introduction to Java</a:t>
            </a:r>
            <a:endParaRPr lang="en-IN" sz="3200" dirty="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4508" y="1188208"/>
            <a:ext cx="108204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Execution of Java Code</a:t>
            </a:r>
            <a:endParaRPr lang="en-US" sz="2800" b="1" dirty="0">
              <a:latin typeface="Constantia"/>
              <a:cs typeface="Arial"/>
            </a:endParaRPr>
          </a:p>
        </p:txBody>
      </p:sp>
      <p:pic>
        <p:nvPicPr>
          <p:cNvPr id="3" name="Picture 2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FDC36A17-F718-2A97-50C9-673985B3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233" y="1720312"/>
            <a:ext cx="8867772" cy="457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5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JDK, JRE and JVM</a:t>
            </a:r>
            <a:endParaRPr lang="en-IN" sz="3600" b="1" dirty="0">
              <a:latin typeface="Constant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4C46E-EFBB-4127-8A7A-3439DC020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74" y="1334358"/>
            <a:ext cx="9250961" cy="50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2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JDK, JRE and JVM</a:t>
            </a:r>
            <a:endParaRPr lang="en-IN" sz="3200" dirty="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250879"/>
            <a:ext cx="10820400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JDK (Java Development Kit)</a:t>
            </a: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provides the environment to develop and execute (run) the java program.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JDK is a kit that include two things</a:t>
            </a:r>
            <a:endParaRPr lang="en-US" sz="2400" dirty="0">
              <a:latin typeface="Constantia"/>
              <a:cs typeface="Arial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US" sz="2400" b="1">
                <a:latin typeface="Constantia"/>
                <a:cs typeface="Arial"/>
              </a:rPr>
              <a:t>Development Tools</a:t>
            </a:r>
            <a:r>
              <a:rPr lang="en-US" sz="2400">
                <a:latin typeface="Constantia"/>
                <a:cs typeface="Arial"/>
              </a:rPr>
              <a:t> (provides environment to develop java applications)</a:t>
            </a:r>
          </a:p>
          <a:p>
            <a:pPr marL="800100" lvl="1" indent="-342900" algn="just">
              <a:buFont typeface="Courier New"/>
              <a:buChar char="o"/>
            </a:pPr>
            <a:r>
              <a:rPr lang="en-US" sz="2400" b="1">
                <a:latin typeface="Constantia"/>
                <a:cs typeface="Arial"/>
              </a:rPr>
              <a:t>JRE</a:t>
            </a:r>
            <a:r>
              <a:rPr lang="en-US" sz="2400">
                <a:latin typeface="Constantia"/>
                <a:cs typeface="Arial"/>
              </a:rPr>
              <a:t> (to execute your java program).</a:t>
            </a:r>
            <a:endParaRPr lang="en-US" sz="2400" dirty="0">
              <a:latin typeface="Constantia"/>
              <a:cs typeface="Arial"/>
            </a:endParaRPr>
          </a:p>
          <a:p>
            <a:pPr marL="800100" lvl="1" indent="-342900" algn="just">
              <a:buFont typeface="Courier New"/>
              <a:buChar char="o"/>
            </a:pPr>
            <a:endParaRPr lang="en-US" sz="2400" dirty="0">
              <a:latin typeface="Constantia"/>
              <a:cs typeface="Arial"/>
            </a:endParaRPr>
          </a:p>
          <a:p>
            <a:pPr algn="just"/>
            <a:r>
              <a:rPr lang="en-US" sz="2800" b="1">
                <a:latin typeface="Constantia"/>
                <a:cs typeface="Arial"/>
              </a:rPr>
              <a:t>JRE (Java Runtime Environment)</a:t>
            </a:r>
            <a:endParaRPr lang="en-US" sz="2800">
              <a:latin typeface="Constantia"/>
              <a:cs typeface="Arial"/>
            </a:endParaRP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It is an installation package that provides an environment to </a:t>
            </a:r>
            <a:r>
              <a:rPr lang="en-US" sz="2400" b="1">
                <a:latin typeface="Constantia"/>
                <a:cs typeface="Arial"/>
              </a:rPr>
              <a:t>only run (not develop) </a:t>
            </a:r>
            <a:r>
              <a:rPr lang="en-US" sz="2400">
                <a:latin typeface="Constantia"/>
                <a:cs typeface="Arial"/>
              </a:rPr>
              <a:t>the java program onto the machine.</a:t>
            </a: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JRE is only used by those who only want to run java programs that are end-users of your system.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22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JDK, JRE and JVM</a:t>
            </a:r>
            <a:endParaRPr lang="en-IN" sz="3200" dirty="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713076"/>
            <a:ext cx="10820400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JVM (Java Virtual Machine)</a:t>
            </a: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is very important part of both JDK and JRE because it is contained or builtin in both.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Whatever Java program you run using JDK and JRE, goes into JVM and JVM is responsible for </a:t>
            </a:r>
            <a:r>
              <a:rPr lang="en-US" sz="2400" b="1">
                <a:latin typeface="Constantia"/>
                <a:cs typeface="Arial"/>
              </a:rPr>
              <a:t>executing the java program line by line</a:t>
            </a:r>
            <a:r>
              <a:rPr lang="en-US" sz="2400">
                <a:latin typeface="Constantia"/>
                <a:cs typeface="Arial"/>
              </a:rPr>
              <a:t>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Hence, it is also known as "</a:t>
            </a:r>
            <a:r>
              <a:rPr lang="en-US" sz="2400" b="1">
                <a:latin typeface="Constantia"/>
                <a:cs typeface="Arial"/>
              </a:rPr>
              <a:t>Interpreter"</a:t>
            </a:r>
            <a:r>
              <a:rPr lang="en-US" sz="2400" dirty="0">
                <a:latin typeface="Constantia"/>
                <a:cs typeface="Arial"/>
              </a:rPr>
              <a:t>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019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Byte Code V/S Machine Code</a:t>
            </a:r>
            <a:endParaRPr lang="en-IN" sz="3600" b="1" dirty="0">
              <a:latin typeface="Constanti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E37C45-2C9F-AEC9-068E-449E2E2AA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79954"/>
              </p:ext>
            </p:extLst>
          </p:nvPr>
        </p:nvGraphicFramePr>
        <p:xfrm>
          <a:off x="961869" y="1124261"/>
          <a:ext cx="10282094" cy="5158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1047">
                  <a:extLst>
                    <a:ext uri="{9D8B030D-6E8A-4147-A177-3AD203B41FA5}">
                      <a16:colId xmlns:a16="http://schemas.microsoft.com/office/drawing/2014/main" val="3002021692"/>
                    </a:ext>
                  </a:extLst>
                </a:gridCol>
                <a:gridCol w="5141047">
                  <a:extLst>
                    <a:ext uri="{9D8B030D-6E8A-4147-A177-3AD203B41FA5}">
                      <a16:colId xmlns:a16="http://schemas.microsoft.com/office/drawing/2014/main" val="578792065"/>
                    </a:ext>
                  </a:extLst>
                </a:gridCol>
              </a:tblGrid>
              <a:tr h="85240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latin typeface="Constantia"/>
                        </a:rPr>
                        <a:t>Byte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latin typeface="Constantia"/>
                        </a:rPr>
                        <a:t>Machine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25050"/>
                  </a:ext>
                </a:extLst>
              </a:tr>
              <a:tr h="76472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Byte code consists of binary, hexadecimal etc. and it is not executable by the CPU.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Machine code consisting of binary instructions that are directly executed by the CPU.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07030"/>
                  </a:ext>
                </a:extLst>
              </a:tr>
              <a:tr h="764726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Byte code is considered as the </a:t>
                      </a:r>
                      <a:r>
                        <a:rPr lang="en-US" sz="2000" b="1" i="1" dirty="0">
                          <a:latin typeface="Constantia"/>
                        </a:rPr>
                        <a:t>intermediate-level code</a:t>
                      </a:r>
                      <a:r>
                        <a:rPr lang="en-US" sz="2000" b="0" i="1" dirty="0">
                          <a:latin typeface="Constantia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Machine code is considered as the </a:t>
                      </a:r>
                      <a:r>
                        <a:rPr lang="en-US" sz="2000" b="1" i="1" dirty="0">
                          <a:latin typeface="Constantia"/>
                        </a:rPr>
                        <a:t>low-level code</a:t>
                      </a:r>
                      <a:r>
                        <a:rPr lang="en-US" sz="2000" b="0" i="1" dirty="0">
                          <a:latin typeface="Constantia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816620"/>
                  </a:ext>
                </a:extLst>
              </a:tr>
              <a:tr h="764726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Byte code is non-runnable code generated after the compilation of source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Machine code is a set of instructions in machine language or in binary format.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164359"/>
                  </a:ext>
                </a:extLst>
              </a:tr>
              <a:tr h="764726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Byte code is less specific towards machine than the machine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Machine code is more specific towards machine than the byte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659585"/>
                  </a:ext>
                </a:extLst>
              </a:tr>
              <a:tr h="764726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It is platform independent as it is dependent on the JVM.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It is platform dependent because object code of one platform cannot be run on different operation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27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67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Basic Syntax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096E2F-4E05-E1C4-9C5E-228565E8A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67619"/>
              </p:ext>
            </p:extLst>
          </p:nvPr>
        </p:nvGraphicFramePr>
        <p:xfrm>
          <a:off x="949377" y="1374097"/>
          <a:ext cx="10282093" cy="4750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498">
                  <a:extLst>
                    <a:ext uri="{9D8B030D-6E8A-4147-A177-3AD203B41FA5}">
                      <a16:colId xmlns:a16="http://schemas.microsoft.com/office/drawing/2014/main" val="3002021692"/>
                    </a:ext>
                  </a:extLst>
                </a:gridCol>
                <a:gridCol w="7980595">
                  <a:extLst>
                    <a:ext uri="{9D8B030D-6E8A-4147-A177-3AD203B41FA5}">
                      <a16:colId xmlns:a16="http://schemas.microsoft.com/office/drawing/2014/main" val="578792065"/>
                    </a:ext>
                  </a:extLst>
                </a:gridCol>
              </a:tblGrid>
              <a:tr h="10121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Terminology</a:t>
                      </a:r>
                      <a:endParaRPr lang="en-US" sz="2400" b="1" i="0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Description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2505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Class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The class is a </a:t>
                      </a:r>
                      <a:r>
                        <a:rPr lang="en-US" sz="2000" b="1" i="1">
                          <a:latin typeface="Constantia"/>
                        </a:rPr>
                        <a:t>blueprint (plan) </a:t>
                      </a:r>
                      <a:r>
                        <a:rPr lang="en-US" sz="2000" b="0" i="1">
                          <a:latin typeface="Constantia"/>
                        </a:rPr>
                        <a:t>of the instances of a class (object).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It can be defined as logical template to create the objects.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0703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Object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The object is an instance of a class.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It is an entity that has </a:t>
                      </a:r>
                      <a:r>
                        <a:rPr lang="en-US" sz="2000" b="1" i="1">
                          <a:latin typeface="Constantia"/>
                        </a:rPr>
                        <a:t>state </a:t>
                      </a:r>
                      <a:r>
                        <a:rPr lang="en-US" sz="2000" b="0" i="1">
                          <a:latin typeface="Constantia"/>
                        </a:rPr>
                        <a:t>and </a:t>
                      </a:r>
                      <a:r>
                        <a:rPr lang="en-US" sz="2000" b="1" i="1">
                          <a:latin typeface="Constantia"/>
                        </a:rPr>
                        <a:t>behaviour</a:t>
                      </a:r>
                      <a:r>
                        <a:rPr lang="en-US" sz="2000" b="0" i="1">
                          <a:latin typeface="Constantia"/>
                        </a:rPr>
                        <a:t>.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81662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Method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The behaviour of an object is called as method.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By using method, we can divide complex problem in small chunks.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164359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Instance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Every object has its own unique set of instance variables.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The state of an object is generally created by the values that are assigned to these instance variables.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659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857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Basic Syntax</a:t>
            </a:r>
            <a:endParaRPr lang="en-IN" sz="3200" dirty="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063502"/>
            <a:ext cx="10820400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Comments in Java:</a:t>
            </a: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algn="just"/>
            <a:r>
              <a:rPr lang="en-US" sz="2400">
                <a:latin typeface="Constantia"/>
                <a:cs typeface="Arial"/>
              </a:rPr>
              <a:t>There are three types of comments in Java.</a:t>
            </a:r>
          </a:p>
          <a:p>
            <a:pPr marL="457200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Single line comment (ctrl + /)</a:t>
            </a:r>
          </a:p>
          <a:p>
            <a:pPr lvl="1" algn="just"/>
            <a:endParaRPr lang="en-US" sz="2400" dirty="0">
              <a:latin typeface="Constantia"/>
              <a:cs typeface="Arial"/>
            </a:endParaRPr>
          </a:p>
          <a:p>
            <a:pPr marL="457200" lvl="1" algn="just"/>
            <a:endParaRPr lang="en-US" sz="2400" dirty="0">
              <a:latin typeface="Constantia"/>
              <a:cs typeface="Arial"/>
            </a:endParaRPr>
          </a:p>
          <a:p>
            <a:pPr marL="457200" lvl="1" algn="just"/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Multi line comment  (ctrl + shift + /)</a:t>
            </a:r>
            <a:endParaRPr lang="en-US"/>
          </a:p>
          <a:p>
            <a:pPr marL="457200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Documentation comment</a:t>
            </a:r>
            <a:endParaRPr lang="en-US" sz="2400" dirty="0">
              <a:latin typeface="Constantia"/>
              <a:cs typeface="Arial"/>
            </a:endParaRPr>
          </a:p>
        </p:txBody>
      </p:sp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DE2B181-E398-2EFB-6AF3-115400EA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796" y="2825568"/>
            <a:ext cx="6067425" cy="657225"/>
          </a:xfrm>
          <a:prstGeom prst="rect">
            <a:avLst/>
          </a:prstGeom>
        </p:spPr>
      </p:pic>
      <p:pic>
        <p:nvPicPr>
          <p:cNvPr id="4" name="Picture 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B133E1C6-D08F-1C8F-FEA3-395D86886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983" y="4108858"/>
            <a:ext cx="7639050" cy="1108180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F91EC76-060C-4968-1626-30746BF4C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5713595"/>
            <a:ext cx="30099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5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Basic Syntax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13470"/>
            <a:ext cx="1082040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 dirty="0">
                <a:latin typeface="Constantia"/>
                <a:cs typeface="Arial"/>
              </a:rPr>
              <a:t>Class</a:t>
            </a:r>
            <a:endParaRPr lang="en-US" dirty="0"/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Java is object-oriented programming language.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Everything in java is associated with classes and objects, along with its attributes and methods.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Class is like an object constructor, or a "</a:t>
            </a:r>
            <a:r>
              <a:rPr lang="en-US" sz="2400" b="1" dirty="0">
                <a:latin typeface="Constantia"/>
                <a:cs typeface="Arial"/>
              </a:rPr>
              <a:t>blueprint</a:t>
            </a:r>
            <a:r>
              <a:rPr lang="en-US" sz="2400" dirty="0">
                <a:latin typeface="Constantia"/>
                <a:cs typeface="Arial"/>
              </a:rPr>
              <a:t>" for creating objects.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To create a class, use the keyword called "</a:t>
            </a:r>
            <a:r>
              <a:rPr lang="en-US" sz="2400" b="1" dirty="0">
                <a:latin typeface="Constantia"/>
                <a:cs typeface="Arial"/>
              </a:rPr>
              <a:t>class</a:t>
            </a:r>
            <a:r>
              <a:rPr lang="en-US" sz="2400" dirty="0">
                <a:latin typeface="Constantia"/>
                <a:cs typeface="Arial"/>
              </a:rPr>
              <a:t>"</a:t>
            </a:r>
            <a:endParaRPr lang="en-US" sz="240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algn="just"/>
            <a:r>
              <a:rPr lang="en-US" sz="2800" b="1" dirty="0">
                <a:latin typeface="Constantia"/>
                <a:cs typeface="Arial"/>
              </a:rPr>
              <a:t>Example</a:t>
            </a: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In real life car is an object. The car has attributes, such as weight and color, and methods, such as drive and brake.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  <p:pic>
        <p:nvPicPr>
          <p:cNvPr id="3" name="Picture 2" descr="A white background with colorful text&#10;&#10;Description automatically generated">
            <a:extLst>
              <a:ext uri="{FF2B5EF4-FFF2-40B4-BE49-F238E27FC236}">
                <a16:creationId xmlns:a16="http://schemas.microsoft.com/office/drawing/2014/main" id="{CFB96519-EC02-0B19-9717-4EDCA257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505" y="3423223"/>
            <a:ext cx="3743481" cy="147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Basic Syntax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03173"/>
            <a:ext cx="10820400" cy="575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public static void main(String[] args)</a:t>
            </a: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The main method is the entry point into the java application.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This is where the processing starts.</a:t>
            </a:r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algn="just"/>
            <a:r>
              <a:rPr lang="en-US" sz="2400" b="1" dirty="0">
                <a:latin typeface="Constantia"/>
                <a:cs typeface="Arial"/>
              </a:rPr>
              <a:t>public</a:t>
            </a:r>
            <a:r>
              <a:rPr lang="en-US" sz="2400" dirty="0">
                <a:latin typeface="Constantia"/>
                <a:cs typeface="Arial"/>
              </a:rPr>
              <a:t> = Access modifier allows the method to be accessed from </a:t>
            </a:r>
            <a:r>
              <a:rPr lang="en-US" sz="2400">
                <a:latin typeface="Constantia"/>
                <a:cs typeface="Arial"/>
              </a:rPr>
              <a:t>anywhere.</a:t>
            </a:r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algn="just"/>
            <a:r>
              <a:rPr lang="en-US" sz="2400" b="1" dirty="0">
                <a:latin typeface="Constantia"/>
                <a:cs typeface="Arial"/>
              </a:rPr>
              <a:t>static = </a:t>
            </a:r>
            <a:r>
              <a:rPr lang="en-US" sz="2400" dirty="0">
                <a:latin typeface="Constantia"/>
                <a:cs typeface="Arial"/>
              </a:rPr>
              <a:t>This keyword allows the methods to be called without creating </a:t>
            </a:r>
            <a:r>
              <a:rPr lang="en-US" sz="2400">
                <a:latin typeface="Constantia"/>
                <a:cs typeface="Arial"/>
              </a:rPr>
              <a:t>instances.</a:t>
            </a:r>
            <a:endParaRPr lang="en-US" sz="2400" b="1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algn="just"/>
            <a:r>
              <a:rPr lang="en-US" sz="2400" b="1" dirty="0">
                <a:latin typeface="Constantia"/>
                <a:cs typeface="Arial"/>
              </a:rPr>
              <a:t>void = </a:t>
            </a:r>
            <a:r>
              <a:rPr lang="en-US" sz="2400">
                <a:latin typeface="Constantia"/>
                <a:cs typeface="Arial"/>
              </a:rPr>
              <a:t>This is the return type indicates that the method doesn't return any value.</a:t>
            </a:r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algn="just"/>
            <a:r>
              <a:rPr lang="en-US" sz="2400" b="1" dirty="0">
                <a:latin typeface="Constantia"/>
                <a:cs typeface="Arial"/>
              </a:rPr>
              <a:t>String[] args = </a:t>
            </a:r>
            <a:r>
              <a:rPr lang="en-US" sz="2400">
                <a:latin typeface="Constantia"/>
                <a:cs typeface="Arial"/>
              </a:rPr>
              <a:t>This array stores command-line arguments that user can input when they run the program.</a:t>
            </a:r>
            <a:endParaRPr lang="en-US" sz="24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4049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Basic Syntax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13470"/>
            <a:ext cx="108204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Class Name:</a:t>
            </a:r>
            <a:endParaRPr lang="en-US" sz="2800" b="1" dirty="0">
              <a:latin typeface="Constantia"/>
              <a:cs typeface="Arial"/>
            </a:endParaRP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The first letter of the class name should be in </a:t>
            </a:r>
            <a:r>
              <a:rPr lang="en-US" sz="2400" b="1">
                <a:latin typeface="Constantia"/>
                <a:cs typeface="Arial"/>
              </a:rPr>
              <a:t>uppercase</a:t>
            </a:r>
            <a:r>
              <a:rPr lang="en-US" sz="2400">
                <a:latin typeface="Constantia"/>
                <a:cs typeface="Arial"/>
              </a:rPr>
              <a:t>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If several words are used to form the name of the class, each inner word's first letter should be in </a:t>
            </a:r>
            <a:r>
              <a:rPr lang="en-US" sz="2400" b="1">
                <a:latin typeface="Constantia"/>
                <a:cs typeface="Arial"/>
              </a:rPr>
              <a:t>uppercase</a:t>
            </a:r>
            <a:r>
              <a:rPr lang="en-US" sz="2400">
                <a:latin typeface="Constantia"/>
                <a:cs typeface="Arial"/>
              </a:rPr>
              <a:t>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8D255C0-7846-9E95-7492-790E10924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3" y="3614113"/>
            <a:ext cx="88296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1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Basic Syntax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13470"/>
            <a:ext cx="1082040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>
                <a:latin typeface="Constantia"/>
                <a:cs typeface="Arial"/>
              </a:rPr>
              <a:t>Method Name:</a:t>
            </a:r>
            <a:endParaRPr lang="en-US" sz="2800" b="1" dirty="0">
              <a:latin typeface="Constantia"/>
              <a:cs typeface="Arial"/>
            </a:endParaRPr>
          </a:p>
          <a:p>
            <a:pPr algn="just"/>
            <a:endParaRPr lang="en-US" sz="28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All method names should start with the </a:t>
            </a:r>
            <a:r>
              <a:rPr lang="en-US" sz="2400" b="1">
                <a:latin typeface="Constantia"/>
                <a:cs typeface="Arial"/>
              </a:rPr>
              <a:t>lowercase</a:t>
            </a:r>
            <a:r>
              <a:rPr lang="en-US" sz="2400">
                <a:latin typeface="Constantia"/>
                <a:cs typeface="Arial"/>
              </a:rPr>
              <a:t>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If several words are used to form the name of the class, each inner word's first letter should be in </a:t>
            </a:r>
            <a:r>
              <a:rPr lang="en-US" sz="2400" b="1">
                <a:latin typeface="Constantia"/>
                <a:cs typeface="Arial"/>
              </a:rPr>
              <a:t>uppercase</a:t>
            </a:r>
            <a:r>
              <a:rPr lang="en-US" sz="2400">
                <a:latin typeface="Constantia"/>
                <a:cs typeface="Arial"/>
              </a:rPr>
              <a:t>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Underscores are allowed but not recommended.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Also allowed are digits and currency symbols.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  <p:pic>
        <p:nvPicPr>
          <p:cNvPr id="4" name="Picture 3" descr="A group of black text&#10;&#10;Description automatically generated">
            <a:extLst>
              <a:ext uri="{FF2B5EF4-FFF2-40B4-BE49-F238E27FC236}">
                <a16:creationId xmlns:a16="http://schemas.microsoft.com/office/drawing/2014/main" id="{0CA64506-2DD7-0F47-9C35-979FC0621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4285236"/>
            <a:ext cx="8267700" cy="14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2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Hello World Program</a:t>
            </a:r>
            <a:endParaRPr lang="en-US"/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83912B7-4D0B-E279-92F3-B2F51A92C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33" y="1554059"/>
            <a:ext cx="9325442" cy="441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45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Data Types</a:t>
            </a:r>
            <a:endParaRPr lang="en-US"/>
          </a:p>
        </p:txBody>
      </p:sp>
      <p:pic>
        <p:nvPicPr>
          <p:cNvPr id="4" name="Picture 3" descr="A diagram of data types&#10;&#10;Description automatically generated">
            <a:extLst>
              <a:ext uri="{FF2B5EF4-FFF2-40B4-BE49-F238E27FC236}">
                <a16:creationId xmlns:a16="http://schemas.microsoft.com/office/drawing/2014/main" id="{6DD523A1-04E7-0771-E162-BD96A5A8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82" y="1196715"/>
            <a:ext cx="9652638" cy="507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61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Primitive Data Types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CAAB26-790F-504A-F379-32521EEFD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665896"/>
              </p:ext>
            </p:extLst>
          </p:nvPr>
        </p:nvGraphicFramePr>
        <p:xfrm>
          <a:off x="487180" y="1111770"/>
          <a:ext cx="11290125" cy="5527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660">
                  <a:extLst>
                    <a:ext uri="{9D8B030D-6E8A-4147-A177-3AD203B41FA5}">
                      <a16:colId xmlns:a16="http://schemas.microsoft.com/office/drawing/2014/main" val="3002021692"/>
                    </a:ext>
                  </a:extLst>
                </a:gridCol>
                <a:gridCol w="3857140">
                  <a:extLst>
                    <a:ext uri="{9D8B030D-6E8A-4147-A177-3AD203B41FA5}">
                      <a16:colId xmlns:a16="http://schemas.microsoft.com/office/drawing/2014/main" val="578792065"/>
                    </a:ext>
                  </a:extLst>
                </a:gridCol>
                <a:gridCol w="1352551">
                  <a:extLst>
                    <a:ext uri="{9D8B030D-6E8A-4147-A177-3AD203B41FA5}">
                      <a16:colId xmlns:a16="http://schemas.microsoft.com/office/drawing/2014/main" val="1012513748"/>
                    </a:ext>
                  </a:extLst>
                </a:gridCol>
                <a:gridCol w="1235989">
                  <a:extLst>
                    <a:ext uri="{9D8B030D-6E8A-4147-A177-3AD203B41FA5}">
                      <a16:colId xmlns:a16="http://schemas.microsoft.com/office/drawing/2014/main" val="2472053387"/>
                    </a:ext>
                  </a:extLst>
                </a:gridCol>
                <a:gridCol w="2435785">
                  <a:extLst>
                    <a:ext uri="{9D8B030D-6E8A-4147-A177-3AD203B41FA5}">
                      <a16:colId xmlns:a16="http://schemas.microsoft.com/office/drawing/2014/main" val="3523177880"/>
                    </a:ext>
                  </a:extLst>
                </a:gridCol>
              </a:tblGrid>
              <a:tr h="781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Data Type</a:t>
                      </a:r>
                      <a:endParaRPr lang="en-US" sz="2400" b="1" i="0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Default</a:t>
                      </a:r>
                      <a:endParaRPr lang="en-US" sz="2400" b="1" i="0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Size</a:t>
                      </a:r>
                      <a:endParaRPr lang="en-US" sz="2400" b="1" i="0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Range of Values</a:t>
                      </a:r>
                      <a:endParaRPr lang="en-US" sz="2400" b="1" i="0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25050"/>
                  </a:ext>
                </a:extLst>
              </a:tr>
              <a:tr h="4938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boolean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true or false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false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8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true, false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07030"/>
                  </a:ext>
                </a:extLst>
              </a:tr>
              <a:tr h="4526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byte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Twos-complement integers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8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-128 to 127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816620"/>
                  </a:ext>
                </a:extLst>
              </a:tr>
              <a:tr h="432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char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Unicode character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\u0000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16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ASCII Values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164359"/>
                  </a:ext>
                </a:extLst>
              </a:tr>
              <a:tr h="5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short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u="none" strike="noStrike" noProof="0">
                          <a:solidFill>
                            <a:srgbClr val="000000"/>
                          </a:solidFill>
                          <a:latin typeface="Constantia"/>
                        </a:rPr>
                        <a:t>Twos-complement integers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16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-32,768 to 32,768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659585"/>
                  </a:ext>
                </a:extLst>
              </a:tr>
              <a:tr h="761348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Int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u="none" strike="noStrike" noProof="0">
                          <a:solidFill>
                            <a:srgbClr val="000000"/>
                          </a:solidFill>
                          <a:latin typeface="Constantia"/>
                        </a:rPr>
                        <a:t>Twos-complement integers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32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noProof="0" dirty="0">
                          <a:solidFill>
                            <a:srgbClr val="273239"/>
                          </a:solidFill>
                          <a:latin typeface="Constantia"/>
                        </a:rPr>
                        <a:t>-2,147,483,648</a:t>
                      </a:r>
                      <a:endParaRPr lang="en-US" sz="1600" b="0" i="1" dirty="0">
                        <a:latin typeface="Constanti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noProof="0">
                          <a:solidFill>
                            <a:srgbClr val="273239"/>
                          </a:solidFill>
                          <a:latin typeface="Constantia"/>
                        </a:rPr>
                        <a:t>to</a:t>
                      </a:r>
                      <a:endParaRPr lang="en-US" sz="1600" b="0" i="1">
                        <a:latin typeface="Constanti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noProof="0" dirty="0">
                          <a:solidFill>
                            <a:srgbClr val="273239"/>
                          </a:solidFill>
                          <a:latin typeface="Constantia"/>
                        </a:rPr>
                        <a:t>2,147,483,647</a:t>
                      </a:r>
                      <a:endParaRPr lang="en-US" sz="160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73224"/>
                  </a:ext>
                </a:extLst>
              </a:tr>
              <a:tr h="98769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long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u="none" strike="noStrike" noProof="0">
                          <a:solidFill>
                            <a:srgbClr val="000000"/>
                          </a:solidFill>
                          <a:latin typeface="Constantia"/>
                        </a:rPr>
                        <a:t>Twos-complement integers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64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 dirty="0">
                          <a:solidFill>
                            <a:srgbClr val="273239"/>
                          </a:solidFill>
                          <a:latin typeface="Constantia"/>
                        </a:rPr>
                        <a:t>-9,223,372,036,854,775,808</a:t>
                      </a:r>
                      <a:endParaRPr lang="en-US" sz="1400" b="0" i="1" dirty="0">
                        <a:latin typeface="Constanti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>
                          <a:solidFill>
                            <a:srgbClr val="273239"/>
                          </a:solidFill>
                          <a:latin typeface="Constantia"/>
                        </a:rPr>
                        <a:t>to</a:t>
                      </a:r>
                      <a:endParaRPr lang="en-US" sz="1400" b="0" i="1">
                        <a:latin typeface="Constanti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 dirty="0">
                          <a:solidFill>
                            <a:srgbClr val="273239"/>
                          </a:solidFill>
                          <a:latin typeface="Constantia"/>
                        </a:rPr>
                        <a:t>9,223,372,036,854,775,807</a:t>
                      </a:r>
                      <a:endParaRPr lang="en-US" sz="1400" i="1" dirty="0">
                        <a:latin typeface="Constantia"/>
                      </a:endParaRPr>
                    </a:p>
                    <a:p>
                      <a:pPr marL="0" lvl="0" indent="0">
                        <a:buFont typeface="Arial"/>
                        <a:buNone/>
                      </a:pP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942396"/>
                  </a:ext>
                </a:extLst>
              </a:tr>
              <a:tr h="37038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float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IEEE 754 floating point number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32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upto 7 decimals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552617"/>
                  </a:ext>
                </a:extLst>
              </a:tr>
              <a:tr h="5350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Double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u="none" strike="noStrike" noProof="0">
                          <a:solidFill>
                            <a:srgbClr val="000000"/>
                          </a:solidFill>
                          <a:latin typeface="Constantia"/>
                        </a:rPr>
                        <a:t>IEEE 754 floating point number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64 bits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upto 16 decimals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07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208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Non-Primitive Data Types</a:t>
            </a:r>
            <a:endParaRPr lang="en-IN" sz="3600" b="1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2275208"/>
            <a:ext cx="108204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The </a:t>
            </a:r>
            <a:r>
              <a:rPr lang="en-US" sz="2400" b="1" dirty="0">
                <a:latin typeface="Constantia"/>
                <a:cs typeface="Arial"/>
              </a:rPr>
              <a:t>Reference Data Types </a:t>
            </a:r>
            <a:r>
              <a:rPr lang="en-US" sz="2400" dirty="0">
                <a:latin typeface="Constantia"/>
                <a:cs typeface="Arial"/>
              </a:rPr>
              <a:t>will contain a memory address of variable values because the reference types won't store the variable values directly into the memory.</a:t>
            </a:r>
            <a:endParaRPr lang="en-US" sz="2800" b="1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 dirty="0">
                <a:latin typeface="Constantia"/>
                <a:cs typeface="Arial"/>
              </a:rPr>
              <a:t>They are </a:t>
            </a:r>
            <a:r>
              <a:rPr lang="en-US" sz="2400" b="1" dirty="0">
                <a:latin typeface="Constantia"/>
                <a:cs typeface="Arial"/>
              </a:rPr>
              <a:t>String</a:t>
            </a:r>
            <a:r>
              <a:rPr lang="en-US" sz="2400" dirty="0">
                <a:latin typeface="Constantia"/>
                <a:cs typeface="Arial"/>
              </a:rPr>
              <a:t>, </a:t>
            </a:r>
            <a:r>
              <a:rPr lang="en-US" sz="2400" b="1" dirty="0">
                <a:latin typeface="Constantia"/>
                <a:cs typeface="Arial"/>
              </a:rPr>
              <a:t>Arrays</a:t>
            </a:r>
            <a:r>
              <a:rPr lang="en-US" sz="2400" dirty="0">
                <a:latin typeface="Constantia"/>
                <a:cs typeface="Arial"/>
              </a:rPr>
              <a:t>, </a:t>
            </a:r>
            <a:r>
              <a:rPr lang="en-US" sz="2400" b="1" dirty="0">
                <a:latin typeface="Constantia"/>
                <a:cs typeface="Arial"/>
              </a:rPr>
              <a:t>Objects, Interface etc.</a:t>
            </a:r>
            <a:r>
              <a:rPr lang="en-US" sz="2400">
                <a:latin typeface="Constantia"/>
                <a:cs typeface="Arial"/>
              </a:rPr>
              <a:t>  String name = "Hello"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7831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Variables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213405"/>
            <a:ext cx="108204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Java variable is a name given to the memory location.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is the basic unit of storage in a program.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Value store in the variable can be changed during program execution.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In Java, all variables must be declared before use.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endParaRPr lang="en-US" sz="2400" b="1" dirty="0">
              <a:latin typeface="Constantia"/>
              <a:cs typeface="Arial"/>
            </a:endParaRPr>
          </a:p>
          <a:p>
            <a:pPr algn="just"/>
            <a:r>
              <a:rPr lang="en-US" sz="2400" b="1">
                <a:latin typeface="Constantia"/>
                <a:cs typeface="Arial"/>
              </a:rPr>
              <a:t>Declare a Variable</a:t>
            </a:r>
            <a:endParaRPr lang="en-US" sz="2400" b="1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  <p:pic>
        <p:nvPicPr>
          <p:cNvPr id="3" name="Picture 2" descr="A close-up of a couple of green speech bubbles&#10;&#10;Description automatically generated">
            <a:extLst>
              <a:ext uri="{FF2B5EF4-FFF2-40B4-BE49-F238E27FC236}">
                <a16:creationId xmlns:a16="http://schemas.microsoft.com/office/drawing/2014/main" id="{C2CB9744-1D83-980A-4893-A7FC1EF8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901" y="3596234"/>
            <a:ext cx="6284002" cy="24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1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Variables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213405"/>
            <a:ext cx="108204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Initialize the variables</a:t>
            </a:r>
            <a:endParaRPr lang="en-US" sz="2400" b="1" dirty="0">
              <a:latin typeface="Constantia"/>
              <a:cs typeface="Arial"/>
            </a:endParaRPr>
          </a:p>
        </p:txBody>
      </p:sp>
      <p:pic>
        <p:nvPicPr>
          <p:cNvPr id="4" name="Picture 3" descr="A diagram of a number of data&#10;&#10;Description automatically generated">
            <a:extLst>
              <a:ext uri="{FF2B5EF4-FFF2-40B4-BE49-F238E27FC236}">
                <a16:creationId xmlns:a16="http://schemas.microsoft.com/office/drawing/2014/main" id="{0CAB3C3F-FE90-4267-6E57-CF89D3AD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299" y="1963321"/>
            <a:ext cx="5493894" cy="2381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DAE7B3-0D86-717B-B317-2902D5B46AC4}"/>
              </a:ext>
            </a:extLst>
          </p:cNvPr>
          <p:cNvSpPr txBox="1"/>
          <p:nvPr/>
        </p:nvSpPr>
        <p:spPr>
          <a:xfrm>
            <a:off x="687048" y="4848519"/>
            <a:ext cx="108204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 b="1">
                <a:latin typeface="Constantia"/>
                <a:cs typeface="Arial"/>
              </a:rPr>
              <a:t>Data Type</a:t>
            </a:r>
            <a:r>
              <a:rPr lang="en-US" sz="2400">
                <a:latin typeface="Constantia"/>
                <a:cs typeface="Arial"/>
              </a:rPr>
              <a:t> : Type of the data can be stored in this variable.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latin typeface="Constantia"/>
                <a:cs typeface="Arial"/>
              </a:rPr>
              <a:t>Variable_Name</a:t>
            </a:r>
            <a:r>
              <a:rPr lang="en-US" sz="2400">
                <a:latin typeface="Constantia"/>
                <a:cs typeface="Arial"/>
              </a:rPr>
              <a:t> : Name given to the variable.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latin typeface="Constantia"/>
                <a:cs typeface="Arial"/>
              </a:rPr>
              <a:t>Value</a:t>
            </a:r>
            <a:r>
              <a:rPr lang="en-US" sz="2400">
                <a:latin typeface="Constantia"/>
                <a:cs typeface="Arial"/>
              </a:rPr>
              <a:t> : It is the initial value store in the variable.</a:t>
            </a: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9932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Variables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038520"/>
            <a:ext cx="53364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latin typeface="Constantia"/>
                <a:cs typeface="Arial"/>
              </a:rPr>
              <a:t>Types of Variables</a:t>
            </a:r>
          </a:p>
        </p:txBody>
      </p:sp>
      <p:pic>
        <p:nvPicPr>
          <p:cNvPr id="4" name="Picture 3" descr="A diagram of a type of variable&#10;&#10;Description automatically generated">
            <a:extLst>
              <a:ext uri="{FF2B5EF4-FFF2-40B4-BE49-F238E27FC236}">
                <a16:creationId xmlns:a16="http://schemas.microsoft.com/office/drawing/2014/main" id="{5E9B3BB7-CF0A-2346-7751-4A31C4195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484" y="1506747"/>
            <a:ext cx="5901753" cy="22455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A2A932-C11D-FBC4-6CAB-5FDEC23C24F0}"/>
              </a:ext>
            </a:extLst>
          </p:cNvPr>
          <p:cNvSpPr txBox="1"/>
          <p:nvPr/>
        </p:nvSpPr>
        <p:spPr>
          <a:xfrm>
            <a:off x="687048" y="3999076"/>
            <a:ext cx="1105774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>
                <a:latin typeface="Constantia"/>
                <a:cs typeface="Arial"/>
              </a:rPr>
              <a:t>Local Variable: </a:t>
            </a:r>
            <a:r>
              <a:rPr lang="en-US" sz="2400">
                <a:latin typeface="Constantia"/>
                <a:cs typeface="Arial"/>
              </a:rPr>
              <a:t>Scope of these variables exists within the block.</a:t>
            </a:r>
            <a:endParaRPr lang="en-US" sz="2400" b="1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 b="1">
                <a:latin typeface="Constantia"/>
                <a:cs typeface="Arial"/>
              </a:rPr>
              <a:t>Instance Variable: </a:t>
            </a:r>
            <a:r>
              <a:rPr lang="en-US" sz="2400">
                <a:latin typeface="Constantia"/>
                <a:cs typeface="Arial"/>
              </a:rPr>
              <a:t>These variables are declared in a </a:t>
            </a:r>
            <a:r>
              <a:rPr lang="en-US" sz="2400" noProof="1">
                <a:latin typeface="Constantia"/>
                <a:cs typeface="Arial"/>
              </a:rPr>
              <a:t>class</a:t>
            </a:r>
            <a:r>
              <a:rPr lang="en-US" sz="2400">
                <a:latin typeface="Constantia"/>
                <a:cs typeface="Arial"/>
              </a:rPr>
              <a:t>, these variables are created when object of the class is created.</a:t>
            </a:r>
            <a:endParaRPr lang="en-US" sz="2400" b="1" dirty="0">
              <a:latin typeface="Constantia"/>
              <a:cs typeface="Arial"/>
            </a:endParaRPr>
          </a:p>
          <a:p>
            <a:pPr marL="457200" indent="-457200" algn="just">
              <a:buAutoNum type="arabicPeriod"/>
            </a:pPr>
            <a:r>
              <a:rPr lang="en-US" sz="2400" b="1">
                <a:latin typeface="Constantia"/>
                <a:cs typeface="Arial"/>
              </a:rPr>
              <a:t>Static Variable: </a:t>
            </a:r>
            <a:r>
              <a:rPr lang="en-US" sz="2400">
                <a:latin typeface="Constantia"/>
                <a:cs typeface="Arial"/>
              </a:rPr>
              <a:t>These variables are similar to instance variables. The difference is they declared using keyword </a:t>
            </a:r>
            <a:r>
              <a:rPr lang="en-US" sz="2400" b="1">
                <a:latin typeface="Constantia"/>
                <a:cs typeface="Arial"/>
              </a:rPr>
              <a:t>static </a:t>
            </a:r>
            <a:r>
              <a:rPr lang="en-US" sz="2400">
                <a:latin typeface="Constantia"/>
                <a:cs typeface="Arial"/>
              </a:rPr>
              <a:t>within the class and outside of any constructor, method, or block</a:t>
            </a:r>
            <a:r>
              <a:rPr lang="en-US" sz="2400" b="1" dirty="0">
                <a:latin typeface="Constantia"/>
                <a:cs typeface="Arial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6751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Java Operators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225896"/>
            <a:ext cx="108204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Operators in java are the symbols used for performing specific operations in Java.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Types of operators in java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Arithmetic Operators (+, -, *, /, %)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Unary Operators (increment(++), decrement(--), logical not(!)) =&gt; +=2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Assignment Operators (=, +=, -=, *=, /=, %=) =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Relational Operators (==, !=, &gt;, &gt;=, &lt;, &lt;=)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Logical Operators (AND(&amp;&amp;), OR(||), NOT(!))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Ternary Operator (condition ? if true : if false)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Bitwise Operators (&amp;, |, ^, ~)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Shift Operators (&lt;&lt;, &gt;&gt;, &gt;&gt;&gt;)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Tx/>
              <a:buAutoNum type="arabicPeriod"/>
            </a:pPr>
            <a:r>
              <a:rPr lang="en-US" sz="2400">
                <a:latin typeface="Constantia"/>
                <a:cs typeface="Arial"/>
              </a:rPr>
              <a:t>Instance of Operator (</a:t>
            </a:r>
            <a:r>
              <a:rPr lang="en-US" sz="2400" b="1">
                <a:latin typeface="Constantia"/>
                <a:cs typeface="Arial"/>
              </a:rPr>
              <a:t>instance of </a:t>
            </a:r>
            <a:r>
              <a:rPr lang="en-US" sz="2400">
                <a:latin typeface="Constantia"/>
                <a:cs typeface="Arial"/>
              </a:rPr>
              <a:t>used for type checking )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6658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Access Modifiers</a:t>
            </a:r>
            <a:endParaRPr lang="en-IN" sz="3600" b="1">
              <a:latin typeface="Constanti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A3CB53-09A4-0869-98CA-537CF5A5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01538"/>
              </p:ext>
            </p:extLst>
          </p:nvPr>
        </p:nvGraphicFramePr>
        <p:xfrm>
          <a:off x="832146" y="1106773"/>
          <a:ext cx="10282093" cy="4656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498">
                  <a:extLst>
                    <a:ext uri="{9D8B030D-6E8A-4147-A177-3AD203B41FA5}">
                      <a16:colId xmlns:a16="http://schemas.microsoft.com/office/drawing/2014/main" val="3002021692"/>
                    </a:ext>
                  </a:extLst>
                </a:gridCol>
                <a:gridCol w="7980595">
                  <a:extLst>
                    <a:ext uri="{9D8B030D-6E8A-4147-A177-3AD203B41FA5}">
                      <a16:colId xmlns:a16="http://schemas.microsoft.com/office/drawing/2014/main" val="578792065"/>
                    </a:ext>
                  </a:extLst>
                </a:gridCol>
              </a:tblGrid>
              <a:tr h="10121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latin typeface="Constantia"/>
                        </a:rPr>
                        <a:t>Access Modifier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latin typeface="Constantia"/>
                        </a:rPr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2505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The code is accessible for all classes and packages in a same project.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0703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The code is accessible within the declared class.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81662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protected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The code is accessible in the same package and subclasses.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164359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 dirty="0">
                          <a:latin typeface="Constantia"/>
                        </a:rPr>
                        <a:t>default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The code is only accessible in the same package.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i="1" dirty="0">
                          <a:latin typeface="Constantia"/>
                        </a:rPr>
                        <a:t>This is used when you don't specify a modifier.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659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252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Non - Access Modifiers</a:t>
            </a:r>
            <a:endParaRPr lang="en-IN" sz="3600" b="1">
              <a:latin typeface="Constanti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A3CB53-09A4-0869-98CA-537CF5A5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066406"/>
              </p:ext>
            </p:extLst>
          </p:nvPr>
        </p:nvGraphicFramePr>
        <p:xfrm>
          <a:off x="961100" y="1558784"/>
          <a:ext cx="10282093" cy="3745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498">
                  <a:extLst>
                    <a:ext uri="{9D8B030D-6E8A-4147-A177-3AD203B41FA5}">
                      <a16:colId xmlns:a16="http://schemas.microsoft.com/office/drawing/2014/main" val="3002021692"/>
                    </a:ext>
                  </a:extLst>
                </a:gridCol>
                <a:gridCol w="7980595">
                  <a:extLst>
                    <a:ext uri="{9D8B030D-6E8A-4147-A177-3AD203B41FA5}">
                      <a16:colId xmlns:a16="http://schemas.microsoft.com/office/drawing/2014/main" val="578792065"/>
                    </a:ext>
                  </a:extLst>
                </a:gridCol>
              </a:tblGrid>
              <a:tr h="10121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Non-Access Modifier</a:t>
                      </a:r>
                      <a:endParaRPr lang="en-US" sz="2400" b="1" i="0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>
                          <a:latin typeface="Constantia"/>
                        </a:rPr>
                        <a:t>Description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2505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final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Attributes or methods cannot be overridden / modified.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0703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static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Attributes or methods belongs to the class, rather than the object.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816620"/>
                  </a:ext>
                </a:extLst>
              </a:tr>
              <a:tr h="9109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1">
                          <a:latin typeface="Constantia"/>
                        </a:rPr>
                        <a:t>abstract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Can only be used inside abstract class and can be used on methods.</a:t>
                      </a:r>
                    </a:p>
                    <a:p>
                      <a:pPr marL="342900" lvl="0" indent="-342900">
                        <a:buFont typeface="Arial"/>
                        <a:buChar char="•"/>
                      </a:pPr>
                      <a:r>
                        <a:rPr lang="en-US" sz="2000" b="0" i="1">
                          <a:latin typeface="Constantia"/>
                        </a:rPr>
                        <a:t>Abstract methods doesn't have a method body.</a:t>
                      </a:r>
                      <a:endParaRPr lang="en-US" sz="2000" b="0" i="1" dirty="0">
                        <a:latin typeface="Constanti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16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716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Scanner Class</a:t>
            </a:r>
            <a:endParaRPr lang="en-IN" sz="3600" b="1" dirty="0">
              <a:latin typeface="Constant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1082040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In Java, </a:t>
            </a:r>
            <a:r>
              <a:rPr lang="en-US" sz="2400" b="1">
                <a:latin typeface="Constantia"/>
                <a:cs typeface="Arial"/>
              </a:rPr>
              <a:t>Scanner </a:t>
            </a:r>
            <a:r>
              <a:rPr lang="en-US" sz="2400">
                <a:latin typeface="Constantia"/>
                <a:cs typeface="Arial"/>
              </a:rPr>
              <a:t>is a</a:t>
            </a:r>
            <a:r>
              <a:rPr lang="en-US" sz="2400" b="1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class which is available in the </a:t>
            </a:r>
            <a:r>
              <a:rPr lang="en-US" sz="2400" b="1" i="1">
                <a:latin typeface="Constantia"/>
                <a:cs typeface="Arial"/>
              </a:rPr>
              <a:t>java.util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package.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This class is used to obtain input from the user.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 b="1">
                <a:latin typeface="Constantia"/>
                <a:cs typeface="Arial"/>
              </a:rPr>
              <a:t>Scanner </a:t>
            </a:r>
            <a:r>
              <a:rPr lang="en-US" sz="2400">
                <a:latin typeface="Constantia"/>
                <a:cs typeface="Arial"/>
              </a:rPr>
              <a:t>class helps you to take standard input stream in java.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So, we need methods to extract the data from the stream.</a:t>
            </a:r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algn="just"/>
            <a:r>
              <a:rPr lang="en-US" sz="2400">
                <a:latin typeface="Constantia"/>
                <a:cs typeface="Arial"/>
              </a:rPr>
              <a:t>Below are the methods used for extracting data:</a:t>
            </a:r>
            <a:endParaRPr lang="en-US" sz="2400" dirty="0">
              <a:latin typeface="Constantia"/>
              <a:cs typeface="Arial"/>
            </a:endParaRPr>
          </a:p>
          <a:p>
            <a:pPr algn="just"/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nextBoolean() = Used for reading </a:t>
            </a:r>
            <a:r>
              <a:rPr lang="en-US" sz="2400" b="1" i="1">
                <a:latin typeface="Constantia"/>
                <a:cs typeface="Arial"/>
              </a:rPr>
              <a:t>boolean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value.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nextByte() = Used for reading </a:t>
            </a:r>
            <a:r>
              <a:rPr lang="en-US" sz="2400" b="1" i="1">
                <a:latin typeface="Constantia"/>
                <a:cs typeface="Arial"/>
              </a:rPr>
              <a:t>byte</a:t>
            </a:r>
            <a:r>
              <a:rPr lang="en-US" sz="2400">
                <a:latin typeface="Constantia"/>
                <a:cs typeface="Arial"/>
              </a:rPr>
              <a:t> value.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nextDouble() = Used for reading </a:t>
            </a:r>
            <a:r>
              <a:rPr lang="en-US" sz="2400" b="1" i="1">
                <a:latin typeface="Constantia"/>
                <a:cs typeface="Arial"/>
              </a:rPr>
              <a:t>double</a:t>
            </a:r>
            <a:r>
              <a:rPr lang="en-US" sz="2400">
                <a:latin typeface="Constantia"/>
                <a:cs typeface="Arial"/>
              </a:rPr>
              <a:t> value.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nextFloat() = Used for reading </a:t>
            </a:r>
            <a:r>
              <a:rPr lang="en-US" sz="2400" b="1" i="1">
                <a:latin typeface="Constantia"/>
                <a:cs typeface="Arial"/>
              </a:rPr>
              <a:t>float</a:t>
            </a:r>
            <a:r>
              <a:rPr lang="en-US" sz="2400">
                <a:latin typeface="Constantia"/>
                <a:cs typeface="Arial"/>
              </a:rPr>
              <a:t> value.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nextInt() = Used for reading </a:t>
            </a:r>
            <a:r>
              <a:rPr lang="en-US" sz="2400" b="1" i="1">
                <a:latin typeface="Constantia"/>
                <a:cs typeface="Arial"/>
              </a:rPr>
              <a:t>int</a:t>
            </a:r>
            <a:r>
              <a:rPr lang="en-US" sz="2400">
                <a:latin typeface="Constantia"/>
                <a:cs typeface="Arial"/>
              </a:rPr>
              <a:t> value.</a:t>
            </a:r>
            <a:endParaRPr lang="en-US" sz="2400" dirty="0">
              <a:latin typeface="Constantia"/>
              <a:cs typeface="Arial"/>
            </a:endParaRP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nextLine() = Used for reading </a:t>
            </a:r>
            <a:r>
              <a:rPr lang="en-US" sz="2400" b="1" i="1">
                <a:latin typeface="Constantia"/>
                <a:cs typeface="Arial"/>
              </a:rPr>
              <a:t>String</a:t>
            </a:r>
            <a:r>
              <a:rPr lang="en-US" sz="2400">
                <a:latin typeface="Constantia"/>
                <a:cs typeface="Arial"/>
              </a:rPr>
              <a:t> value.</a:t>
            </a:r>
          </a:p>
          <a:p>
            <a:pPr marL="342900" indent="-342900" algn="just">
              <a:buFont typeface="Arial,Sans-Serif"/>
              <a:buChar char="•"/>
            </a:pPr>
            <a:r>
              <a:rPr lang="en-US" sz="2400">
                <a:latin typeface="Constantia"/>
                <a:cs typeface="Arial"/>
              </a:rPr>
              <a:t>nextShort() = Used for reading </a:t>
            </a:r>
            <a:r>
              <a:rPr lang="en-US" sz="2400" b="1" i="1">
                <a:latin typeface="Constantia"/>
                <a:cs typeface="Arial"/>
              </a:rPr>
              <a:t>short</a:t>
            </a:r>
            <a:r>
              <a:rPr lang="en-US" sz="2400">
                <a:latin typeface="Constantia"/>
                <a:cs typeface="Arial"/>
              </a:rPr>
              <a:t> value.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83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1082040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Decision Making in programming is similar to decision making in real life.</a:t>
            </a:r>
          </a:p>
          <a:p>
            <a:pPr marL="457200" indent="-4572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A Programmer has to use control statements to control the flow of execution of a program based on certain conditions.</a:t>
            </a: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endParaRPr lang="en-US" sz="2400" dirty="0">
              <a:latin typeface="Constantia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Java's Control Statements are</a:t>
            </a:r>
          </a:p>
          <a:p>
            <a:pPr marL="914400" lvl="1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If statement</a:t>
            </a:r>
            <a:endParaRPr lang="en-US"/>
          </a:p>
          <a:p>
            <a:pPr marL="914400" lvl="1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If-else statement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Nested-if statement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If-else-if statement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AutoNum type="arabicPeriod"/>
            </a:pPr>
            <a:r>
              <a:rPr lang="en-US" sz="2400">
                <a:latin typeface="Constantia"/>
                <a:cs typeface="Arial"/>
              </a:rPr>
              <a:t>Switch-case statement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AutoNum type="arabicPeriod"/>
            </a:pPr>
            <a:endParaRPr lang="en-US" sz="2400" dirty="0">
              <a:latin typeface="Constant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2443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769745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just"/>
            <a:r>
              <a:rPr lang="en-US" sz="2800" b="1">
                <a:latin typeface="Constantia"/>
                <a:cs typeface="Arial"/>
              </a:rPr>
              <a:t>If Statement</a:t>
            </a: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The if statement is the most simple decision-making statement.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will decide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whether a certain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statement or block of statements will be executed or not.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If a certain condition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is true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then a block of statements is executed otherwise not.</a:t>
            </a:r>
          </a:p>
          <a:p>
            <a:pPr lvl="1" algn="just"/>
            <a:endParaRPr lang="en-US" sz="2400" dirty="0">
              <a:latin typeface="Constantia"/>
              <a:cs typeface="Arial"/>
            </a:endParaRPr>
          </a:p>
          <a:p>
            <a:pPr lvl="1" algn="just">
              <a:buFont typeface="Arial"/>
            </a:pPr>
            <a:r>
              <a:rPr lang="en-US" sz="2400" b="1">
                <a:latin typeface="Constantia"/>
                <a:cs typeface="Arial"/>
              </a:rPr>
              <a:t>Syntax:</a:t>
            </a:r>
            <a:endParaRPr lang="en-US" sz="2400" b="1" dirty="0">
              <a:latin typeface="Constantia"/>
              <a:cs typeface="Arial"/>
            </a:endParaRPr>
          </a:p>
        </p:txBody>
      </p:sp>
      <p:pic>
        <p:nvPicPr>
          <p:cNvPr id="3" name="Picture 2" descr="A diagram of a test expression&#10;&#10;Description automatically generated">
            <a:extLst>
              <a:ext uri="{FF2B5EF4-FFF2-40B4-BE49-F238E27FC236}">
                <a16:creationId xmlns:a16="http://schemas.microsoft.com/office/drawing/2014/main" id="{1DBAFF23-D18C-23D9-E529-3E888919E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553" y="1343260"/>
            <a:ext cx="3257550" cy="4808563"/>
          </a:xfrm>
          <a:prstGeom prst="rect">
            <a:avLst/>
          </a:prstGeom>
        </p:spPr>
      </p:pic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CF50F3D-1CE5-C7A8-F51A-163698AAF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137" y="4132757"/>
            <a:ext cx="4239093" cy="238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3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769745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just"/>
            <a:r>
              <a:rPr lang="en-US" sz="2800" b="1">
                <a:latin typeface="Constantia"/>
                <a:cs typeface="Arial"/>
              </a:rPr>
              <a:t>If-else Statement</a:t>
            </a: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will decide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whether a certain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statement or block of statements will be executed or not.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If a certain condition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is true</a:t>
            </a:r>
            <a:r>
              <a:rPr lang="en-US" sz="2400" dirty="0">
                <a:latin typeface="Constantia"/>
                <a:cs typeface="Arial"/>
              </a:rPr>
              <a:t> </a:t>
            </a:r>
            <a:r>
              <a:rPr lang="en-US" sz="2400">
                <a:latin typeface="Constantia"/>
                <a:cs typeface="Arial"/>
              </a:rPr>
              <a:t>then if block  statements are executed.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If a certain condition is false, then else block statements are executed.</a:t>
            </a:r>
            <a:r>
              <a:rPr lang="en-US" sz="2400" dirty="0">
                <a:latin typeface="Constantia"/>
                <a:cs typeface="Arial"/>
              </a:rPr>
              <a:t> </a:t>
            </a:r>
          </a:p>
          <a:p>
            <a:pPr lvl="1" algn="just"/>
            <a:endParaRPr lang="en-US" sz="2400" dirty="0">
              <a:latin typeface="Constantia"/>
              <a:cs typeface="Arial"/>
            </a:endParaRPr>
          </a:p>
          <a:p>
            <a:pPr lvl="1" algn="just">
              <a:buFont typeface="Arial"/>
            </a:pPr>
            <a:r>
              <a:rPr lang="en-US" sz="2400" b="1">
                <a:latin typeface="Constantia"/>
                <a:cs typeface="Arial"/>
              </a:rPr>
              <a:t>Syntax:</a:t>
            </a:r>
            <a:endParaRPr lang="en-US" sz="2400" b="1" dirty="0">
              <a:latin typeface="Constantia"/>
              <a:cs typeface="Arial"/>
            </a:endParaRPr>
          </a:p>
        </p:txBody>
      </p:sp>
      <p:pic>
        <p:nvPicPr>
          <p:cNvPr id="5" name="Picture 4" descr="A diagram of a test expression&#10;&#10;Description automatically generated">
            <a:extLst>
              <a:ext uri="{FF2B5EF4-FFF2-40B4-BE49-F238E27FC236}">
                <a16:creationId xmlns:a16="http://schemas.microsoft.com/office/drawing/2014/main" id="{40E1EC26-CB6A-A139-CC15-3CF29C92D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595" y="1123794"/>
            <a:ext cx="3600450" cy="5110085"/>
          </a:xfrm>
          <a:prstGeom prst="rect">
            <a:avLst/>
          </a:prstGeom>
        </p:spPr>
      </p:pic>
      <p:pic>
        <p:nvPicPr>
          <p:cNvPr id="7" name="Picture 6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5611AF40-39A7-2FBB-48B0-FA6F384D8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81" y="3781737"/>
            <a:ext cx="4667874" cy="275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11107713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just"/>
            <a:r>
              <a:rPr lang="en-US" sz="2800" b="1">
                <a:latin typeface="Constantia"/>
                <a:cs typeface="Arial"/>
              </a:rPr>
              <a:t>Nested-if Statement</a:t>
            </a: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Nested if statements mean an if statement inside another if statement.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Java allows to nest the statements within if statements.</a:t>
            </a:r>
            <a:endParaRPr lang="en-US" sz="2400" dirty="0">
              <a:latin typeface="Constantia"/>
              <a:cs typeface="Arial"/>
            </a:endParaRPr>
          </a:p>
          <a:p>
            <a:pPr lvl="1" algn="just"/>
            <a:endParaRPr lang="en-US" sz="2400" dirty="0">
              <a:latin typeface="Constantia"/>
              <a:cs typeface="Arial"/>
            </a:endParaRPr>
          </a:p>
          <a:p>
            <a:pPr lvl="1" algn="just">
              <a:buFont typeface="Arial"/>
            </a:pPr>
            <a:r>
              <a:rPr lang="en-US" sz="2400" b="1">
                <a:latin typeface="Constantia"/>
                <a:cs typeface="Arial"/>
              </a:rPr>
              <a:t>Syntax:</a:t>
            </a:r>
            <a:endParaRPr lang="en-US" sz="2400" b="1" dirty="0">
              <a:latin typeface="Constantia"/>
              <a:cs typeface="Arial"/>
            </a:endParaRP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8371CEA4-F915-0140-F1D4-813545E28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76" y="3165892"/>
            <a:ext cx="5372100" cy="3524250"/>
          </a:xfrm>
          <a:prstGeom prst="rect">
            <a:avLst/>
          </a:prstGeom>
        </p:spPr>
      </p:pic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BED190E-5079-8CA9-9A16-AB23CC994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95" y="3119906"/>
            <a:ext cx="5438775" cy="317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96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11107713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just"/>
            <a:r>
              <a:rPr lang="en-US" sz="2800" b="1">
                <a:latin typeface="Constantia"/>
                <a:cs typeface="Arial"/>
              </a:rPr>
              <a:t>If-else-if Ladder</a:t>
            </a:r>
            <a:endParaRPr lang="en-US" sz="2800" b="1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Here, a user can decide among multiple options.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As soon as one if condition is true, rest of the ladder will be bypassed.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If none if conditions are true then else block will be get executed.</a:t>
            </a:r>
            <a:endParaRPr lang="en-US" sz="2400" dirty="0">
              <a:latin typeface="Constantia"/>
              <a:cs typeface="Arial"/>
            </a:endParaRPr>
          </a:p>
          <a:p>
            <a:pPr lvl="1" algn="just"/>
            <a:endParaRPr lang="en-US" sz="2400" dirty="0">
              <a:latin typeface="Constantia"/>
              <a:cs typeface="Arial"/>
            </a:endParaRPr>
          </a:p>
          <a:p>
            <a:pPr lvl="1" algn="just">
              <a:buFont typeface="Arial"/>
            </a:pPr>
            <a:r>
              <a:rPr lang="en-US" sz="2400" b="1">
                <a:latin typeface="Constantia"/>
                <a:cs typeface="Arial"/>
              </a:rPr>
              <a:t>Syntax:</a:t>
            </a:r>
            <a:endParaRPr lang="en-US" sz="2400" b="1" dirty="0">
              <a:latin typeface="Constantia"/>
              <a:cs typeface="Arial"/>
            </a:endParaRPr>
          </a:p>
        </p:txBody>
      </p:sp>
      <p:pic>
        <p:nvPicPr>
          <p:cNvPr id="5" name="Picture 4" descr="A diagram of a test expression&#10;&#10;Description automatically generated">
            <a:extLst>
              <a:ext uri="{FF2B5EF4-FFF2-40B4-BE49-F238E27FC236}">
                <a16:creationId xmlns:a16="http://schemas.microsoft.com/office/drawing/2014/main" id="{A62E556B-095D-C7E2-D295-B8108D8E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46" y="2805503"/>
            <a:ext cx="4260797" cy="3820305"/>
          </a:xfrm>
          <a:prstGeom prst="rect">
            <a:avLst/>
          </a:prstGeom>
        </p:spPr>
      </p:pic>
      <p:pic>
        <p:nvPicPr>
          <p:cNvPr id="7" name="Picture 6" descr="A computer code with black text&#10;&#10;Description automatically generated">
            <a:extLst>
              <a:ext uri="{FF2B5EF4-FFF2-40B4-BE49-F238E27FC236}">
                <a16:creationId xmlns:a16="http://schemas.microsoft.com/office/drawing/2014/main" id="{2DC949CF-0319-D249-E9A3-1057B7DC0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22" y="3433997"/>
            <a:ext cx="5937978" cy="286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58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>
                <a:latin typeface="Constantia"/>
                <a:cs typeface="Arial"/>
              </a:rPr>
              <a:t>Control Statements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00B9-06E1-402A-1A50-C310899C4564}"/>
              </a:ext>
            </a:extLst>
          </p:cNvPr>
          <p:cNvSpPr txBox="1"/>
          <p:nvPr/>
        </p:nvSpPr>
        <p:spPr>
          <a:xfrm>
            <a:off x="687049" y="1125962"/>
            <a:ext cx="1110771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just"/>
            <a:r>
              <a:rPr lang="en-US" sz="2800" b="1">
                <a:latin typeface="Constantia"/>
                <a:cs typeface="Arial"/>
              </a:rPr>
              <a:t>Switch Case</a:t>
            </a:r>
            <a:endParaRPr lang="en-US" sz="2800" b="1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Switch case is an multiway branch statement.</a:t>
            </a:r>
            <a:endParaRPr lang="en-US" sz="2400" dirty="0">
              <a:latin typeface="Constantia"/>
              <a:cs typeface="Arial"/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2400">
                <a:latin typeface="Constantia"/>
                <a:cs typeface="Arial"/>
              </a:rPr>
              <a:t>It provides easy way to dispatch the execution to different parts of the code based on the value of the expression.</a:t>
            </a:r>
            <a:endParaRPr lang="en-US" sz="2400" dirty="0">
              <a:latin typeface="Constantia"/>
              <a:cs typeface="Arial"/>
            </a:endParaRPr>
          </a:p>
        </p:txBody>
      </p:sp>
      <p:pic>
        <p:nvPicPr>
          <p:cNvPr id="3" name="Picture 2" descr="A computer code with text&#10;&#10;Description automatically generated">
            <a:extLst>
              <a:ext uri="{FF2B5EF4-FFF2-40B4-BE49-F238E27FC236}">
                <a16:creationId xmlns:a16="http://schemas.microsoft.com/office/drawing/2014/main" id="{37CB3EA8-A2BB-79E9-2688-63676D0A1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653" y="2727646"/>
            <a:ext cx="7456669" cy="375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2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Constantia"/>
                <a:cs typeface="Arial"/>
              </a:rPr>
              <a:t>Thank You</a:t>
            </a:r>
            <a:endParaRPr lang="en-US" sz="4800">
              <a:latin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367661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CS Template 2012 (Arial)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Brown 100%">
      <a:srgbClr val="974807"/>
    </a:custClr>
    <a:custClr name="TCS Brown 70%">
      <a:srgbClr val="C07F51"/>
    </a:custClr>
    <a:custClr name="TCS Brown 50%">
      <a:srgbClr val="D5A380"/>
    </a:custClr>
    <a:custClr name="TCS Brown 30%">
      <a:srgbClr val="E6C8B3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office theme</vt:lpstr>
      <vt:lpstr>TCS Template 2012 (Arial)</vt:lpstr>
      <vt:lpstr>Java Basics</vt:lpstr>
      <vt:lpstr>AGENDA</vt:lpstr>
      <vt:lpstr>Introduction to Java</vt:lpstr>
      <vt:lpstr>Introduction to Java</vt:lpstr>
      <vt:lpstr>Introduction to Java</vt:lpstr>
      <vt:lpstr>JDK, JRE and JVM</vt:lpstr>
      <vt:lpstr>JDK, JRE and JVM</vt:lpstr>
      <vt:lpstr>JDK, JRE and JVM</vt:lpstr>
      <vt:lpstr>Byte Code V/S Machine Code</vt:lpstr>
      <vt:lpstr>Java Basic Syntax</vt:lpstr>
      <vt:lpstr>Java Basic Syntax</vt:lpstr>
      <vt:lpstr>Java Basic Syntax</vt:lpstr>
      <vt:lpstr>Java Basic Syntax</vt:lpstr>
      <vt:lpstr>Java Basic Syntax</vt:lpstr>
      <vt:lpstr>Java Basic Syntax</vt:lpstr>
      <vt:lpstr>Hello World Program</vt:lpstr>
      <vt:lpstr>Data Types</vt:lpstr>
      <vt:lpstr>Primitive Data Types</vt:lpstr>
      <vt:lpstr>Non-Primitive Data Types</vt:lpstr>
      <vt:lpstr>Variables</vt:lpstr>
      <vt:lpstr>Variables</vt:lpstr>
      <vt:lpstr>Variables</vt:lpstr>
      <vt:lpstr>Java Operators</vt:lpstr>
      <vt:lpstr>Access Modifiers</vt:lpstr>
      <vt:lpstr>Non - Access Modifiers</vt:lpstr>
      <vt:lpstr>Scanner Class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1111</cp:revision>
  <dcterms:created xsi:type="dcterms:W3CDTF">2024-09-03T16:37:04Z</dcterms:created>
  <dcterms:modified xsi:type="dcterms:W3CDTF">2026-06-20T18:04:19Z</dcterms:modified>
</cp:coreProperties>
</file>