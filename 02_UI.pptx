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 id="2147483648" r:id="rId2"/>
    <p:sldMasterId id="2147483660" r:id="rId3"/>
  </p:sldMasterIdLst>
  <p:notesMasterIdLst>
    <p:notesMasterId r:id="rId58"/>
  </p:notesMasterIdLst>
  <p:sldIdLst>
    <p:sldId id="257" r:id="rId4"/>
    <p:sldId id="258" r:id="rId5"/>
    <p:sldId id="277" r:id="rId6"/>
    <p:sldId id="259" r:id="rId7"/>
    <p:sldId id="260" r:id="rId8"/>
    <p:sldId id="261" r:id="rId9"/>
    <p:sldId id="279"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8"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301" r:id="rId42"/>
    <p:sldId id="296" r:id="rId43"/>
    <p:sldId id="297" r:id="rId44"/>
    <p:sldId id="303" r:id="rId45"/>
    <p:sldId id="304" r:id="rId46"/>
    <p:sldId id="305" r:id="rId47"/>
    <p:sldId id="295" r:id="rId48"/>
    <p:sldId id="306" r:id="rId49"/>
    <p:sldId id="307" r:id="rId50"/>
    <p:sldId id="308" r:id="rId51"/>
    <p:sldId id="309" r:id="rId52"/>
    <p:sldId id="310" r:id="rId53"/>
    <p:sldId id="311" r:id="rId54"/>
    <p:sldId id="312" r:id="rId55"/>
    <p:sldId id="313" r:id="rId56"/>
    <p:sldId id="29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2F9CF-0075-BAE1-2B74-244975019A91}" v="2" dt="2026-05-05T16:09:00.9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ine Vijila" userId="S::2963651@tcs.com::e27e6981-0420-4ecb-b76a-21c0d7701947" providerId="AD" clId="Web-{0C62F9CF-0075-BAE1-2B74-244975019A91}"/>
    <pc:docChg chg="modSld">
      <pc:chgData name="Josephine Vijila" userId="S::2963651@tcs.com::e27e6981-0420-4ecb-b76a-21c0d7701947" providerId="AD" clId="Web-{0C62F9CF-0075-BAE1-2B74-244975019A91}" dt="2026-05-05T16:09:00.904" v="1"/>
      <pc:docMkLst>
        <pc:docMk/>
      </pc:docMkLst>
      <pc:sldChg chg="modSp">
        <pc:chgData name="Josephine Vijila" userId="S::2963651@tcs.com::e27e6981-0420-4ecb-b76a-21c0d7701947" providerId="AD" clId="Web-{0C62F9CF-0075-BAE1-2B74-244975019A91}" dt="2026-05-05T16:09:00.904" v="1"/>
        <pc:sldMkLst>
          <pc:docMk/>
          <pc:sldMk cId="1543898180" sldId="267"/>
        </pc:sldMkLst>
        <pc:graphicFrameChg chg="mod modGraphic">
          <ac:chgData name="Josephine Vijila" userId="S::2963651@tcs.com::e27e6981-0420-4ecb-b76a-21c0d7701947" providerId="AD" clId="Web-{0C62F9CF-0075-BAE1-2B74-244975019A91}" dt="2026-05-05T16:09:00.904" v="1"/>
          <ac:graphicFrameMkLst>
            <pc:docMk/>
            <pc:sldMk cId="1543898180" sldId="267"/>
            <ac:graphicFrameMk id="4" creationId="{F4D2B262-90DF-FB87-E868-07739C17F75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07493-B756-4D9A-AFAC-85B46A192EF2}" type="datetimeFigureOut">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5013A0-3891-480A-953E-8422E1184F51}" type="slidenum">
              <a:t>‹#›</a:t>
            </a:fld>
            <a:endParaRPr lang="en-US"/>
          </a:p>
        </p:txBody>
      </p:sp>
    </p:spTree>
    <p:extLst>
      <p:ext uri="{BB962C8B-B14F-4D97-AF65-F5344CB8AC3E}">
        <p14:creationId xmlns:p14="http://schemas.microsoft.com/office/powerpoint/2010/main" val="2443613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37">
            <a:extLst>
              <a:ext uri="{FF2B5EF4-FFF2-40B4-BE49-F238E27FC236}">
                <a16:creationId xmlns:a16="http://schemas.microsoft.com/office/drawing/2014/main" id="{91E23410-BE2B-480E-913D-AA36547C901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2325970A-8727-412A-B261-032A267BBDA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3315" name="Text Box 1">
            <a:extLst>
              <a:ext uri="{FF2B5EF4-FFF2-40B4-BE49-F238E27FC236}">
                <a16:creationId xmlns:a16="http://schemas.microsoft.com/office/drawing/2014/main" id="{0F65B4FA-C234-BA13-8827-1BFD28EC24FE}"/>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4D9F1A63-7537-4981-81B5-E2F88DCC4F96}" type="slidenum">
              <a:rPr lang="en-US" altLang="en-US" sz="1200">
                <a:solidFill>
                  <a:srgbClr val="000000"/>
                </a:solidFill>
                <a:latin typeface="Times New Roman" panose="02020603050405020304" pitchFamily="18" charset="0"/>
              </a:rPr>
              <a:pPr algn="r" eaLnBrk="1" hangingPunct="1">
                <a:buClrTx/>
                <a:buSzPct val="45000"/>
                <a:buFontTx/>
                <a:buNone/>
              </a:pPr>
              <a:t>1</a:t>
            </a:fld>
            <a:endParaRPr lang="en-US" altLang="en-US" sz="1200">
              <a:solidFill>
                <a:srgbClr val="000000"/>
              </a:solidFill>
              <a:latin typeface="Times New Roman" panose="02020603050405020304" pitchFamily="18" charset="0"/>
            </a:endParaRPr>
          </a:p>
        </p:txBody>
      </p:sp>
      <p:sp>
        <p:nvSpPr>
          <p:cNvPr id="13316" name="Rectangle 2">
            <a:extLst>
              <a:ext uri="{FF2B5EF4-FFF2-40B4-BE49-F238E27FC236}">
                <a16:creationId xmlns:a16="http://schemas.microsoft.com/office/drawing/2014/main" id="{E3781B7C-4DD2-1E42-2381-42AFFC830BED}"/>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7" name="Rectangle 3">
            <a:extLst>
              <a:ext uri="{FF2B5EF4-FFF2-40B4-BE49-F238E27FC236}">
                <a16:creationId xmlns:a16="http://schemas.microsoft.com/office/drawing/2014/main" id="{149D4FF8-DB73-1C68-ED83-947AAF432305}"/>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a:t>
            </a:fld>
            <a:endParaRPr lang="en-US" altLang="en-US" sz="1200">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a:t>
            </a:fld>
            <a:endParaRPr lang="en-US" altLang="en-US" sz="1200">
              <a:solidFill>
                <a:srgbClr val="000000"/>
              </a:solidFill>
            </a:endParaRPr>
          </a:p>
        </p:txBody>
      </p:sp>
    </p:spTree>
    <p:extLst>
      <p:ext uri="{BB962C8B-B14F-4D97-AF65-F5344CB8AC3E}">
        <p14:creationId xmlns:p14="http://schemas.microsoft.com/office/powerpoint/2010/main" val="137382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a:t>
            </a:fld>
            <a:endParaRPr lang="en-US" altLang="en-US" sz="1200">
              <a:solidFill>
                <a:srgbClr val="000000"/>
              </a:solidFill>
            </a:endParaRPr>
          </a:p>
        </p:txBody>
      </p:sp>
    </p:spTree>
    <p:extLst>
      <p:ext uri="{BB962C8B-B14F-4D97-AF65-F5344CB8AC3E}">
        <p14:creationId xmlns:p14="http://schemas.microsoft.com/office/powerpoint/2010/main" val="1830034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5</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5</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5</a:t>
            </a:fld>
            <a:endParaRPr lang="en-US" altLang="en-US" sz="1200">
              <a:solidFill>
                <a:srgbClr val="000000"/>
              </a:solidFill>
            </a:endParaRPr>
          </a:p>
        </p:txBody>
      </p:sp>
    </p:spTree>
    <p:extLst>
      <p:ext uri="{BB962C8B-B14F-4D97-AF65-F5344CB8AC3E}">
        <p14:creationId xmlns:p14="http://schemas.microsoft.com/office/powerpoint/2010/main" val="2969239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6</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6</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6</a:t>
            </a:fld>
            <a:endParaRPr lang="en-US" altLang="en-US" sz="1200">
              <a:solidFill>
                <a:srgbClr val="000000"/>
              </a:solidFill>
            </a:endParaRPr>
          </a:p>
        </p:txBody>
      </p:sp>
    </p:spTree>
    <p:extLst>
      <p:ext uri="{BB962C8B-B14F-4D97-AF65-F5344CB8AC3E}">
        <p14:creationId xmlns:p14="http://schemas.microsoft.com/office/powerpoint/2010/main" val="918875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7</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7</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7</a:t>
            </a:fld>
            <a:endParaRPr lang="en-US" altLang="en-US" sz="1200">
              <a:solidFill>
                <a:srgbClr val="000000"/>
              </a:solidFill>
            </a:endParaRPr>
          </a:p>
        </p:txBody>
      </p:sp>
    </p:spTree>
    <p:extLst>
      <p:ext uri="{BB962C8B-B14F-4D97-AF65-F5344CB8AC3E}">
        <p14:creationId xmlns:p14="http://schemas.microsoft.com/office/powerpoint/2010/main" val="1864636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8</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8</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8</a:t>
            </a:fld>
            <a:endParaRPr lang="en-US" altLang="en-US" sz="1200">
              <a:solidFill>
                <a:srgbClr val="000000"/>
              </a:solidFill>
            </a:endParaRPr>
          </a:p>
        </p:txBody>
      </p:sp>
    </p:spTree>
    <p:extLst>
      <p:ext uri="{BB962C8B-B14F-4D97-AF65-F5344CB8AC3E}">
        <p14:creationId xmlns:p14="http://schemas.microsoft.com/office/powerpoint/2010/main" val="1136909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9</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9</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9</a:t>
            </a:fld>
            <a:endParaRPr lang="en-US" altLang="en-US" sz="1200">
              <a:solidFill>
                <a:srgbClr val="000000"/>
              </a:solidFill>
            </a:endParaRPr>
          </a:p>
        </p:txBody>
      </p:sp>
    </p:spTree>
    <p:extLst>
      <p:ext uri="{BB962C8B-B14F-4D97-AF65-F5344CB8AC3E}">
        <p14:creationId xmlns:p14="http://schemas.microsoft.com/office/powerpoint/2010/main" val="1970318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10</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10</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10</a:t>
            </a:fld>
            <a:endParaRPr lang="en-US" altLang="en-US" sz="1200">
              <a:solidFill>
                <a:srgbClr val="000000"/>
              </a:solidFill>
            </a:endParaRPr>
          </a:p>
        </p:txBody>
      </p:sp>
    </p:spTree>
    <p:extLst>
      <p:ext uri="{BB962C8B-B14F-4D97-AF65-F5344CB8AC3E}">
        <p14:creationId xmlns:p14="http://schemas.microsoft.com/office/powerpoint/2010/main" val="2106882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11</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11</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11</a:t>
            </a:fld>
            <a:endParaRPr lang="en-US" altLang="en-US" sz="1200">
              <a:solidFill>
                <a:srgbClr val="000000"/>
              </a:solidFill>
            </a:endParaRPr>
          </a:p>
        </p:txBody>
      </p:sp>
    </p:spTree>
    <p:extLst>
      <p:ext uri="{BB962C8B-B14F-4D97-AF65-F5344CB8AC3E}">
        <p14:creationId xmlns:p14="http://schemas.microsoft.com/office/powerpoint/2010/main" val="4147269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12</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12</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12</a:t>
            </a:fld>
            <a:endParaRPr lang="en-US" altLang="en-US" sz="1200">
              <a:solidFill>
                <a:srgbClr val="000000"/>
              </a:solidFill>
            </a:endParaRPr>
          </a:p>
        </p:txBody>
      </p:sp>
    </p:spTree>
    <p:extLst>
      <p:ext uri="{BB962C8B-B14F-4D97-AF65-F5344CB8AC3E}">
        <p14:creationId xmlns:p14="http://schemas.microsoft.com/office/powerpoint/2010/main" val="3709199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13</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13</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13</a:t>
            </a:fld>
            <a:endParaRPr lang="en-US" altLang="en-US" sz="1200">
              <a:solidFill>
                <a:srgbClr val="000000"/>
              </a:solidFill>
            </a:endParaRPr>
          </a:p>
        </p:txBody>
      </p:sp>
    </p:spTree>
    <p:extLst>
      <p:ext uri="{BB962C8B-B14F-4D97-AF65-F5344CB8AC3E}">
        <p14:creationId xmlns:p14="http://schemas.microsoft.com/office/powerpoint/2010/main" val="1291153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14</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14</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14</a:t>
            </a:fld>
            <a:endParaRPr lang="en-US" altLang="en-US" sz="1200">
              <a:solidFill>
                <a:srgbClr val="000000"/>
              </a:solidFill>
            </a:endParaRPr>
          </a:p>
        </p:txBody>
      </p:sp>
    </p:spTree>
    <p:extLst>
      <p:ext uri="{BB962C8B-B14F-4D97-AF65-F5344CB8AC3E}">
        <p14:creationId xmlns:p14="http://schemas.microsoft.com/office/powerpoint/2010/main" val="290044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15</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15</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15</a:t>
            </a:fld>
            <a:endParaRPr lang="en-US" altLang="en-US" sz="1200">
              <a:solidFill>
                <a:srgbClr val="000000"/>
              </a:solidFill>
            </a:endParaRPr>
          </a:p>
        </p:txBody>
      </p:sp>
    </p:spTree>
    <p:extLst>
      <p:ext uri="{BB962C8B-B14F-4D97-AF65-F5344CB8AC3E}">
        <p14:creationId xmlns:p14="http://schemas.microsoft.com/office/powerpoint/2010/main" val="260293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16</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16</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16</a:t>
            </a:fld>
            <a:endParaRPr lang="en-US" altLang="en-US" sz="1200">
              <a:solidFill>
                <a:srgbClr val="000000"/>
              </a:solidFill>
            </a:endParaRPr>
          </a:p>
        </p:txBody>
      </p:sp>
    </p:spTree>
    <p:extLst>
      <p:ext uri="{BB962C8B-B14F-4D97-AF65-F5344CB8AC3E}">
        <p14:creationId xmlns:p14="http://schemas.microsoft.com/office/powerpoint/2010/main" val="3036922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17</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17</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17</a:t>
            </a:fld>
            <a:endParaRPr lang="en-US" altLang="en-US" sz="1200">
              <a:solidFill>
                <a:srgbClr val="000000"/>
              </a:solidFill>
            </a:endParaRPr>
          </a:p>
        </p:txBody>
      </p:sp>
    </p:spTree>
    <p:extLst>
      <p:ext uri="{BB962C8B-B14F-4D97-AF65-F5344CB8AC3E}">
        <p14:creationId xmlns:p14="http://schemas.microsoft.com/office/powerpoint/2010/main" val="2592329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18</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18</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18</a:t>
            </a:fld>
            <a:endParaRPr lang="en-US" altLang="en-US" sz="1200">
              <a:solidFill>
                <a:srgbClr val="000000"/>
              </a:solidFill>
            </a:endParaRPr>
          </a:p>
        </p:txBody>
      </p:sp>
    </p:spTree>
    <p:extLst>
      <p:ext uri="{BB962C8B-B14F-4D97-AF65-F5344CB8AC3E}">
        <p14:creationId xmlns:p14="http://schemas.microsoft.com/office/powerpoint/2010/main" val="3914296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19</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19</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19</a:t>
            </a:fld>
            <a:endParaRPr lang="en-US" altLang="en-US" sz="1200">
              <a:solidFill>
                <a:srgbClr val="000000"/>
              </a:solidFill>
            </a:endParaRPr>
          </a:p>
        </p:txBody>
      </p:sp>
    </p:spTree>
    <p:extLst>
      <p:ext uri="{BB962C8B-B14F-4D97-AF65-F5344CB8AC3E}">
        <p14:creationId xmlns:p14="http://schemas.microsoft.com/office/powerpoint/2010/main" val="2630002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20</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20</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20</a:t>
            </a:fld>
            <a:endParaRPr lang="en-US" altLang="en-US" sz="1200">
              <a:solidFill>
                <a:srgbClr val="000000"/>
              </a:solidFill>
            </a:endParaRPr>
          </a:p>
        </p:txBody>
      </p:sp>
    </p:spTree>
    <p:extLst>
      <p:ext uri="{BB962C8B-B14F-4D97-AF65-F5344CB8AC3E}">
        <p14:creationId xmlns:p14="http://schemas.microsoft.com/office/powerpoint/2010/main" val="286319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21</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21</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21</a:t>
            </a:fld>
            <a:endParaRPr lang="en-US" altLang="en-US" sz="1200">
              <a:solidFill>
                <a:srgbClr val="000000"/>
              </a:solidFill>
            </a:endParaRPr>
          </a:p>
        </p:txBody>
      </p:sp>
    </p:spTree>
    <p:extLst>
      <p:ext uri="{BB962C8B-B14F-4D97-AF65-F5344CB8AC3E}">
        <p14:creationId xmlns:p14="http://schemas.microsoft.com/office/powerpoint/2010/main" val="38264970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22</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22</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22</a:t>
            </a:fld>
            <a:endParaRPr lang="en-US" altLang="en-US" sz="1200">
              <a:solidFill>
                <a:srgbClr val="000000"/>
              </a:solidFill>
            </a:endParaRPr>
          </a:p>
        </p:txBody>
      </p:sp>
    </p:spTree>
    <p:extLst>
      <p:ext uri="{BB962C8B-B14F-4D97-AF65-F5344CB8AC3E}">
        <p14:creationId xmlns:p14="http://schemas.microsoft.com/office/powerpoint/2010/main" val="3093639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23</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23</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23</a:t>
            </a:fld>
            <a:endParaRPr lang="en-US" altLang="en-US" sz="1200">
              <a:solidFill>
                <a:srgbClr val="000000"/>
              </a:solidFill>
            </a:endParaRPr>
          </a:p>
        </p:txBody>
      </p:sp>
    </p:spTree>
    <p:extLst>
      <p:ext uri="{BB962C8B-B14F-4D97-AF65-F5344CB8AC3E}">
        <p14:creationId xmlns:p14="http://schemas.microsoft.com/office/powerpoint/2010/main" val="30188377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24</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24</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24</a:t>
            </a:fld>
            <a:endParaRPr lang="en-US" altLang="en-US" sz="1200">
              <a:solidFill>
                <a:srgbClr val="000000"/>
              </a:solidFill>
            </a:endParaRPr>
          </a:p>
        </p:txBody>
      </p:sp>
    </p:spTree>
    <p:extLst>
      <p:ext uri="{BB962C8B-B14F-4D97-AF65-F5344CB8AC3E}">
        <p14:creationId xmlns:p14="http://schemas.microsoft.com/office/powerpoint/2010/main" val="4088863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25</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25</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25</a:t>
            </a:fld>
            <a:endParaRPr lang="en-US" altLang="en-US" sz="1200">
              <a:solidFill>
                <a:srgbClr val="000000"/>
              </a:solidFill>
            </a:endParaRPr>
          </a:p>
        </p:txBody>
      </p:sp>
    </p:spTree>
    <p:extLst>
      <p:ext uri="{BB962C8B-B14F-4D97-AF65-F5344CB8AC3E}">
        <p14:creationId xmlns:p14="http://schemas.microsoft.com/office/powerpoint/2010/main" val="6509558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26</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26</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26</a:t>
            </a:fld>
            <a:endParaRPr lang="en-US" altLang="en-US" sz="1200">
              <a:solidFill>
                <a:srgbClr val="000000"/>
              </a:solidFill>
            </a:endParaRPr>
          </a:p>
        </p:txBody>
      </p:sp>
    </p:spTree>
    <p:extLst>
      <p:ext uri="{BB962C8B-B14F-4D97-AF65-F5344CB8AC3E}">
        <p14:creationId xmlns:p14="http://schemas.microsoft.com/office/powerpoint/2010/main" val="35636323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27</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27</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27</a:t>
            </a:fld>
            <a:endParaRPr lang="en-US" altLang="en-US" sz="1200">
              <a:solidFill>
                <a:srgbClr val="000000"/>
              </a:solidFill>
            </a:endParaRPr>
          </a:p>
        </p:txBody>
      </p:sp>
    </p:spTree>
    <p:extLst>
      <p:ext uri="{BB962C8B-B14F-4D97-AF65-F5344CB8AC3E}">
        <p14:creationId xmlns:p14="http://schemas.microsoft.com/office/powerpoint/2010/main" val="31707578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28</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28</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28</a:t>
            </a:fld>
            <a:endParaRPr lang="en-US" altLang="en-US" sz="1200">
              <a:solidFill>
                <a:srgbClr val="000000"/>
              </a:solidFill>
            </a:endParaRPr>
          </a:p>
        </p:txBody>
      </p:sp>
    </p:spTree>
    <p:extLst>
      <p:ext uri="{BB962C8B-B14F-4D97-AF65-F5344CB8AC3E}">
        <p14:creationId xmlns:p14="http://schemas.microsoft.com/office/powerpoint/2010/main" val="4418787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29</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29</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29</a:t>
            </a:fld>
            <a:endParaRPr lang="en-US" altLang="en-US" sz="1200">
              <a:solidFill>
                <a:srgbClr val="000000"/>
              </a:solidFill>
            </a:endParaRPr>
          </a:p>
        </p:txBody>
      </p:sp>
    </p:spTree>
    <p:extLst>
      <p:ext uri="{BB962C8B-B14F-4D97-AF65-F5344CB8AC3E}">
        <p14:creationId xmlns:p14="http://schemas.microsoft.com/office/powerpoint/2010/main" val="9619785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30</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30</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30</a:t>
            </a:fld>
            <a:endParaRPr lang="en-US" altLang="en-US" sz="1200">
              <a:solidFill>
                <a:srgbClr val="000000"/>
              </a:solidFill>
            </a:endParaRPr>
          </a:p>
        </p:txBody>
      </p:sp>
    </p:spTree>
    <p:extLst>
      <p:ext uri="{BB962C8B-B14F-4D97-AF65-F5344CB8AC3E}">
        <p14:creationId xmlns:p14="http://schemas.microsoft.com/office/powerpoint/2010/main" val="14012127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31</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31</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31</a:t>
            </a:fld>
            <a:endParaRPr lang="en-US" altLang="en-US" sz="1200">
              <a:solidFill>
                <a:srgbClr val="000000"/>
              </a:solidFill>
            </a:endParaRPr>
          </a:p>
        </p:txBody>
      </p:sp>
    </p:spTree>
    <p:extLst>
      <p:ext uri="{BB962C8B-B14F-4D97-AF65-F5344CB8AC3E}">
        <p14:creationId xmlns:p14="http://schemas.microsoft.com/office/powerpoint/2010/main" val="40822287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32</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32</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32</a:t>
            </a:fld>
            <a:endParaRPr lang="en-US" altLang="en-US" sz="1200">
              <a:solidFill>
                <a:srgbClr val="000000"/>
              </a:solidFill>
            </a:endParaRPr>
          </a:p>
        </p:txBody>
      </p:sp>
    </p:spTree>
    <p:extLst>
      <p:ext uri="{BB962C8B-B14F-4D97-AF65-F5344CB8AC3E}">
        <p14:creationId xmlns:p14="http://schemas.microsoft.com/office/powerpoint/2010/main" val="1984351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33</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33</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33</a:t>
            </a:fld>
            <a:endParaRPr lang="en-US" altLang="en-US" sz="1200">
              <a:solidFill>
                <a:srgbClr val="000000"/>
              </a:solidFill>
            </a:endParaRPr>
          </a:p>
        </p:txBody>
      </p:sp>
    </p:spTree>
    <p:extLst>
      <p:ext uri="{BB962C8B-B14F-4D97-AF65-F5344CB8AC3E}">
        <p14:creationId xmlns:p14="http://schemas.microsoft.com/office/powerpoint/2010/main" val="15843981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34</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34</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34</a:t>
            </a:fld>
            <a:endParaRPr lang="en-US" altLang="en-US" sz="1200">
              <a:solidFill>
                <a:srgbClr val="000000"/>
              </a:solidFill>
            </a:endParaRPr>
          </a:p>
        </p:txBody>
      </p:sp>
    </p:spTree>
    <p:extLst>
      <p:ext uri="{BB962C8B-B14F-4D97-AF65-F5344CB8AC3E}">
        <p14:creationId xmlns:p14="http://schemas.microsoft.com/office/powerpoint/2010/main" val="10983949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35</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35</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35</a:t>
            </a:fld>
            <a:endParaRPr lang="en-US" altLang="en-US" sz="1200">
              <a:solidFill>
                <a:srgbClr val="000000"/>
              </a:solidFill>
            </a:endParaRPr>
          </a:p>
        </p:txBody>
      </p:sp>
    </p:spTree>
    <p:extLst>
      <p:ext uri="{BB962C8B-B14F-4D97-AF65-F5344CB8AC3E}">
        <p14:creationId xmlns:p14="http://schemas.microsoft.com/office/powerpoint/2010/main" val="14570304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36</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36</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36</a:t>
            </a:fld>
            <a:endParaRPr lang="en-US" altLang="en-US" sz="1200">
              <a:solidFill>
                <a:srgbClr val="000000"/>
              </a:solidFill>
            </a:endParaRPr>
          </a:p>
        </p:txBody>
      </p:sp>
    </p:spTree>
    <p:extLst>
      <p:ext uri="{BB962C8B-B14F-4D97-AF65-F5344CB8AC3E}">
        <p14:creationId xmlns:p14="http://schemas.microsoft.com/office/powerpoint/2010/main" val="40407519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37</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37</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37</a:t>
            </a:fld>
            <a:endParaRPr lang="en-US" altLang="en-US" sz="1200">
              <a:solidFill>
                <a:srgbClr val="000000"/>
              </a:solidFill>
            </a:endParaRPr>
          </a:p>
        </p:txBody>
      </p:sp>
    </p:spTree>
    <p:extLst>
      <p:ext uri="{BB962C8B-B14F-4D97-AF65-F5344CB8AC3E}">
        <p14:creationId xmlns:p14="http://schemas.microsoft.com/office/powerpoint/2010/main" val="29273554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38</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38</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38</a:t>
            </a:fld>
            <a:endParaRPr lang="en-US" altLang="en-US" sz="1200">
              <a:solidFill>
                <a:srgbClr val="000000"/>
              </a:solidFill>
            </a:endParaRPr>
          </a:p>
        </p:txBody>
      </p:sp>
    </p:spTree>
    <p:extLst>
      <p:ext uri="{BB962C8B-B14F-4D97-AF65-F5344CB8AC3E}">
        <p14:creationId xmlns:p14="http://schemas.microsoft.com/office/powerpoint/2010/main" val="26197964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3F7146-5BA0-4DC9-6374-12D11F41A16E}"/>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16F2D4B9-3A24-F8FB-BAFE-8D5A9CE634E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39</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4775B370-2641-AF91-C976-CC6846BB078D}"/>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39</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3DA85995-65A8-1AFB-B977-1E4EE4B800F5}"/>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A165F99A-C44C-9540-2C64-FC0217D8347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11A0F866-619C-93D7-2CB7-6346963AC48F}"/>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39</a:t>
            </a:fld>
            <a:endParaRPr lang="en-US" altLang="en-US" sz="1200">
              <a:solidFill>
                <a:srgbClr val="000000"/>
              </a:solidFill>
            </a:endParaRPr>
          </a:p>
        </p:txBody>
      </p:sp>
    </p:spTree>
    <p:extLst>
      <p:ext uri="{BB962C8B-B14F-4D97-AF65-F5344CB8AC3E}">
        <p14:creationId xmlns:p14="http://schemas.microsoft.com/office/powerpoint/2010/main" val="24148178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40</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40</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40</a:t>
            </a:fld>
            <a:endParaRPr lang="en-US" altLang="en-US" sz="1200">
              <a:solidFill>
                <a:srgbClr val="000000"/>
              </a:solidFill>
            </a:endParaRPr>
          </a:p>
        </p:txBody>
      </p:sp>
    </p:spTree>
    <p:extLst>
      <p:ext uri="{BB962C8B-B14F-4D97-AF65-F5344CB8AC3E}">
        <p14:creationId xmlns:p14="http://schemas.microsoft.com/office/powerpoint/2010/main" val="41157949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41</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41</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41</a:t>
            </a:fld>
            <a:endParaRPr lang="en-US" altLang="en-US" sz="1200">
              <a:solidFill>
                <a:srgbClr val="000000"/>
              </a:solidFill>
            </a:endParaRPr>
          </a:p>
        </p:txBody>
      </p:sp>
    </p:spTree>
    <p:extLst>
      <p:ext uri="{BB962C8B-B14F-4D97-AF65-F5344CB8AC3E}">
        <p14:creationId xmlns:p14="http://schemas.microsoft.com/office/powerpoint/2010/main" val="1095625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7B4342-2087-8C4F-D54F-76C8FD693C7F}"/>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7FA96906-17F5-88E5-E3A1-59AD50FD269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42</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10F92CE1-497D-1A8D-482F-B4B04CDFBE31}"/>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42</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D6FEAF4A-E8DD-F104-33C8-B69E85CBA0B7}"/>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D9634650-08D2-2C03-94CC-3536F927BD43}"/>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31D127C5-B60A-F989-7808-3318526B9B05}"/>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42</a:t>
            </a:fld>
            <a:endParaRPr lang="en-US" altLang="en-US" sz="1200">
              <a:solidFill>
                <a:srgbClr val="000000"/>
              </a:solidFill>
            </a:endParaRPr>
          </a:p>
        </p:txBody>
      </p:sp>
    </p:spTree>
    <p:extLst>
      <p:ext uri="{BB962C8B-B14F-4D97-AF65-F5344CB8AC3E}">
        <p14:creationId xmlns:p14="http://schemas.microsoft.com/office/powerpoint/2010/main" val="21697621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43A83E4-C97A-43EE-C014-10F9D18D7B38}"/>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EA033829-E355-B305-AD21-B1DAB092633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43</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47FDB648-071C-73F9-8DB7-85BEB527DD9F}"/>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43</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7BE9B72D-357E-4219-71F9-5C25EF3AD55D}"/>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05168D15-16C8-23C9-86F5-16BFC1911A19}"/>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1FE1BBA5-9863-C551-CC6E-D892C486A116}"/>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43</a:t>
            </a:fld>
            <a:endParaRPr lang="en-US" altLang="en-US" sz="1200">
              <a:solidFill>
                <a:srgbClr val="000000"/>
              </a:solidFill>
            </a:endParaRPr>
          </a:p>
        </p:txBody>
      </p:sp>
    </p:spTree>
    <p:extLst>
      <p:ext uri="{BB962C8B-B14F-4D97-AF65-F5344CB8AC3E}">
        <p14:creationId xmlns:p14="http://schemas.microsoft.com/office/powerpoint/2010/main" val="1313290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01D0E9-67D4-4FE4-8824-CBAB7AB610DF}"/>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21D60FE5-7E09-ABC6-2576-07D81210119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44</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A9182AAA-58F1-9970-22B8-A2B70A4B950F}"/>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44</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C14A0B6F-375B-FEDE-158A-C27742FA1352}"/>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D08CB882-9258-DEDA-0D0B-B05078617BC4}"/>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B5CC3FE0-0768-BCF8-32DE-C5BD5C20A195}"/>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44</a:t>
            </a:fld>
            <a:endParaRPr lang="en-US" altLang="en-US" sz="1200">
              <a:solidFill>
                <a:srgbClr val="000000"/>
              </a:solidFill>
            </a:endParaRPr>
          </a:p>
        </p:txBody>
      </p:sp>
    </p:spTree>
    <p:extLst>
      <p:ext uri="{BB962C8B-B14F-4D97-AF65-F5344CB8AC3E}">
        <p14:creationId xmlns:p14="http://schemas.microsoft.com/office/powerpoint/2010/main" val="613575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37">
            <a:extLst>
              <a:ext uri="{FF2B5EF4-FFF2-40B4-BE49-F238E27FC236}">
                <a16:creationId xmlns:a16="http://schemas.microsoft.com/office/drawing/2014/main" id="{E6E2F9D4-A0A8-C244-0C0F-77ABD7EEFF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45</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38696B4C-6219-6783-3CCB-D9C46CE51F6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45</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4795938-D8F2-1083-2574-5550073ECC4B}"/>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10F52165-CD71-BDE6-6F88-E8A7D57D3228}"/>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F624167-85D9-A710-8103-CE8398121FE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45</a:t>
            </a:fld>
            <a:endParaRPr lang="en-US" altLang="en-US" sz="1200">
              <a:solidFill>
                <a:srgbClr val="000000"/>
              </a:solidFill>
            </a:endParaRPr>
          </a:p>
        </p:txBody>
      </p:sp>
    </p:spTree>
    <p:extLst>
      <p:ext uri="{BB962C8B-B14F-4D97-AF65-F5344CB8AC3E}">
        <p14:creationId xmlns:p14="http://schemas.microsoft.com/office/powerpoint/2010/main" val="6828229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133956D-A860-8701-9CAB-C548D311CD9E}"/>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A9CC7B8B-9BF2-6231-125E-0D8CBD38CCF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46</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DC61002E-4E6A-FD49-28FE-D03509DFD8D7}"/>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46</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11B7E152-8404-5BA5-DCED-4C328EA49A4A}"/>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9AB97A27-0F1A-9B37-709E-A919498D75A9}"/>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1AA6DB05-2038-3870-0286-FB58C69F6E4B}"/>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46</a:t>
            </a:fld>
            <a:endParaRPr lang="en-US" altLang="en-US" sz="1200">
              <a:solidFill>
                <a:srgbClr val="000000"/>
              </a:solidFill>
            </a:endParaRPr>
          </a:p>
        </p:txBody>
      </p:sp>
    </p:spTree>
    <p:extLst>
      <p:ext uri="{BB962C8B-B14F-4D97-AF65-F5344CB8AC3E}">
        <p14:creationId xmlns:p14="http://schemas.microsoft.com/office/powerpoint/2010/main" val="6786929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C73935-53C7-9F40-2EA2-B3E130DA1428}"/>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1A829F35-DD31-30C9-827A-171CDFD18DE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47</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6B003539-5143-DC85-E2A2-1F1822BE2E2D}"/>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47</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003223D6-8D92-A8DC-7879-A488578E55B8}"/>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D62065D7-DC42-292A-EF9A-2FDE83C94806}"/>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CB8CB8F-937C-BA44-0FAE-4F43283E7E54}"/>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47</a:t>
            </a:fld>
            <a:endParaRPr lang="en-US" altLang="en-US" sz="1200">
              <a:solidFill>
                <a:srgbClr val="000000"/>
              </a:solidFill>
            </a:endParaRPr>
          </a:p>
        </p:txBody>
      </p:sp>
    </p:spTree>
    <p:extLst>
      <p:ext uri="{BB962C8B-B14F-4D97-AF65-F5344CB8AC3E}">
        <p14:creationId xmlns:p14="http://schemas.microsoft.com/office/powerpoint/2010/main" val="36709208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73A3CE-D162-E594-A988-D4BC8A660CA2}"/>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D27D4B2C-DD45-BA4D-3387-24382E7EB07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48</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899A45EB-1FF9-16E7-A5CB-5CC592E409D9}"/>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48</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5AA957D2-B593-BD00-65D6-9E35B3799789}"/>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77BB3085-56FF-F138-B04A-E58384962E33}"/>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5A8B9E3F-F5C0-6A3A-E262-78AAD277667F}"/>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48</a:t>
            </a:fld>
            <a:endParaRPr lang="en-US" altLang="en-US" sz="1200">
              <a:solidFill>
                <a:srgbClr val="000000"/>
              </a:solidFill>
            </a:endParaRPr>
          </a:p>
        </p:txBody>
      </p:sp>
    </p:spTree>
    <p:extLst>
      <p:ext uri="{BB962C8B-B14F-4D97-AF65-F5344CB8AC3E}">
        <p14:creationId xmlns:p14="http://schemas.microsoft.com/office/powerpoint/2010/main" val="2884697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F794449-6C34-9B3B-3AB8-DFA5865F3C1F}"/>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DCC32B31-9738-9A8F-0F7E-20A1B4003CA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49</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899458E6-F687-50C4-F4F6-27D97CAB9C8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49</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F91E7608-5461-461B-B0DF-B0BC721F45F6}"/>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C0FAFB1E-82D0-6649-600F-B3826EC150E1}"/>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0176425B-9698-A679-48E3-5C3DA12DF4D8}"/>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49</a:t>
            </a:fld>
            <a:endParaRPr lang="en-US" altLang="en-US" sz="1200">
              <a:solidFill>
                <a:srgbClr val="000000"/>
              </a:solidFill>
            </a:endParaRPr>
          </a:p>
        </p:txBody>
      </p:sp>
    </p:spTree>
    <p:extLst>
      <p:ext uri="{BB962C8B-B14F-4D97-AF65-F5344CB8AC3E}">
        <p14:creationId xmlns:p14="http://schemas.microsoft.com/office/powerpoint/2010/main" val="518770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00680D-346A-C767-6E12-356C4C52CC3D}"/>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47600AA9-A4FD-3036-6135-B8D8733FFF7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50</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539BDF9D-3EB5-76E4-A2AD-90631E06B41D}"/>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50</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1F79FCC2-D7EC-3B57-CBED-92F4092C27AA}"/>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8B9DA07E-E034-BD54-485F-C7BA0CBA2FA0}"/>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D2035973-3960-868A-58CA-BEA727ABAA1A}"/>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50</a:t>
            </a:fld>
            <a:endParaRPr lang="en-US" altLang="en-US" sz="1200">
              <a:solidFill>
                <a:srgbClr val="000000"/>
              </a:solidFill>
            </a:endParaRPr>
          </a:p>
        </p:txBody>
      </p:sp>
    </p:spTree>
    <p:extLst>
      <p:ext uri="{BB962C8B-B14F-4D97-AF65-F5344CB8AC3E}">
        <p14:creationId xmlns:p14="http://schemas.microsoft.com/office/powerpoint/2010/main" val="4607682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F720A2A-1CF9-70B2-389D-4DB7C6D094C0}"/>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51985F40-AAF9-5786-1C0E-E74D37866E0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51</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1F815957-869A-9B30-5737-4B6DCA3E0F91}"/>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51</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9B2EBA11-E7A7-1B9B-6BB1-D301B2D56EFF}"/>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4A445EAA-F1A7-E88B-2D8D-5D825CA294C5}"/>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E0B9B800-BFD4-646C-738D-F5B624593AA7}"/>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51</a:t>
            </a:fld>
            <a:endParaRPr lang="en-US" altLang="en-US" sz="1200">
              <a:solidFill>
                <a:srgbClr val="000000"/>
              </a:solidFill>
            </a:endParaRPr>
          </a:p>
        </p:txBody>
      </p:sp>
    </p:spTree>
    <p:extLst>
      <p:ext uri="{BB962C8B-B14F-4D97-AF65-F5344CB8AC3E}">
        <p14:creationId xmlns:p14="http://schemas.microsoft.com/office/powerpoint/2010/main" val="33457182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C574E7-6606-1C75-EBD1-25390F0B0B0F}"/>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71537761-44AC-7308-D836-FDD1AAB2F7A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52</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572F1AB9-92A2-22A4-8593-C10B1506F8FD}"/>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52</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3074E387-ECE5-9B09-38B6-736C378C15BE}"/>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EFF830CD-4DA5-F05E-195D-33CCCC7FAA6F}"/>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1C0B2A42-B9FD-8376-26A8-3DF77C7B335D}"/>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52</a:t>
            </a:fld>
            <a:endParaRPr lang="en-US" altLang="en-US" sz="1200">
              <a:solidFill>
                <a:srgbClr val="000000"/>
              </a:solidFill>
            </a:endParaRPr>
          </a:p>
        </p:txBody>
      </p:sp>
    </p:spTree>
    <p:extLst>
      <p:ext uri="{BB962C8B-B14F-4D97-AF65-F5344CB8AC3E}">
        <p14:creationId xmlns:p14="http://schemas.microsoft.com/office/powerpoint/2010/main" val="19119556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4F7797-BA5B-A091-FFA1-E79CC97EA245}"/>
            </a:ext>
          </a:extLst>
        </p:cNvPr>
        <p:cNvGrpSpPr/>
        <p:nvPr/>
      </p:nvGrpSpPr>
      <p:grpSpPr>
        <a:xfrm>
          <a:off x="0" y="0"/>
          <a:ext cx="0" cy="0"/>
          <a:chOff x="0" y="0"/>
          <a:chExt cx="0" cy="0"/>
        </a:xfrm>
      </p:grpSpPr>
      <p:sp>
        <p:nvSpPr>
          <p:cNvPr id="15362" name="Rectangle 37">
            <a:extLst>
              <a:ext uri="{FF2B5EF4-FFF2-40B4-BE49-F238E27FC236}">
                <a16:creationId xmlns:a16="http://schemas.microsoft.com/office/drawing/2014/main" id="{88A7C9FA-08AB-BCE1-AA16-BEF00BFAA3A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15900" indent="-168275">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bg1"/>
                </a:solidFill>
                <a:latin typeface="Arial" panose="020B0604020202020204" pitchFamily="34" charset="0"/>
                <a:ea typeface="Microsoft YaHei" panose="020B0503020204020204" pitchFamily="34" charset="-122"/>
              </a:defRPr>
            </a:lvl9pPr>
          </a:lstStyle>
          <a:p>
            <a:pPr>
              <a:buClrTx/>
              <a:buSzPct val="45000"/>
              <a:buFontTx/>
              <a:buNone/>
            </a:pPr>
            <a:fld id="{7FFD8E1A-BA15-4B5E-A2C2-991FA7C17AD8}" type="slidenum">
              <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rPr>
              <a:pPr>
                <a:buClrTx/>
                <a:buSzPct val="45000"/>
                <a:buFontTx/>
                <a:buNone/>
              </a:pPr>
              <a:t>53</a:t>
            </a:fld>
            <a:endParaRPr lang="en-US" altLang="en-US">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endParaRPr>
          </a:p>
        </p:txBody>
      </p:sp>
      <p:sp>
        <p:nvSpPr>
          <p:cNvPr id="15363" name="Text Box 1">
            <a:extLst>
              <a:ext uri="{FF2B5EF4-FFF2-40B4-BE49-F238E27FC236}">
                <a16:creationId xmlns:a16="http://schemas.microsoft.com/office/drawing/2014/main" id="{7560AC0A-A509-B797-4CD7-18E3D4A2831C}"/>
              </a:ext>
            </a:extLst>
          </p:cNvPr>
          <p:cNvSpPr txBox="1">
            <a:spLocks noChangeArrowheads="1"/>
          </p:cNvSpPr>
          <p:nvPr/>
        </p:nvSpPr>
        <p:spPr bwMode="auto">
          <a:xfrm>
            <a:off x="3884613" y="8829675"/>
            <a:ext cx="2943225"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marL="215900" indent="-168275">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15900" algn="l"/>
                <a:tab pos="673100" algn="l"/>
                <a:tab pos="1130300" algn="l"/>
                <a:tab pos="1587500" algn="l"/>
                <a:tab pos="2044700" algn="l"/>
                <a:tab pos="2501900" algn="l"/>
                <a:tab pos="2959100" algn="l"/>
                <a:tab pos="3416300" algn="l"/>
                <a:tab pos="3873500" algn="l"/>
                <a:tab pos="4330700" algn="l"/>
                <a:tab pos="4787900" algn="l"/>
                <a:tab pos="5245100" algn="l"/>
                <a:tab pos="5702300" algn="l"/>
                <a:tab pos="6159500" algn="l"/>
                <a:tab pos="6616700" algn="l"/>
                <a:tab pos="7073900" algn="l"/>
                <a:tab pos="7531100" algn="l"/>
                <a:tab pos="7988300" algn="l"/>
                <a:tab pos="8445500" algn="l"/>
                <a:tab pos="8902700" algn="l"/>
                <a:tab pos="93599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SzPct val="45000"/>
              <a:buFontTx/>
              <a:buNone/>
            </a:pPr>
            <a:fld id="{08B23803-3EAB-4E74-8686-049563F8B089}" type="slidenum">
              <a:rPr lang="en-US" altLang="en-US" sz="1200">
                <a:solidFill>
                  <a:srgbClr val="000000"/>
                </a:solidFill>
                <a:latin typeface="Times New Roman" panose="02020603050405020304" pitchFamily="18" charset="0"/>
              </a:rPr>
              <a:pPr algn="r" eaLnBrk="1" hangingPunct="1">
                <a:buClrTx/>
                <a:buSzPct val="45000"/>
                <a:buFontTx/>
                <a:buNone/>
              </a:pPr>
              <a:t>53</a:t>
            </a:fld>
            <a:endParaRPr lang="en-US" altLang="en-US" sz="1200">
              <a:solidFill>
                <a:srgbClr val="000000"/>
              </a:solidFill>
              <a:latin typeface="Times New Roman" panose="02020603050405020304" pitchFamily="18" charset="0"/>
            </a:endParaRPr>
          </a:p>
        </p:txBody>
      </p:sp>
      <p:sp>
        <p:nvSpPr>
          <p:cNvPr id="15364" name="Rectangle 2">
            <a:extLst>
              <a:ext uri="{FF2B5EF4-FFF2-40B4-BE49-F238E27FC236}">
                <a16:creationId xmlns:a16="http://schemas.microsoft.com/office/drawing/2014/main" id="{347B4C90-AA5D-78D9-DB42-6A7C2A2518E5}"/>
              </a:ext>
            </a:extLst>
          </p:cNvPr>
          <p:cNvSpPr txBox="1">
            <a:spLocks noGrp="1" noRot="1" noChangeAspect="1" noChangeArrowheads="1" noTextEdit="1"/>
          </p:cNvSpPr>
          <p:nvPr>
            <p:ph type="sldImg"/>
          </p:nvPr>
        </p:nvSpPr>
        <p:spPr>
          <a:xfrm>
            <a:off x="330200" y="696913"/>
            <a:ext cx="6197600" cy="348615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3">
            <a:extLst>
              <a:ext uri="{FF2B5EF4-FFF2-40B4-BE49-F238E27FC236}">
                <a16:creationId xmlns:a16="http://schemas.microsoft.com/office/drawing/2014/main" id="{8FB9BF18-FB96-3FC5-A2CB-789ADC85734D}"/>
              </a:ext>
            </a:extLst>
          </p:cNvPr>
          <p:cNvSpPr txBox="1">
            <a:spLocks noGrp="1" noChangeArrowheads="1"/>
          </p:cNvSpPr>
          <p:nvPr>
            <p:ph type="body" idx="1"/>
          </p:nvPr>
        </p:nvSpPr>
        <p:spPr>
          <a:xfrm>
            <a:off x="685800" y="4416425"/>
            <a:ext cx="5483225"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5366" name="Text Box 4">
            <a:extLst>
              <a:ext uri="{FF2B5EF4-FFF2-40B4-BE49-F238E27FC236}">
                <a16:creationId xmlns:a16="http://schemas.microsoft.com/office/drawing/2014/main" id="{B2B3C2B3-3DCC-5E52-7BB8-2F8C9D023B22}"/>
              </a:ext>
            </a:extLst>
          </p:cNvPr>
          <p:cNvSpPr txBox="1">
            <a:spLocks noChangeArrowheads="1"/>
          </p:cNvSpPr>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algn="r" eaLnBrk="1" hangingPunct="1">
              <a:buClrTx/>
              <a:buFontTx/>
              <a:buNone/>
            </a:pPr>
            <a:fld id="{42F816C8-6BDA-49B7-840B-4791046267CF}" type="slidenum">
              <a:rPr lang="en-US" altLang="en-US" sz="1200">
                <a:solidFill>
                  <a:srgbClr val="000000"/>
                </a:solidFill>
              </a:rPr>
              <a:pPr algn="r" eaLnBrk="1" hangingPunct="1">
                <a:buClrTx/>
                <a:buFontTx/>
                <a:buNone/>
              </a:pPr>
              <a:t>53</a:t>
            </a:fld>
            <a:endParaRPr lang="en-US" altLang="en-US" sz="1200">
              <a:solidFill>
                <a:srgbClr val="000000"/>
              </a:solidFill>
            </a:endParaRPr>
          </a:p>
        </p:txBody>
      </p:sp>
    </p:spTree>
    <p:extLst>
      <p:ext uri="{BB962C8B-B14F-4D97-AF65-F5344CB8AC3E}">
        <p14:creationId xmlns:p14="http://schemas.microsoft.com/office/powerpoint/2010/main" val="860056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78402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06564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285648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86834" y="904875"/>
            <a:ext cx="5513917" cy="4476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03952" y="904875"/>
            <a:ext cx="5516033" cy="4476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16261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97941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148573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58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64821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0431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95618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114301"/>
            <a:ext cx="2829984" cy="52673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86833" y="114301"/>
            <a:ext cx="8288867" cy="52673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46414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653340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88616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009045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86834" y="904875"/>
            <a:ext cx="5513917" cy="4476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03952" y="904875"/>
            <a:ext cx="5516033" cy="4476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5178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50233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554577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23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249066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476929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35495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78900" y="114301"/>
            <a:ext cx="2829984" cy="52673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86833" y="114301"/>
            <a:ext cx="8288867" cy="52673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300054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17" name="Rectangle 16"/>
          <p:cNvSpPr/>
          <p:nvPr/>
        </p:nvSpPr>
        <p:spPr>
          <a:xfrm>
            <a:off x="0" y="0"/>
            <a:ext cx="12192000" cy="68580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472683" y="3200401"/>
            <a:ext cx="10363200" cy="609600"/>
          </a:xfrm>
        </p:spPr>
        <p:txBody>
          <a:bodyPr>
            <a:noAutofit/>
          </a:bodyPr>
          <a:lstStyle>
            <a:lvl1pPr algn="l">
              <a:defRPr sz="3800">
                <a:solidFill>
                  <a:schemeClr val="bg1"/>
                </a:solidFill>
              </a:defRPr>
            </a:lvl1pPr>
          </a:lstStyle>
          <a:p>
            <a:r>
              <a:rPr lang="en-US"/>
              <a:t>Click to edit Master title style</a:t>
            </a:r>
          </a:p>
        </p:txBody>
      </p:sp>
      <p:sp>
        <p:nvSpPr>
          <p:cNvPr id="3" name="Subtitle 2"/>
          <p:cNvSpPr>
            <a:spLocks noGrp="1"/>
          </p:cNvSpPr>
          <p:nvPr>
            <p:ph type="subTitle" idx="1"/>
          </p:nvPr>
        </p:nvSpPr>
        <p:spPr>
          <a:xfrm>
            <a:off x="472683" y="3858638"/>
            <a:ext cx="10380133" cy="609600"/>
          </a:xfrm>
        </p:spPr>
        <p:txBody>
          <a:bodyPr>
            <a:noAutofit/>
          </a:bodyPr>
          <a:lstStyle>
            <a:lvl1pPr marL="0" indent="0" algn="l">
              <a:buNone/>
              <a:defRPr sz="3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Rectangle 56"/>
          <p:cNvSpPr>
            <a:spLocks noChangeArrowheads="1"/>
          </p:cNvSpPr>
          <p:nvPr/>
        </p:nvSpPr>
        <p:spPr bwMode="auto">
          <a:xfrm>
            <a:off x="0" y="1976439"/>
            <a:ext cx="12192000" cy="847725"/>
          </a:xfrm>
          <a:prstGeom prst="rect">
            <a:avLst/>
          </a:prstGeom>
          <a:solidFill>
            <a:srgbClr val="0067A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grpSp>
        <p:nvGrpSpPr>
          <p:cNvPr id="4" name="Group 5"/>
          <p:cNvGrpSpPr>
            <a:grpSpLocks noChangeAspect="1"/>
          </p:cNvGrpSpPr>
          <p:nvPr/>
        </p:nvGrpSpPr>
        <p:grpSpPr bwMode="auto">
          <a:xfrm>
            <a:off x="565151" y="428625"/>
            <a:ext cx="4349749" cy="376238"/>
            <a:chOff x="267" y="270"/>
            <a:chExt cx="2055" cy="237"/>
          </a:xfrm>
        </p:grpSpPr>
        <p:sp>
          <p:nvSpPr>
            <p:cNvPr id="1028" name="AutoShape 4"/>
            <p:cNvSpPr>
              <a:spLocks noChangeAspect="1" noChangeArrowheads="1" noTextEdit="1"/>
            </p:cNvSpPr>
            <p:nvPr userDrawn="1"/>
          </p:nvSpPr>
          <p:spPr bwMode="auto">
            <a:xfrm>
              <a:off x="267" y="270"/>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0" name="Freeform 6"/>
            <p:cNvSpPr>
              <a:spLocks noEditPoints="1"/>
            </p:cNvSpPr>
            <p:nvPr userDrawn="1"/>
          </p:nvSpPr>
          <p:spPr bwMode="auto">
            <a:xfrm>
              <a:off x="1382" y="270"/>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1" name="Freeform 7"/>
            <p:cNvSpPr>
              <a:spLocks noEditPoints="1"/>
            </p:cNvSpPr>
            <p:nvPr userDrawn="1"/>
          </p:nvSpPr>
          <p:spPr bwMode="auto">
            <a:xfrm>
              <a:off x="617" y="270"/>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2" name="Freeform 8"/>
            <p:cNvSpPr>
              <a:spLocks noEditPoints="1"/>
            </p:cNvSpPr>
            <p:nvPr userDrawn="1"/>
          </p:nvSpPr>
          <p:spPr bwMode="auto">
            <a:xfrm>
              <a:off x="267" y="271"/>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3" name="Freeform 9"/>
            <p:cNvSpPr>
              <a:spLocks noEditPoints="1"/>
            </p:cNvSpPr>
            <p:nvPr userDrawn="1"/>
          </p:nvSpPr>
          <p:spPr bwMode="auto">
            <a:xfrm>
              <a:off x="1328" y="402"/>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B4D7F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grpSp>
      <p:sp>
        <p:nvSpPr>
          <p:cNvPr id="20" name="Freeform 9"/>
          <p:cNvSpPr>
            <a:spLocks noEditPoints="1"/>
          </p:cNvSpPr>
          <p:nvPr/>
        </p:nvSpPr>
        <p:spPr bwMode="auto">
          <a:xfrm>
            <a:off x="10909580" y="424799"/>
            <a:ext cx="647277"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pic>
        <p:nvPicPr>
          <p:cNvPr id="19" name="Picture 4" descr="Q:\Repro 2\New guidelines 2011_12\Final 260411\PPT\OLD\050511\WMF\TATA Patter revised.wmf"/>
          <p:cNvPicPr>
            <a:picLocks noChangeAspect="1" noChangeArrowheads="1"/>
          </p:cNvPicPr>
          <p:nvPr/>
        </p:nvPicPr>
        <p:blipFill>
          <a:blip r:embed="rId2"/>
          <a:srcRect/>
          <a:stretch>
            <a:fillRect/>
          </a:stretch>
        </p:blipFill>
        <p:spPr bwMode="auto">
          <a:xfrm>
            <a:off x="1" y="1345407"/>
            <a:ext cx="3282087" cy="1260043"/>
          </a:xfrm>
          <a:prstGeom prst="rect">
            <a:avLst/>
          </a:prstGeom>
          <a:noFill/>
        </p:spPr>
      </p:pic>
      <p:sp>
        <p:nvSpPr>
          <p:cNvPr id="15" name="TextBox 14"/>
          <p:cNvSpPr txBox="1"/>
          <p:nvPr/>
        </p:nvSpPr>
        <p:spPr>
          <a:xfrm>
            <a:off x="448733" y="6334126"/>
            <a:ext cx="3251200" cy="207749"/>
          </a:xfrm>
          <a:prstGeom prst="rect">
            <a:avLst/>
          </a:prstGeom>
          <a:noFill/>
        </p:spPr>
        <p:txBody>
          <a:bodyPr wrap="square" rtlCol="0">
            <a:spAutoFit/>
          </a:bodyPr>
          <a:lstStyle/>
          <a:p>
            <a:r>
              <a:rPr lang="en-US" sz="750">
                <a:solidFill>
                  <a:schemeClr val="bg1"/>
                </a:solidFill>
                <a:latin typeface="+mn-lt"/>
              </a:rPr>
              <a:t>Copyright © 2012 Tata Consultancy Services Limited</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p:txBody>
          <a:bodyPr>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3886200"/>
            <a:ext cx="10363200" cy="622300"/>
          </a:xfrm>
        </p:spPr>
        <p:txBody>
          <a:bodyPr anchor="t">
            <a:noAutofit/>
          </a:bodyPr>
          <a:lstStyle>
            <a:lvl1pPr algn="ctr">
              <a:defRPr sz="2800" b="0" cap="all">
                <a:solidFill>
                  <a:schemeClr val="tx1"/>
                </a:solidFill>
              </a:defRPr>
            </a:lvl1pPr>
          </a:lstStyle>
          <a:p>
            <a:r>
              <a:rPr lang="en-US"/>
              <a:t>Click to edit Master title style</a:t>
            </a:r>
          </a:p>
        </p:txBody>
      </p:sp>
      <p:sp>
        <p:nvSpPr>
          <p:cNvPr id="3" name="Text Placeholder 2"/>
          <p:cNvSpPr>
            <a:spLocks noGrp="1"/>
          </p:cNvSpPr>
          <p:nvPr>
            <p:ph type="body" idx="1"/>
          </p:nvPr>
        </p:nvSpPr>
        <p:spPr>
          <a:xfrm>
            <a:off x="963084" y="2906714"/>
            <a:ext cx="10363200" cy="750887"/>
          </a:xfrm>
        </p:spPr>
        <p:txBody>
          <a:bodyPr anchor="b">
            <a:noAutofit/>
          </a:bodyPr>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sz="half" idx="1"/>
          </p:nvPr>
        </p:nvSpPr>
        <p:spPr>
          <a:xfrm>
            <a:off x="570896" y="1189037"/>
            <a:ext cx="53848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6371768" y="1189037"/>
            <a:ext cx="53848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p>
        </p:txBody>
      </p:sp>
      <p:sp>
        <p:nvSpPr>
          <p:cNvPr id="3" name="Text Placeholder 2"/>
          <p:cNvSpPr>
            <a:spLocks noGrp="1"/>
          </p:cNvSpPr>
          <p:nvPr>
            <p:ph type="body" idx="1"/>
          </p:nvPr>
        </p:nvSpPr>
        <p:spPr>
          <a:xfrm>
            <a:off x="570896" y="1187450"/>
            <a:ext cx="5386917"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70896" y="1916112"/>
            <a:ext cx="5386917"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6348184" y="1187450"/>
            <a:ext cx="5389033"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48184" y="1916112"/>
            <a:ext cx="5389033"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0897" y="1125538"/>
            <a:ext cx="4011084" cy="787399"/>
          </a:xfrm>
        </p:spPr>
        <p:txBody>
          <a:bodyPr anchor="b">
            <a:noAutofit/>
          </a:bodyPr>
          <a:lstStyle>
            <a:lvl1pPr algn="l">
              <a:defRPr sz="2200" b="1">
                <a:solidFill>
                  <a:schemeClr val="tx1"/>
                </a:solidFill>
              </a:defRPr>
            </a:lvl1pPr>
          </a:lstStyle>
          <a:p>
            <a:r>
              <a:rPr lang="en-US"/>
              <a:t>Click to edit Master title style</a:t>
            </a:r>
          </a:p>
        </p:txBody>
      </p:sp>
      <p:sp>
        <p:nvSpPr>
          <p:cNvPr id="3" name="Content Placeholder 2"/>
          <p:cNvSpPr>
            <a:spLocks noGrp="1"/>
          </p:cNvSpPr>
          <p:nvPr>
            <p:ph idx="1"/>
          </p:nvPr>
        </p:nvSpPr>
        <p:spPr>
          <a:xfrm>
            <a:off x="4805437" y="1125538"/>
            <a:ext cx="6815667" cy="5199063"/>
          </a:xfrm>
        </p:spPr>
        <p:txBody>
          <a:bodyPr>
            <a:noAutofit/>
          </a:bodyPr>
          <a:lstStyle>
            <a:lvl1pPr>
              <a:defRPr sz="2200"/>
            </a:lvl1pPr>
            <a:lvl2pPr>
              <a:defRPr sz="2000"/>
            </a:lvl2pPr>
            <a:lvl3pPr>
              <a:defRPr sz="1800"/>
            </a:lvl3pPr>
            <a:lvl4pPr>
              <a:defRPr sz="16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570897" y="1951037"/>
            <a:ext cx="4011084" cy="4373563"/>
          </a:xfrm>
        </p:spPr>
        <p:txBody>
          <a:bodyPr>
            <a:noAutofit/>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76801"/>
            <a:ext cx="7315200" cy="566738"/>
          </a:xfrm>
        </p:spPr>
        <p:txBody>
          <a:bodyPr anchor="b">
            <a:noAutofit/>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1143001"/>
            <a:ext cx="7315200" cy="366077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443539"/>
            <a:ext cx="7315200" cy="804862"/>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800"/>
            </a:lvl1pPr>
          </a:lstStyle>
          <a:p>
            <a:r>
              <a:rPr lang="en-US"/>
              <a:t>Click to edit Master title style</a:t>
            </a:r>
          </a:p>
        </p:txBody>
      </p:sp>
      <p:sp>
        <p:nvSpPr>
          <p:cNvPr id="3" name="Table Placeholder 2"/>
          <p:cNvSpPr>
            <a:spLocks noGrp="1"/>
          </p:cNvSpPr>
          <p:nvPr>
            <p:ph type="tbl" idx="1"/>
          </p:nvPr>
        </p:nvSpPr>
        <p:spPr>
          <a:xfrm>
            <a:off x="684405" y="1190625"/>
            <a:ext cx="11161184" cy="1323975"/>
          </a:xfrm>
          <a:ln>
            <a:solidFill>
              <a:schemeClr val="bg1"/>
            </a:solidFill>
          </a:ln>
        </p:spPr>
        <p:txBody>
          <a:bodyPr/>
          <a:lstStyle>
            <a:lvl1pPr>
              <a:buNone/>
              <a:defRPr>
                <a:solidFill>
                  <a:schemeClr val="bg1"/>
                </a:solidFill>
              </a:defRPr>
            </a:lvl1pPr>
          </a:lstStyle>
          <a:p>
            <a:pPr lvl="0"/>
            <a:r>
              <a:rPr lang="en-US" noProof="0"/>
              <a:t>Click icon to add table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Vertical Text Placeholder 2"/>
          <p:cNvSpPr>
            <a:spLocks noGrp="1"/>
          </p:cNvSpPr>
          <p:nvPr>
            <p:ph type="body" orient="vert" idx="1"/>
          </p:nvPr>
        </p:nvSpPr>
        <p:spPr>
          <a:xfrm>
            <a:off x="548192" y="1168400"/>
            <a:ext cx="11237408" cy="5156200"/>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71424" y="1189038"/>
            <a:ext cx="2743200" cy="5135563"/>
          </a:xfrm>
        </p:spPr>
        <p:txBody>
          <a:bodyPr vert="eaVert">
            <a:noAutofit/>
          </a:bodyPr>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a:xfrm>
            <a:off x="551544" y="1189038"/>
            <a:ext cx="8253789" cy="5135563"/>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3.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33B5E364-B6C3-6E42-560B-5295FB1FF791}"/>
              </a:ext>
            </a:extLst>
          </p:cNvPr>
          <p:cNvSpPr>
            <a:spLocks noChangeArrowheads="1"/>
          </p:cNvSpPr>
          <p:nvPr/>
        </p:nvSpPr>
        <p:spPr bwMode="auto">
          <a:xfrm>
            <a:off x="304800" y="228600"/>
            <a:ext cx="508000" cy="228600"/>
          </a:xfrm>
          <a:prstGeom prst="rect">
            <a:avLst/>
          </a:prstGeom>
          <a:solidFill>
            <a:srgbClr val="6DCFF6"/>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8195" name="Rectangle 2">
            <a:extLst>
              <a:ext uri="{FF2B5EF4-FFF2-40B4-BE49-F238E27FC236}">
                <a16:creationId xmlns:a16="http://schemas.microsoft.com/office/drawing/2014/main" id="{62E43ED5-E0E6-643C-9F2A-DDA11CD752D2}"/>
              </a:ext>
            </a:extLst>
          </p:cNvPr>
          <p:cNvSpPr>
            <a:spLocks noChangeArrowheads="1"/>
          </p:cNvSpPr>
          <p:nvPr/>
        </p:nvSpPr>
        <p:spPr bwMode="auto">
          <a:xfrm>
            <a:off x="203200" y="304800"/>
            <a:ext cx="203200" cy="152400"/>
          </a:xfrm>
          <a:prstGeom prst="rect">
            <a:avLst/>
          </a:prstGeom>
          <a:solidFill>
            <a:srgbClr val="6DCFF6"/>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8196" name="Rectangle 3">
            <a:extLst>
              <a:ext uri="{FF2B5EF4-FFF2-40B4-BE49-F238E27FC236}">
                <a16:creationId xmlns:a16="http://schemas.microsoft.com/office/drawing/2014/main" id="{454BD965-A4C2-107F-3A18-2021F7FAE8D0}"/>
              </a:ext>
            </a:extLst>
          </p:cNvPr>
          <p:cNvSpPr>
            <a:spLocks noChangeArrowheads="1"/>
          </p:cNvSpPr>
          <p:nvPr/>
        </p:nvSpPr>
        <p:spPr bwMode="auto">
          <a:xfrm>
            <a:off x="1422400" y="2971800"/>
            <a:ext cx="711200" cy="381000"/>
          </a:xfrm>
          <a:prstGeom prst="rect">
            <a:avLst/>
          </a:prstGeom>
          <a:solidFill>
            <a:srgbClr val="6DCFF6"/>
          </a:solidFill>
          <a:ln w="12600" cap="sq">
            <a:solidFill>
              <a:srgbClr val="B9AFA4"/>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pic>
        <p:nvPicPr>
          <p:cNvPr id="8197" name="Picture 4">
            <a:extLst>
              <a:ext uri="{FF2B5EF4-FFF2-40B4-BE49-F238E27FC236}">
                <a16:creationId xmlns:a16="http://schemas.microsoft.com/office/drawing/2014/main" id="{5C2D9944-3E2C-F608-8638-984FF71FD07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099" y="1"/>
            <a:ext cx="12230100" cy="6848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 Box 5">
            <a:extLst>
              <a:ext uri="{FF2B5EF4-FFF2-40B4-BE49-F238E27FC236}">
                <a16:creationId xmlns:a16="http://schemas.microsoft.com/office/drawing/2014/main" id="{BC1059C0-ED98-FD42-629A-44E89F5D2A70}"/>
              </a:ext>
            </a:extLst>
          </p:cNvPr>
          <p:cNvSpPr txBox="1">
            <a:spLocks noChangeArrowheads="1"/>
          </p:cNvSpPr>
          <p:nvPr/>
        </p:nvSpPr>
        <p:spPr bwMode="auto">
          <a:xfrm>
            <a:off x="10941051" y="6324601"/>
            <a:ext cx="884767" cy="360363"/>
          </a:xfrm>
          <a:prstGeom prst="rect">
            <a:avLst/>
          </a:prstGeom>
          <a:noFill/>
          <a:ln>
            <a:noFill/>
          </a:ln>
          <a:effec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9pPr>
          </a:lstStyle>
          <a:p>
            <a:pPr algn="r" eaLnBrk="1" hangingPunct="1">
              <a:buSzPct val="100000"/>
              <a:defRPr/>
            </a:pPr>
            <a:fld id="{149FEE5E-16B7-472E-B19E-DB85480E40E4}" type="slidenum">
              <a:rPr lang="en-US" altLang="en-US" sz="1200" smtClean="0">
                <a:solidFill>
                  <a:srgbClr val="000000"/>
                </a:solidFill>
                <a:latin typeface="Myriad Pro" pitchFamily="32" charset="0"/>
              </a:rPr>
              <a:pPr algn="r" eaLnBrk="1" hangingPunct="1">
                <a:buSzPct val="100000"/>
                <a:defRPr/>
              </a:pPr>
              <a:t>‹#›</a:t>
            </a:fld>
            <a:endParaRPr lang="en-US" altLang="en-US" sz="1200">
              <a:solidFill>
                <a:srgbClr val="000000"/>
              </a:solidFill>
              <a:latin typeface="Myriad Pro" pitchFamily="32" charset="0"/>
            </a:endParaRPr>
          </a:p>
        </p:txBody>
      </p:sp>
      <p:pic>
        <p:nvPicPr>
          <p:cNvPr id="8199" name="Picture 6">
            <a:extLst>
              <a:ext uri="{FF2B5EF4-FFF2-40B4-BE49-F238E27FC236}">
                <a16:creationId xmlns:a16="http://schemas.microsoft.com/office/drawing/2014/main" id="{95783C8D-4BE9-F1ED-0207-89D83ADE996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9525"/>
            <a:ext cx="12192000" cy="68675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00" name="Rectangle 7">
            <a:extLst>
              <a:ext uri="{FF2B5EF4-FFF2-40B4-BE49-F238E27FC236}">
                <a16:creationId xmlns:a16="http://schemas.microsoft.com/office/drawing/2014/main" id="{71116863-4C52-A10B-6A70-8EC678568E2E}"/>
              </a:ext>
            </a:extLst>
          </p:cNvPr>
          <p:cNvSpPr>
            <a:spLocks noGrp="1" noChangeArrowheads="1"/>
          </p:cNvSpPr>
          <p:nvPr>
            <p:ph type="title"/>
          </p:nvPr>
        </p:nvSpPr>
        <p:spPr bwMode="auto">
          <a:xfrm>
            <a:off x="1695452" y="114300"/>
            <a:ext cx="10113433"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8201" name="Rectangle 8">
            <a:extLst>
              <a:ext uri="{FF2B5EF4-FFF2-40B4-BE49-F238E27FC236}">
                <a16:creationId xmlns:a16="http://schemas.microsoft.com/office/drawing/2014/main" id="{B60A77A6-6270-DD22-0D0E-96039A4D06E8}"/>
              </a:ext>
            </a:extLst>
          </p:cNvPr>
          <p:cNvSpPr>
            <a:spLocks noGrp="1" noChangeArrowheads="1"/>
          </p:cNvSpPr>
          <p:nvPr>
            <p:ph type="body" idx="1"/>
          </p:nvPr>
        </p:nvSpPr>
        <p:spPr bwMode="auto">
          <a:xfrm>
            <a:off x="486834" y="904875"/>
            <a:ext cx="11233151" cy="447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FFFFFF"/>
          </a:solidFill>
          <a:latin typeface="+mj-lt"/>
          <a:ea typeface="+mj-ea"/>
          <a:cs typeface="+mj-cs"/>
        </a:defRPr>
      </a:lvl1pPr>
      <a:lvl2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2pPr>
      <a:lvl3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3pPr>
      <a:lvl4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4pPr>
      <a:lvl5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9pPr>
    </p:titleStyle>
    <p:bodyStyle>
      <a:lvl1pPr marL="342900" indent="-342900" algn="l" defTabSz="457200" rtl="0" eaLnBrk="0" fontAlgn="base" hangingPunct="0">
        <a:spcBef>
          <a:spcPts val="550"/>
        </a:spcBef>
        <a:spcAft>
          <a:spcPct val="0"/>
        </a:spcAft>
        <a:buClr>
          <a:srgbClr val="000000"/>
        </a:buClr>
        <a:buSzPct val="100000"/>
        <a:buFont typeface="Times New Roman" panose="02020603050405020304" pitchFamily="18" charset="0"/>
        <a:defRPr sz="2200" kern="1200">
          <a:solidFill>
            <a:srgbClr val="000000"/>
          </a:solidFill>
          <a:latin typeface="+mn-lt"/>
          <a:ea typeface="+mn-ea"/>
          <a:cs typeface="+mn-cs"/>
        </a:defRPr>
      </a:lvl1pPr>
      <a:lvl2pPr marL="742950" indent="-285750" algn="l" defTabSz="457200" rtl="0" eaLnBrk="0" fontAlgn="base" hangingPunct="0">
        <a:spcBef>
          <a:spcPts val="550"/>
        </a:spcBef>
        <a:spcAft>
          <a:spcPct val="0"/>
        </a:spcAft>
        <a:buClr>
          <a:srgbClr val="000000"/>
        </a:buClr>
        <a:buSzPct val="100000"/>
        <a:buFont typeface="Times New Roman" panose="02020603050405020304" pitchFamily="18" charset="0"/>
        <a:defRPr sz="2200" kern="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2AA231D3-BF70-AD64-A12B-B8D67BF93347}"/>
              </a:ext>
            </a:extLst>
          </p:cNvPr>
          <p:cNvSpPr>
            <a:spLocks noChangeArrowheads="1"/>
          </p:cNvSpPr>
          <p:nvPr/>
        </p:nvSpPr>
        <p:spPr bwMode="auto">
          <a:xfrm>
            <a:off x="304800" y="228600"/>
            <a:ext cx="508000" cy="228600"/>
          </a:xfrm>
          <a:prstGeom prst="rect">
            <a:avLst/>
          </a:prstGeom>
          <a:solidFill>
            <a:srgbClr val="6DCFF6"/>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1027" name="Rectangle 2">
            <a:extLst>
              <a:ext uri="{FF2B5EF4-FFF2-40B4-BE49-F238E27FC236}">
                <a16:creationId xmlns:a16="http://schemas.microsoft.com/office/drawing/2014/main" id="{81654214-8CF5-4886-F508-6ECC010903C2}"/>
              </a:ext>
            </a:extLst>
          </p:cNvPr>
          <p:cNvSpPr>
            <a:spLocks noChangeArrowheads="1"/>
          </p:cNvSpPr>
          <p:nvPr/>
        </p:nvSpPr>
        <p:spPr bwMode="auto">
          <a:xfrm>
            <a:off x="203200" y="304800"/>
            <a:ext cx="203200" cy="152400"/>
          </a:xfrm>
          <a:prstGeom prst="rect">
            <a:avLst/>
          </a:prstGeom>
          <a:solidFill>
            <a:srgbClr val="6DCFF6"/>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1028" name="Rectangle 3">
            <a:extLst>
              <a:ext uri="{FF2B5EF4-FFF2-40B4-BE49-F238E27FC236}">
                <a16:creationId xmlns:a16="http://schemas.microsoft.com/office/drawing/2014/main" id="{034D18F4-BCDD-0F4A-ABB1-A4F13BA789A9}"/>
              </a:ext>
            </a:extLst>
          </p:cNvPr>
          <p:cNvSpPr>
            <a:spLocks noChangeArrowheads="1"/>
          </p:cNvSpPr>
          <p:nvPr/>
        </p:nvSpPr>
        <p:spPr bwMode="auto">
          <a:xfrm>
            <a:off x="1422400" y="2971800"/>
            <a:ext cx="711200" cy="381000"/>
          </a:xfrm>
          <a:prstGeom prst="rect">
            <a:avLst/>
          </a:prstGeom>
          <a:solidFill>
            <a:srgbClr val="6DCFF6"/>
          </a:solidFill>
          <a:ln w="12600" cap="sq">
            <a:solidFill>
              <a:srgbClr val="B9AFA4"/>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en-IN" altLang="en-US"/>
          </a:p>
        </p:txBody>
      </p:sp>
      <p:pic>
        <p:nvPicPr>
          <p:cNvPr id="1029" name="Picture 4">
            <a:extLst>
              <a:ext uri="{FF2B5EF4-FFF2-40B4-BE49-F238E27FC236}">
                <a16:creationId xmlns:a16="http://schemas.microsoft.com/office/drawing/2014/main" id="{04181F6A-E914-12E5-C1D8-5997A4B1BC8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099" y="1"/>
            <a:ext cx="12230100" cy="6848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0" name="Rectangle 5">
            <a:extLst>
              <a:ext uri="{FF2B5EF4-FFF2-40B4-BE49-F238E27FC236}">
                <a16:creationId xmlns:a16="http://schemas.microsoft.com/office/drawing/2014/main" id="{A303D417-D881-42BB-8573-5C3D916EF347}"/>
              </a:ext>
            </a:extLst>
          </p:cNvPr>
          <p:cNvSpPr>
            <a:spLocks noGrp="1" noChangeArrowheads="1"/>
          </p:cNvSpPr>
          <p:nvPr>
            <p:ph type="title"/>
          </p:nvPr>
        </p:nvSpPr>
        <p:spPr bwMode="auto">
          <a:xfrm>
            <a:off x="1695452" y="114300"/>
            <a:ext cx="10113433"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31" name="Rectangle 6">
            <a:extLst>
              <a:ext uri="{FF2B5EF4-FFF2-40B4-BE49-F238E27FC236}">
                <a16:creationId xmlns:a16="http://schemas.microsoft.com/office/drawing/2014/main" id="{6F1A6DA5-F09F-5830-9706-DC86BCFF7364}"/>
              </a:ext>
            </a:extLst>
          </p:cNvPr>
          <p:cNvSpPr>
            <a:spLocks noGrp="1" noChangeArrowheads="1"/>
          </p:cNvSpPr>
          <p:nvPr>
            <p:ph type="body" idx="1"/>
          </p:nvPr>
        </p:nvSpPr>
        <p:spPr bwMode="auto">
          <a:xfrm>
            <a:off x="486834" y="904875"/>
            <a:ext cx="11233151" cy="447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Text Box 7">
            <a:extLst>
              <a:ext uri="{FF2B5EF4-FFF2-40B4-BE49-F238E27FC236}">
                <a16:creationId xmlns:a16="http://schemas.microsoft.com/office/drawing/2014/main" id="{9F5B44A0-3296-F18A-7CF3-1F7D1849D9AB}"/>
              </a:ext>
            </a:extLst>
          </p:cNvPr>
          <p:cNvSpPr txBox="1">
            <a:spLocks noChangeArrowheads="1"/>
          </p:cNvSpPr>
          <p:nvPr/>
        </p:nvSpPr>
        <p:spPr bwMode="auto">
          <a:xfrm>
            <a:off x="10941051" y="6324601"/>
            <a:ext cx="884767" cy="360363"/>
          </a:xfrm>
          <a:prstGeom prst="rect">
            <a:avLst/>
          </a:prstGeom>
          <a:noFill/>
          <a:ln>
            <a:noFill/>
          </a:ln>
          <a:effec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9pPr>
          </a:lstStyle>
          <a:p>
            <a:pPr algn="r" eaLnBrk="1" hangingPunct="1">
              <a:buSzPct val="100000"/>
              <a:defRPr/>
            </a:pPr>
            <a:fld id="{02508528-15E7-4BEE-A88F-B7EADA74C784}" type="slidenum">
              <a:rPr lang="en-US" altLang="en-US" sz="1200" smtClean="0">
                <a:solidFill>
                  <a:srgbClr val="000000"/>
                </a:solidFill>
                <a:latin typeface="Myriad Pro" pitchFamily="32" charset="0"/>
              </a:rPr>
              <a:pPr algn="r" eaLnBrk="1" hangingPunct="1">
                <a:buSzPct val="100000"/>
                <a:defRPr/>
              </a:pPr>
              <a:t>‹#›</a:t>
            </a:fld>
            <a:endParaRPr lang="en-US" altLang="en-US" sz="1200">
              <a:solidFill>
                <a:srgbClr val="000000"/>
              </a:solidFill>
              <a:latin typeface="Myriad Pro" pitchFamily="32" charset="0"/>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FFFFFF"/>
          </a:solidFill>
          <a:latin typeface="+mj-lt"/>
          <a:ea typeface="+mj-ea"/>
          <a:cs typeface="+mj-cs"/>
        </a:defRPr>
      </a:lvl1pPr>
      <a:lvl2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2pPr>
      <a:lvl3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3pPr>
      <a:lvl4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4pPr>
      <a:lvl5pPr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FFFFFF"/>
          </a:solidFill>
          <a:latin typeface="Myriad Pro" pitchFamily="32" charset="0"/>
          <a:ea typeface="Microsoft YaHei" panose="020B0503020204020204" pitchFamily="34" charset="-122"/>
        </a:defRPr>
      </a:lvl9pPr>
    </p:titleStyle>
    <p:bodyStyle>
      <a:lvl1pPr marL="342900" indent="-342900" algn="l" defTabSz="457200" rtl="0" eaLnBrk="0" fontAlgn="base" hangingPunct="0">
        <a:spcBef>
          <a:spcPts val="550"/>
        </a:spcBef>
        <a:spcAft>
          <a:spcPct val="0"/>
        </a:spcAft>
        <a:buClr>
          <a:srgbClr val="000000"/>
        </a:buClr>
        <a:buSzPct val="100000"/>
        <a:buFont typeface="Times New Roman" panose="02020603050405020304" pitchFamily="18" charset="0"/>
        <a:defRPr sz="2200" kern="1200">
          <a:solidFill>
            <a:srgbClr val="000000"/>
          </a:solidFill>
          <a:latin typeface="+mn-lt"/>
          <a:ea typeface="+mn-ea"/>
          <a:cs typeface="+mn-cs"/>
        </a:defRPr>
      </a:lvl1pPr>
      <a:lvl2pPr marL="742950" indent="-285750" algn="l" defTabSz="457200" rtl="0" eaLnBrk="0" fontAlgn="base" hangingPunct="0">
        <a:spcBef>
          <a:spcPts val="550"/>
        </a:spcBef>
        <a:spcAft>
          <a:spcPct val="0"/>
        </a:spcAft>
        <a:buClr>
          <a:srgbClr val="000000"/>
        </a:buClr>
        <a:buSzPct val="100000"/>
        <a:buFont typeface="Times New Roman" panose="02020603050405020304" pitchFamily="18" charset="0"/>
        <a:defRPr sz="2200" kern="1200">
          <a:solidFill>
            <a:srgbClr val="000000"/>
          </a:solidFill>
          <a:latin typeface="+mn-lt"/>
          <a:ea typeface="+mn-ea"/>
          <a:cs typeface="+mn-cs"/>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p:nvSpPr>
        <p:spPr>
          <a:xfrm>
            <a:off x="304800" y="304800"/>
            <a:ext cx="406400" cy="152400"/>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1" name="Rectangle 80"/>
          <p:cNvSpPr/>
          <p:nvPr/>
        </p:nvSpPr>
        <p:spPr>
          <a:xfrm>
            <a:off x="0" y="0"/>
            <a:ext cx="12192000" cy="10668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1727200" y="331694"/>
            <a:ext cx="10058400" cy="4873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48192" y="1189037"/>
            <a:ext cx="1123740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endParaRPr lang="en-US"/>
          </a:p>
        </p:txBody>
      </p:sp>
      <p:sp>
        <p:nvSpPr>
          <p:cNvPr id="9" name="Rectangle 71"/>
          <p:cNvSpPr txBox="1">
            <a:spLocks noChangeArrowheads="1"/>
          </p:cNvSpPr>
          <p:nvPr/>
        </p:nvSpPr>
        <p:spPr bwMode="auto">
          <a:xfrm>
            <a:off x="10972801" y="6311900"/>
            <a:ext cx="884767" cy="3603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000">
                <a:solidFill>
                  <a:srgbClr val="4E84C4"/>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B55AB4-0D57-4FBE-946B-A81E4A9D2A4C}" type="slidenum">
              <a:rPr lang="en-US" sz="1200" kern="1200" noProof="0" smtClean="0">
                <a:solidFill>
                  <a:schemeClr val="tx1"/>
                </a:solidFill>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r>
              <a:rPr lang="en-US" sz="1200" kern="1200" noProof="0">
                <a:solidFill>
                  <a:schemeClr val="tx1"/>
                </a:solidFill>
                <a:latin typeface="Arial" pitchFamily="34" charset="0"/>
                <a:ea typeface="+mn-ea"/>
                <a:cs typeface="Arial" pitchFamily="34" charset="0"/>
              </a:rPr>
              <a:t> </a:t>
            </a:r>
          </a:p>
        </p:txBody>
      </p:sp>
      <p:grpSp>
        <p:nvGrpSpPr>
          <p:cNvPr id="5" name="Group 8"/>
          <p:cNvGrpSpPr>
            <a:grpSpLocks noChangeAspect="1"/>
          </p:cNvGrpSpPr>
          <p:nvPr/>
        </p:nvGrpSpPr>
        <p:grpSpPr bwMode="auto">
          <a:xfrm>
            <a:off x="567267" y="6426200"/>
            <a:ext cx="3230189" cy="279400"/>
            <a:chOff x="240" y="3744"/>
            <a:chExt cx="2055" cy="237"/>
          </a:xfrm>
        </p:grpSpPr>
        <p:sp>
          <p:nvSpPr>
            <p:cNvPr id="76" name="AutoShape 7"/>
            <p:cNvSpPr>
              <a:spLocks noChangeAspect="1" noChangeArrowheads="1" noTextEdit="1"/>
            </p:cNvSpPr>
            <p:nvPr userDrawn="1"/>
          </p:nvSpPr>
          <p:spPr bwMode="auto">
            <a:xfrm>
              <a:off x="240" y="3744"/>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77" name="Freeform 9"/>
            <p:cNvSpPr>
              <a:spLocks noEditPoints="1"/>
            </p:cNvSpPr>
            <p:nvPr userDrawn="1"/>
          </p:nvSpPr>
          <p:spPr bwMode="auto">
            <a:xfrm>
              <a:off x="1355" y="3744"/>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8" name="Freeform 10"/>
            <p:cNvSpPr>
              <a:spLocks noEditPoints="1"/>
            </p:cNvSpPr>
            <p:nvPr userDrawn="1"/>
          </p:nvSpPr>
          <p:spPr bwMode="auto">
            <a:xfrm>
              <a:off x="590" y="3744"/>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9" name="Freeform 11"/>
            <p:cNvSpPr>
              <a:spLocks noEditPoints="1"/>
            </p:cNvSpPr>
            <p:nvPr userDrawn="1"/>
          </p:nvSpPr>
          <p:spPr bwMode="auto">
            <a:xfrm>
              <a:off x="240" y="3745"/>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80" name="Freeform 12"/>
            <p:cNvSpPr>
              <a:spLocks noEditPoints="1"/>
            </p:cNvSpPr>
            <p:nvPr userDrawn="1"/>
          </p:nvSpPr>
          <p:spPr bwMode="auto">
            <a:xfrm>
              <a:off x="1301" y="3876"/>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7D99CA"/>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grpSp>
      <p:sp>
        <p:nvSpPr>
          <p:cNvPr id="1027" name="AutoShape 3"/>
          <p:cNvSpPr>
            <a:spLocks noChangeAspect="1" noChangeArrowheads="1" noTextEdit="1"/>
          </p:cNvSpPr>
          <p:nvPr/>
        </p:nvSpPr>
        <p:spPr bwMode="auto">
          <a:xfrm>
            <a:off x="0" y="3810001"/>
            <a:ext cx="12192000" cy="1057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pic>
        <p:nvPicPr>
          <p:cNvPr id="4" name="Picture 2" descr="Q:\Repro 2\New guidelines 2011_12\Final 260411\PPT\OLD\050511\WMF\text slide pattern_2 boxes_060511.wmf"/>
          <p:cNvPicPr>
            <a:picLocks noChangeAspect="1" noChangeArrowheads="1"/>
          </p:cNvPicPr>
          <p:nvPr/>
        </p:nvPicPr>
        <p:blipFill>
          <a:blip r:embed="rId14"/>
          <a:srcRect/>
          <a:stretch>
            <a:fillRect/>
          </a:stretch>
        </p:blipFill>
        <p:spPr bwMode="auto">
          <a:xfrm>
            <a:off x="0" y="1"/>
            <a:ext cx="1658443" cy="1066800"/>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28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4E84C4"/>
        </a:buClr>
        <a:buFont typeface="Wingdings" pitchFamily="2" charset="2"/>
        <a:buChar char="§"/>
        <a:defRPr sz="2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rgbClr val="4E84C4"/>
        </a:buClr>
        <a:buFont typeface="Myriad Pro" pitchFamily="34" charset="0"/>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rgbClr val="4E84C4"/>
        </a:buClr>
        <a:buFont typeface="Courier New" pitchFamily="49" charset="0"/>
        <a:buChar char="o"/>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rgbClr val="4E84C4"/>
        </a:buClr>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2290" name="Text Box 1">
            <a:extLst>
              <a:ext uri="{FF2B5EF4-FFF2-40B4-BE49-F238E27FC236}">
                <a16:creationId xmlns:a16="http://schemas.microsoft.com/office/drawing/2014/main" id="{4DBBE84C-D710-38BF-7A24-D49DCDCD03C9}"/>
              </a:ext>
            </a:extLst>
          </p:cNvPr>
          <p:cNvSpPr txBox="1">
            <a:spLocks noChangeArrowheads="1"/>
          </p:cNvSpPr>
          <p:nvPr/>
        </p:nvSpPr>
        <p:spPr bwMode="auto">
          <a:xfrm>
            <a:off x="9144000" y="6215064"/>
            <a:ext cx="1524000"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 Box 2">
            <a:extLst>
              <a:ext uri="{FF2B5EF4-FFF2-40B4-BE49-F238E27FC236}">
                <a16:creationId xmlns:a16="http://schemas.microsoft.com/office/drawing/2014/main" id="{94169715-95B2-5C14-7321-918440BF0A28}"/>
              </a:ext>
            </a:extLst>
          </p:cNvPr>
          <p:cNvSpPr txBox="1">
            <a:spLocks noChangeArrowheads="1"/>
          </p:cNvSpPr>
          <p:nvPr/>
        </p:nvSpPr>
        <p:spPr bwMode="auto">
          <a:xfrm>
            <a:off x="1719264" y="2895600"/>
            <a:ext cx="8643937" cy="2971800"/>
          </a:xfrm>
          <a:prstGeom prst="rect">
            <a:avLst/>
          </a:prstGeom>
          <a:noFill/>
          <a:ln>
            <a:noFill/>
          </a:ln>
          <a:effectLst/>
        </p:spPr>
        <p:txBody>
          <a:bodyPr lIns="90000" tIns="46800" rIns="90000" bIns="4680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latin typeface="Arial" panose="020B0604020202020204" pitchFamily="34" charset="0"/>
                <a:ea typeface="Microsoft YaHei" panose="020B0503020204020204" pitchFamily="34" charset="-122"/>
              </a:defRPr>
            </a:lvl9pPr>
          </a:lstStyle>
          <a:p>
            <a:pPr eaLnBrk="1" hangingPunct="1">
              <a:buSzPct val="100000"/>
              <a:defRPr/>
            </a:pPr>
            <a:endParaRPr lang="en-US" altLang="en-US" sz="5400">
              <a:solidFill>
                <a:srgbClr val="000000"/>
              </a:solidFill>
              <a:effectLst>
                <a:outerShdw blurRad="38100" dist="38100" dir="2700000" algn="tl">
                  <a:srgbClr val="FFFFFF"/>
                </a:outerShdw>
              </a:effectLst>
              <a:latin typeface="Tahoma" panose="020B0604030504040204" pitchFamily="34" charset="0"/>
              <a:cs typeface="Tahoma" panose="020B0604030504040204" pitchFamily="34" charset="0"/>
            </a:endParaRPr>
          </a:p>
          <a:p>
            <a:pPr eaLnBrk="1" hangingPunct="1">
              <a:buSzPct val="100000"/>
              <a:defRPr/>
            </a:pPr>
            <a:br>
              <a:rPr lang="en-US" altLang="en-US" sz="5400">
                <a:solidFill>
                  <a:srgbClr val="000000"/>
                </a:solidFill>
                <a:effectLst>
                  <a:outerShdw blurRad="38100" dist="38100" dir="2700000" algn="tl">
                    <a:srgbClr val="FFFFFF"/>
                  </a:outerShdw>
                </a:effectLst>
                <a:latin typeface="Tahoma" panose="020B0604030504040204" pitchFamily="34" charset="0"/>
                <a:cs typeface="Tahoma" panose="020B0604030504040204" pitchFamily="34" charset="0"/>
              </a:rPr>
            </a:br>
            <a:br>
              <a:rPr lang="en-US" altLang="en-US" sz="5400">
                <a:solidFill>
                  <a:srgbClr val="000000"/>
                </a:solidFill>
                <a:effectLst>
                  <a:outerShdw blurRad="38100" dist="38100" dir="2700000" algn="tl">
                    <a:srgbClr val="FFFFFF"/>
                  </a:outerShdw>
                </a:effectLst>
                <a:latin typeface="Tahoma" panose="020B0604030504040204" pitchFamily="34" charset="0"/>
                <a:cs typeface="Tahoma" panose="020B0604030504040204" pitchFamily="34" charset="0"/>
              </a:rPr>
            </a:br>
            <a:endParaRPr lang="en-US" altLang="en-US" sz="5400">
              <a:solidFill>
                <a:srgbClr val="000000"/>
              </a:solidFill>
              <a:effectLst>
                <a:outerShdw blurRad="38100" dist="38100" dir="2700000" algn="tl">
                  <a:srgbClr val="FFFFFF"/>
                </a:outerShdw>
              </a:effectLst>
              <a:latin typeface="Tahoma" panose="020B0604030504040204" pitchFamily="34" charset="0"/>
              <a:cs typeface="Tahoma" panose="020B0604030504040204" pitchFamily="34" charset="0"/>
            </a:endParaRPr>
          </a:p>
        </p:txBody>
      </p:sp>
      <p:sp>
        <p:nvSpPr>
          <p:cNvPr id="12292" name="Text Box 3">
            <a:extLst>
              <a:ext uri="{FF2B5EF4-FFF2-40B4-BE49-F238E27FC236}">
                <a16:creationId xmlns:a16="http://schemas.microsoft.com/office/drawing/2014/main" id="{D23C8510-367C-421A-B353-BFD354832574}"/>
              </a:ext>
            </a:extLst>
          </p:cNvPr>
          <p:cNvSpPr txBox="1">
            <a:spLocks noChangeArrowheads="1"/>
          </p:cNvSpPr>
          <p:nvPr/>
        </p:nvSpPr>
        <p:spPr bwMode="auto">
          <a:xfrm>
            <a:off x="1828800" y="6223001"/>
            <a:ext cx="3581400" cy="246063"/>
          </a:xfrm>
          <a:prstGeom prst="rect">
            <a:avLst/>
          </a:prstGeom>
          <a:solidFill>
            <a:srgbClr val="98B4E6"/>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000">
                <a:solidFill>
                  <a:srgbClr val="000000"/>
                </a:solidFill>
              </a:rPr>
              <a:t>Copyright © 2013 TATA Consultancy Services Limited</a:t>
            </a:r>
          </a:p>
        </p:txBody>
      </p:sp>
      <p:sp>
        <p:nvSpPr>
          <p:cNvPr id="3" name="Text Box 4">
            <a:extLst>
              <a:ext uri="{FF2B5EF4-FFF2-40B4-BE49-F238E27FC236}">
                <a16:creationId xmlns:a16="http://schemas.microsoft.com/office/drawing/2014/main" id="{1C244D2C-001C-A633-2BC5-6774A14A3584}"/>
              </a:ext>
            </a:extLst>
          </p:cNvPr>
          <p:cNvSpPr txBox="1">
            <a:spLocks noChangeArrowheads="1"/>
          </p:cNvSpPr>
          <p:nvPr/>
        </p:nvSpPr>
        <p:spPr bwMode="auto">
          <a:xfrm>
            <a:off x="1719077" y="274638"/>
            <a:ext cx="9365781" cy="6400800"/>
          </a:xfrm>
          <a:prstGeom prst="rect">
            <a:avLst/>
          </a:prstGeom>
          <a:noFill/>
          <a:ln>
            <a:noFill/>
          </a:ln>
          <a:effectLst/>
        </p:spPr>
        <p:txBody>
          <a:bodyPr lIns="0" tIns="0" rIns="0" bIns="0" anchor="ctr"/>
          <a:lstStyle>
            <a:lvl1pPr marL="342900" indent="-300038">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1pPr>
            <a:lvl2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2pPr>
            <a:lvl3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3pPr>
            <a:lvl4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4pPr>
            <a:lvl5pPr>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342900" algn="l"/>
                <a:tab pos="800100" algn="l"/>
                <a:tab pos="1257300" algn="l"/>
                <a:tab pos="1714500" algn="l"/>
                <a:tab pos="2171700" algn="l"/>
                <a:tab pos="2628900" algn="l"/>
                <a:tab pos="3086100" algn="l"/>
                <a:tab pos="3543300" algn="l"/>
                <a:tab pos="4000500" algn="l"/>
                <a:tab pos="4457700" algn="l"/>
                <a:tab pos="4914900" algn="l"/>
                <a:tab pos="5372100" algn="l"/>
                <a:tab pos="5829300" algn="l"/>
                <a:tab pos="6286500" algn="l"/>
                <a:tab pos="6743700" algn="l"/>
                <a:tab pos="7200900" algn="l"/>
                <a:tab pos="7658100" algn="l"/>
                <a:tab pos="8115300" algn="l"/>
                <a:tab pos="8572500" algn="l"/>
                <a:tab pos="9029700" algn="l"/>
                <a:tab pos="9486900" algn="l"/>
              </a:tabLst>
              <a:defRPr>
                <a:solidFill>
                  <a:srgbClr val="FFFFFF"/>
                </a:solidFill>
                <a:latin typeface="Arial" panose="020B0604020202020204" pitchFamily="34" charset="0"/>
                <a:ea typeface="Microsoft YaHei" panose="020B0503020204020204" pitchFamily="34" charset="-122"/>
              </a:defRPr>
            </a:lvl9pPr>
          </a:lstStyle>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28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28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28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28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26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r>
              <a:rPr lang="en-US" altLang="en-US" sz="4100" dirty="0">
                <a:effectLst>
                  <a:outerShdw blurRad="38100" dist="38100" dir="2700000" algn="tl">
                    <a:srgbClr val="000000"/>
                  </a:outerShdw>
                </a:effectLst>
                <a:latin typeface="Verdana"/>
                <a:ea typeface="Microsoft YaHei"/>
                <a:cs typeface="Tahoma"/>
              </a:rPr>
              <a:t>Technology: UI Web Development</a:t>
            </a:r>
            <a:endParaRPr lang="en-US" altLang="en-US" sz="4100" dirty="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br>
              <a:rPr lang="en-US" altLang="en-US" sz="4000" dirty="0">
                <a:effectLst>
                  <a:outerShdw blurRad="38100" dist="38100" dir="2700000" algn="tl">
                    <a:srgbClr val="000000"/>
                  </a:outerShdw>
                </a:effectLst>
                <a:latin typeface="Verdana" panose="020B0604030504040204" pitchFamily="34" charset="0"/>
                <a:cs typeface="Tahoma" panose="020B0604030504040204" pitchFamily="34" charset="0"/>
              </a:rPr>
            </a:b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a:p>
            <a:pPr indent="-299720" algn="ctr">
              <a:spcBef>
                <a:spcPts val="550"/>
              </a:spcBef>
              <a:buSzPct val="100000"/>
              <a:defRPr/>
            </a:pPr>
            <a:endParaRPr lang="en-US" altLang="en-US" sz="4000">
              <a:effectLst>
                <a:outerShdw blurRad="38100" dist="38100" dir="2700000" algn="tl">
                  <a:srgbClr val="000000"/>
                </a:outerShdw>
              </a:effectLst>
              <a:latin typeface="Verdan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19558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852480" y="1711173"/>
            <a:ext cx="11002538"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indent="-537845">
              <a:spcBef>
                <a:spcPts val="550"/>
              </a:spcBef>
              <a:buClrTx/>
            </a:pPr>
            <a:r>
              <a:rPr lang="en-US" altLang="en-US" sz="3600" b="1" dirty="0">
                <a:solidFill>
                  <a:srgbClr val="000000"/>
                </a:solidFill>
                <a:latin typeface="Verdana"/>
                <a:ea typeface="Microsoft YaHei"/>
              </a:rPr>
              <a:t>AGENDA</a:t>
            </a:r>
          </a:p>
          <a:p>
            <a:pPr marL="2430780" indent="-571500">
              <a:spcBef>
                <a:spcPts val="550"/>
              </a:spcBef>
              <a:buClrTx/>
              <a:buFont typeface="Arial" panose="02020603050405020304" pitchFamily="18" charset="0"/>
              <a:buChar char="•"/>
            </a:pPr>
            <a:r>
              <a:rPr lang="en-US" altLang="en-US" sz="2400" dirty="0">
                <a:solidFill>
                  <a:srgbClr val="000000"/>
                </a:solidFill>
                <a:latin typeface="Verdana"/>
                <a:ea typeface="Microsoft YaHei"/>
              </a:rPr>
              <a:t>Create Web Pages. (HTML)</a:t>
            </a:r>
          </a:p>
          <a:p>
            <a:pPr marL="2430780" indent="-571500">
              <a:spcBef>
                <a:spcPts val="550"/>
              </a:spcBef>
              <a:buClrTx/>
              <a:buFont typeface="Arial" panose="02020603050405020304" pitchFamily="18" charset="0"/>
              <a:buChar char="•"/>
            </a:pPr>
            <a:r>
              <a:rPr lang="en-US" altLang="en-US" sz="2400" dirty="0">
                <a:solidFill>
                  <a:srgbClr val="000000"/>
                </a:solidFill>
                <a:latin typeface="Verdana"/>
                <a:ea typeface="Microsoft YaHei"/>
              </a:rPr>
              <a:t>Applying styling to the web pages. (CSS)</a:t>
            </a:r>
            <a:endParaRPr lang="en-US" altLang="en-US" sz="2400" dirty="0">
              <a:solidFill>
                <a:srgbClr val="000000"/>
              </a:solidFill>
              <a:latin typeface="Verdana" panose="020B0604030504040204" pitchFamily="34" charset="0"/>
            </a:endParaRPr>
          </a:p>
          <a:p>
            <a:pPr marL="2430780" indent="-571500">
              <a:spcBef>
                <a:spcPts val="550"/>
              </a:spcBef>
              <a:buClrTx/>
              <a:buFont typeface="Arial" panose="02020603050405020304" pitchFamily="18" charset="0"/>
              <a:buChar char="•"/>
            </a:pPr>
            <a:r>
              <a:rPr lang="en-US" altLang="en-US" sz="2400" dirty="0">
                <a:solidFill>
                  <a:srgbClr val="000000"/>
                </a:solidFill>
                <a:latin typeface="Verdana"/>
                <a:ea typeface="Microsoft YaHei"/>
              </a:rPr>
              <a:t>Make Web pages responsive. (JAVASCRIPT)</a:t>
            </a:r>
            <a:endParaRPr lang="en-US" altLang="en-US" sz="2400" dirty="0">
              <a:solidFill>
                <a:srgbClr val="000000"/>
              </a:solidFill>
              <a:latin typeface="Verdana" panose="020B0604030504040204" pitchFamily="34" charset="0"/>
            </a:endParaRPr>
          </a:p>
          <a:p>
            <a:pPr marL="2430780" indent="-571500">
              <a:spcBef>
                <a:spcPts val="550"/>
              </a:spcBef>
              <a:buClrTx/>
              <a:buFont typeface="Arial" panose="02020603050405020304" pitchFamily="18" charset="0"/>
              <a:buChar char="•"/>
            </a:pPr>
            <a:endParaRPr lang="en-US" altLang="en-US" sz="24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168874964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3540225" y="2742114"/>
            <a:ext cx="5119450"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indent="-537845">
              <a:spcBef>
                <a:spcPts val="550"/>
              </a:spcBef>
              <a:buClrTx/>
            </a:pPr>
            <a:r>
              <a:rPr lang="en-US" altLang="en-US" sz="4000" b="1" dirty="0">
                <a:solidFill>
                  <a:srgbClr val="000000"/>
                </a:solidFill>
                <a:latin typeface="Verdana"/>
                <a:ea typeface="Microsoft YaHei"/>
              </a:rPr>
              <a:t>HTML</a:t>
            </a:r>
            <a:endParaRPr lang="en-US" altLang="en-US" sz="3600" b="1" dirty="0">
              <a:solidFill>
                <a:srgbClr val="000000"/>
              </a:solidFill>
              <a:latin typeface="Verdana" panose="020B0604030504040204" pitchFamily="34" charset="0"/>
            </a:endParaRPr>
          </a:p>
          <a:p>
            <a:pPr marL="2430780" indent="-571500">
              <a:spcBef>
                <a:spcPts val="550"/>
              </a:spcBef>
              <a:buClrTx/>
              <a:buFont typeface="Arial" panose="02020603050405020304" pitchFamily="18" charset="0"/>
              <a:buChar char="•"/>
            </a:pPr>
            <a:endParaRPr lang="en-US" altLang="en-US" sz="24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222304729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774039" y="2047350"/>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What is Html?</a:t>
            </a:r>
          </a:p>
          <a:p>
            <a:pPr marL="2373630" indent="-514350">
              <a:spcBef>
                <a:spcPts val="550"/>
              </a:spcBef>
              <a:buClrTx/>
              <a:buAutoNum type="arabicPeriod"/>
            </a:pPr>
            <a:r>
              <a:rPr lang="en-US" altLang="en-US" sz="2400" dirty="0">
                <a:solidFill>
                  <a:srgbClr val="000000"/>
                </a:solidFill>
                <a:latin typeface="Verdana"/>
                <a:ea typeface="Microsoft YaHei"/>
              </a:rPr>
              <a:t>Hyper Text Markup Language</a:t>
            </a:r>
          </a:p>
          <a:p>
            <a:pPr marL="2373630" indent="-514350">
              <a:spcBef>
                <a:spcPts val="550"/>
              </a:spcBef>
              <a:buClrTx/>
              <a:buAutoNum type="arabicPeriod"/>
            </a:pPr>
            <a:r>
              <a:rPr lang="en-US" altLang="en-US" sz="2400" dirty="0">
                <a:solidFill>
                  <a:srgbClr val="000000"/>
                </a:solidFill>
                <a:latin typeface="Verdana"/>
                <a:ea typeface="Microsoft YaHei"/>
              </a:rPr>
              <a:t>It is not a programming language</a:t>
            </a:r>
          </a:p>
          <a:p>
            <a:pPr marL="2373630" indent="-514350">
              <a:spcBef>
                <a:spcPts val="550"/>
              </a:spcBef>
              <a:buClrTx/>
              <a:buAutoNum type="arabicPeriod"/>
            </a:pPr>
            <a:r>
              <a:rPr lang="en-US" altLang="en-US" sz="2400" dirty="0">
                <a:solidFill>
                  <a:srgbClr val="000000"/>
                </a:solidFill>
                <a:latin typeface="Verdana"/>
                <a:ea typeface="Microsoft YaHei"/>
              </a:rPr>
              <a:t>100% all websites uses html.</a:t>
            </a:r>
          </a:p>
          <a:p>
            <a:pPr marL="2373630" indent="-514350">
              <a:spcBef>
                <a:spcPts val="550"/>
              </a:spcBef>
              <a:buClrTx/>
              <a:buAutoNum type="arabicPeriod"/>
            </a:pPr>
            <a:r>
              <a:rPr lang="en-US" altLang="en-US" sz="2400" dirty="0">
                <a:solidFill>
                  <a:srgbClr val="000000"/>
                </a:solidFill>
                <a:latin typeface="Verdana"/>
                <a:ea typeface="Microsoft YaHei"/>
              </a:rPr>
              <a:t>It is the backbone behind every website. We layer code on top of html but without html there is no website</a:t>
            </a:r>
            <a:endParaRPr lang="en-US" altLang="en-US" sz="2000">
              <a:solidFill>
                <a:srgbClr val="000000"/>
              </a:solidFill>
              <a:latin typeface="Verdana"/>
              <a:ea typeface="Microsoft YaHei"/>
            </a:endParaRPr>
          </a:p>
          <a:p>
            <a:pPr marL="1859280" indent="0">
              <a:spcBef>
                <a:spcPts val="550"/>
              </a:spcBef>
              <a:buClrTx/>
            </a:pPr>
            <a:r>
              <a:rPr lang="en-US" altLang="en-US" sz="2800" b="1" dirty="0">
                <a:solidFill>
                  <a:srgbClr val="000000"/>
                </a:solidFill>
                <a:latin typeface="Verdana"/>
                <a:ea typeface="Microsoft YaHei"/>
              </a:rPr>
              <a:t>What is HTML5?</a:t>
            </a:r>
            <a:endParaRPr lang="en-US" altLang="en-US" sz="2800" b="1" dirty="0">
              <a:solidFill>
                <a:srgbClr val="000000"/>
              </a:solidFill>
              <a:latin typeface="Verdana" panose="020B0604030504040204" pitchFamily="34" charset="0"/>
            </a:endParaRPr>
          </a:p>
          <a:p>
            <a:pPr marL="2373630" indent="-514350">
              <a:spcBef>
                <a:spcPts val="550"/>
              </a:spcBef>
              <a:buClrTx/>
              <a:buAutoNum type="arabicPeriod"/>
            </a:pPr>
            <a:r>
              <a:rPr lang="en-US" altLang="en-US" sz="2400" dirty="0">
                <a:solidFill>
                  <a:srgbClr val="000000"/>
                </a:solidFill>
                <a:latin typeface="Verdana"/>
                <a:ea typeface="Microsoft YaHei"/>
              </a:rPr>
              <a:t>Html5 supports audio and video controls with the use of tags.</a:t>
            </a:r>
            <a:endParaRPr lang="en-US" altLang="en-US" sz="2400" dirty="0">
              <a:solidFill>
                <a:srgbClr val="000000"/>
              </a:solidFill>
              <a:latin typeface="Verdana" panose="020B0604030504040204" pitchFamily="34" charset="0"/>
            </a:endParaRPr>
          </a:p>
          <a:p>
            <a:pPr marL="2373630" indent="-514350">
              <a:spcBef>
                <a:spcPts val="550"/>
              </a:spcBef>
              <a:buClrTx/>
              <a:buAutoNum type="arabicPeriod"/>
            </a:pPr>
            <a:r>
              <a:rPr lang="en-US" altLang="en-US" sz="2400" dirty="0">
                <a:solidFill>
                  <a:srgbClr val="000000"/>
                </a:solidFill>
                <a:latin typeface="Verdana"/>
                <a:ea typeface="Microsoft YaHei"/>
              </a:rPr>
              <a:t>Offers storage options such as SQL Database, application cache and web storage.</a:t>
            </a:r>
            <a:endParaRPr lang="en-US" altLang="en-US" sz="2400" dirty="0">
              <a:solidFill>
                <a:srgbClr val="000000"/>
              </a:solidFill>
              <a:latin typeface="Verdana" panose="020B0604030504040204" pitchFamily="34" charset="0"/>
            </a:endParaRPr>
          </a:p>
          <a:p>
            <a:pPr marL="2373630" indent="-514350">
              <a:spcBef>
                <a:spcPts val="550"/>
              </a:spcBef>
              <a:buClrTx/>
              <a:buAutoNum type="arabicPeriod"/>
            </a:pPr>
            <a:r>
              <a:rPr lang="en-US" altLang="en-US" sz="2400" dirty="0">
                <a:solidFill>
                  <a:srgbClr val="000000"/>
                </a:solidFill>
                <a:latin typeface="Verdana"/>
                <a:ea typeface="Microsoft YaHei"/>
              </a:rPr>
              <a:t>It has </a:t>
            </a:r>
            <a:r>
              <a:rPr lang="en-US" altLang="en-US" sz="2400" noProof="1">
                <a:solidFill>
                  <a:srgbClr val="000000"/>
                </a:solidFill>
                <a:latin typeface="Verdana"/>
                <a:ea typeface="Microsoft YaHei"/>
              </a:rPr>
              <a:t>Javascript </a:t>
            </a:r>
            <a:r>
              <a:rPr lang="en-US" altLang="en-US" sz="2400" dirty="0">
                <a:solidFill>
                  <a:srgbClr val="000000"/>
                </a:solidFill>
                <a:latin typeface="Verdana"/>
                <a:ea typeface="Microsoft YaHei"/>
              </a:rPr>
              <a:t>geolocation API which can be used to identify any user's location when accessing the website.</a:t>
            </a:r>
            <a:endParaRPr lang="en-US" altLang="en-US" sz="2400" dirty="0">
              <a:solidFill>
                <a:srgbClr val="000000"/>
              </a:solidFill>
              <a:latin typeface="Verdana" panose="020B0604030504040204" pitchFamily="34" charset="0"/>
            </a:endParaRPr>
          </a:p>
          <a:p>
            <a:pPr marL="2373630" indent="-514350">
              <a:spcBef>
                <a:spcPts val="550"/>
              </a:spcBef>
              <a:buClrTx/>
              <a:buAutoNum type="arabicPeriod"/>
            </a:pPr>
            <a:endParaRPr lang="en-US" altLang="en-US" sz="2400" dirty="0">
              <a:solidFill>
                <a:srgbClr val="000000"/>
              </a:solidFill>
              <a:latin typeface="Verdana" panose="020B0604030504040204" pitchFamily="34" charset="0"/>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221642044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729215" y="2349908"/>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Structure of HTML</a:t>
            </a:r>
          </a:p>
          <a:p>
            <a:pPr marL="1859280" indent="0">
              <a:spcBef>
                <a:spcPts val="550"/>
              </a:spcBef>
              <a:buClrTx/>
            </a:pPr>
            <a:r>
              <a:rPr lang="en-US" altLang="en-US" sz="2400" dirty="0">
                <a:solidFill>
                  <a:srgbClr val="000000"/>
                </a:solidFill>
                <a:latin typeface="Verdana"/>
                <a:ea typeface="Microsoft YaHei"/>
              </a:rPr>
              <a:t>&lt;!DOCTYPE html&gt; &lt;!-- Tells the browser that it is a html page--&gt;</a:t>
            </a:r>
            <a:endParaRPr lang="en-US" altLang="en-US" sz="3200" b="1" dirty="0">
              <a:solidFill>
                <a:srgbClr val="000000"/>
              </a:solidFill>
              <a:latin typeface="Verdana"/>
            </a:endParaRPr>
          </a:p>
          <a:p>
            <a:pPr marL="1859280" indent="0">
              <a:spcBef>
                <a:spcPts val="550"/>
              </a:spcBef>
              <a:buClrTx/>
            </a:pPr>
            <a:r>
              <a:rPr lang="en-US" altLang="en-US" sz="2400" dirty="0">
                <a:solidFill>
                  <a:srgbClr val="000000"/>
                </a:solidFill>
                <a:latin typeface="Verdana"/>
                <a:ea typeface="Microsoft YaHei"/>
              </a:rPr>
              <a:t>&lt;html&gt;                 &lt;!--Root of html page--&gt;</a:t>
            </a:r>
          </a:p>
          <a:p>
            <a:pPr marL="1859280" indent="0">
              <a:spcBef>
                <a:spcPts val="550"/>
              </a:spcBef>
              <a:buClrTx/>
            </a:pPr>
            <a:r>
              <a:rPr lang="en-US" altLang="en-US" sz="2400" dirty="0">
                <a:solidFill>
                  <a:srgbClr val="000000"/>
                </a:solidFill>
                <a:latin typeface="Verdana"/>
                <a:ea typeface="Microsoft YaHei"/>
              </a:rPr>
              <a:t>      &lt;head&gt;        &lt;!-- contains meta information about html page--&gt;</a:t>
            </a:r>
          </a:p>
          <a:p>
            <a:pPr marL="1859280" indent="0">
              <a:spcBef>
                <a:spcPts val="550"/>
              </a:spcBef>
              <a:buClrTx/>
            </a:pPr>
            <a:r>
              <a:rPr lang="en-US" altLang="en-US" sz="2400" dirty="0">
                <a:solidFill>
                  <a:srgbClr val="000000"/>
                </a:solidFill>
                <a:latin typeface="Verdana"/>
                <a:ea typeface="Microsoft YaHei"/>
              </a:rPr>
              <a:t>              &lt;title&gt;Document&lt;/title&gt;</a:t>
            </a:r>
          </a:p>
          <a:p>
            <a:pPr marL="1859280" indent="0">
              <a:spcBef>
                <a:spcPts val="550"/>
              </a:spcBef>
              <a:buClrTx/>
            </a:pPr>
            <a:r>
              <a:rPr lang="en-US" altLang="en-US" sz="2400" dirty="0">
                <a:solidFill>
                  <a:srgbClr val="000000"/>
                </a:solidFill>
                <a:latin typeface="Verdana"/>
                <a:ea typeface="Microsoft YaHei"/>
              </a:rPr>
              <a:t>      &lt;/head&gt;</a:t>
            </a:r>
          </a:p>
          <a:p>
            <a:pPr marL="1859280" indent="0">
              <a:spcBef>
                <a:spcPts val="550"/>
              </a:spcBef>
              <a:buClrTx/>
            </a:pPr>
            <a:r>
              <a:rPr lang="en-US" altLang="en-US" sz="2400" dirty="0">
                <a:solidFill>
                  <a:srgbClr val="000000"/>
                </a:solidFill>
                <a:latin typeface="Verdana"/>
                <a:ea typeface="Microsoft YaHei"/>
              </a:rPr>
              <a:t>      &lt;body&gt;       &lt;!-- it is a document body--&gt;</a:t>
            </a:r>
          </a:p>
          <a:p>
            <a:pPr marL="1859280" indent="0">
              <a:spcBef>
                <a:spcPts val="550"/>
              </a:spcBef>
              <a:buClrTx/>
            </a:pPr>
            <a:r>
              <a:rPr lang="en-US" altLang="en-US" sz="2400" dirty="0">
                <a:solidFill>
                  <a:srgbClr val="000000"/>
                </a:solidFill>
                <a:latin typeface="Verdana"/>
                <a:ea typeface="Microsoft YaHei"/>
              </a:rPr>
              <a:t>               &lt;p&gt;Some Text&lt;/p&gt;</a:t>
            </a:r>
          </a:p>
          <a:p>
            <a:pPr marL="1859280" indent="0">
              <a:spcBef>
                <a:spcPts val="550"/>
              </a:spcBef>
              <a:buClrTx/>
            </a:pPr>
            <a:r>
              <a:rPr lang="en-US" altLang="en-US" sz="2400" dirty="0">
                <a:solidFill>
                  <a:srgbClr val="000000"/>
                </a:solidFill>
                <a:latin typeface="Verdana"/>
                <a:ea typeface="Microsoft YaHei"/>
              </a:rPr>
              <a:t>      &lt;/body&gt;</a:t>
            </a:r>
          </a:p>
          <a:p>
            <a:pPr marL="1859280" indent="0">
              <a:spcBef>
                <a:spcPts val="550"/>
              </a:spcBef>
              <a:buClrTx/>
            </a:pPr>
            <a:r>
              <a:rPr lang="en-US" altLang="en-US" sz="2400" dirty="0">
                <a:solidFill>
                  <a:srgbClr val="000000"/>
                </a:solidFill>
                <a:latin typeface="Verdana"/>
                <a:ea typeface="Microsoft YaHei"/>
              </a:rPr>
              <a:t>&lt;/html&gt;</a:t>
            </a:r>
          </a:p>
          <a:p>
            <a:pPr indent="-537845">
              <a:buClrTx/>
              <a:buFont typeface="Arial" panose="02020603050405020304" pitchFamily="18" charset="0"/>
              <a:buChar char="•"/>
            </a:pPr>
            <a:endParaRPr lang="en-US" sz="1100" dirty="0">
              <a:solidFill>
                <a:srgbClr val="FFFFFF"/>
              </a:solidFill>
              <a:highlight>
                <a:srgbClr val="1E1E1E"/>
              </a:highlight>
              <a:latin typeface="Consolas"/>
            </a:endParaRPr>
          </a:p>
          <a:p>
            <a:pPr marL="2373630" indent="-514350">
              <a:spcBef>
                <a:spcPts val="550"/>
              </a:spcBef>
              <a:buClrTx/>
              <a:buAutoNum type="arabicPeriod"/>
            </a:pPr>
            <a:endParaRPr lang="en-US" altLang="en-US" sz="2400" dirty="0">
              <a:solidFill>
                <a:srgbClr val="000000"/>
              </a:solidFill>
              <a:latin typeface="Verdana" panose="020B0604030504040204" pitchFamily="34" charset="0"/>
            </a:endParaRPr>
          </a:p>
          <a:p>
            <a:pPr marL="2373630" indent="-514350">
              <a:spcBef>
                <a:spcPts val="550"/>
              </a:spcBef>
              <a:buClrTx/>
              <a:buAutoNum type="arabicPeriod"/>
            </a:pPr>
            <a:endParaRPr lang="en-US" altLang="en-US" sz="2400" dirty="0">
              <a:solidFill>
                <a:srgbClr val="000000"/>
              </a:solidFill>
              <a:latin typeface="Verdana" panose="020B0604030504040204" pitchFamily="34" charset="0"/>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1251856434"/>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55892" y="2305085"/>
            <a:ext cx="134454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pPr>
            <a:r>
              <a:rPr lang="en-US" altLang="en-US" sz="2800" b="1" noProof="1">
                <a:solidFill>
                  <a:srgbClr val="000000"/>
                </a:solidFill>
                <a:latin typeface="Verdana"/>
                <a:ea typeface="Microsoft YaHei"/>
              </a:rPr>
              <a:t>Tags:</a:t>
            </a:r>
            <a:endParaRPr lang="en-US" altLang="en-US" sz="3200" b="1" noProof="1">
              <a:solidFill>
                <a:srgbClr val="000000"/>
              </a:solidFill>
              <a:latin typeface="Verdana"/>
              <a:ea typeface="Microsoft YaHei"/>
            </a:endParaRPr>
          </a:p>
          <a:p>
            <a:pPr marL="2373630" indent="-514350">
              <a:spcBef>
                <a:spcPts val="550"/>
              </a:spcBef>
              <a:buClrTx/>
              <a:buFont typeface="Arial" panose="02020603050405020304" pitchFamily="18" charset="0"/>
              <a:buChar char="•"/>
            </a:pPr>
            <a:r>
              <a:rPr lang="en-US" altLang="en-US" sz="2400" noProof="1">
                <a:solidFill>
                  <a:srgbClr val="000000"/>
                </a:solidFill>
                <a:latin typeface="Verdana"/>
                <a:ea typeface="Microsoft YaHei"/>
              </a:rPr>
              <a:t>An html element is defined by start tag, some content, end tag.</a:t>
            </a:r>
          </a:p>
          <a:p>
            <a:pPr marL="1859280" indent="0">
              <a:spcBef>
                <a:spcPts val="550"/>
              </a:spcBef>
              <a:buClrTx/>
            </a:pPr>
            <a:endParaRPr lang="en-US" altLang="en-US" sz="2400" noProof="1">
              <a:solidFill>
                <a:srgbClr val="000000"/>
              </a:solidFill>
              <a:latin typeface="Verdana"/>
              <a:ea typeface="Microsoft YaHei"/>
            </a:endParaRPr>
          </a:p>
          <a:p>
            <a:pPr marL="1859280" indent="0" algn="ctr">
              <a:spcBef>
                <a:spcPts val="550"/>
              </a:spcBef>
              <a:buClrTx/>
            </a:pPr>
            <a:r>
              <a:rPr lang="en-US" altLang="en-US" sz="2400" b="1" noProof="1">
                <a:solidFill>
                  <a:srgbClr val="000000"/>
                </a:solidFill>
                <a:latin typeface="Verdana"/>
                <a:ea typeface="Microsoft YaHei"/>
              </a:rPr>
              <a:t>&lt;tagname&gt;Content goes here....&lt;/tagname&gt;</a:t>
            </a:r>
            <a:endParaRPr lang="en-US" altLang="en-US" sz="2400" noProof="1">
              <a:solidFill>
                <a:srgbClr val="000000"/>
              </a:solidFill>
              <a:latin typeface="Verdana"/>
              <a:ea typeface="Microsoft YaHei"/>
            </a:endParaRPr>
          </a:p>
          <a:p>
            <a:pPr marL="1859280" indent="0" algn="ctr">
              <a:spcBef>
                <a:spcPts val="550"/>
              </a:spcBef>
              <a:buClrTx/>
            </a:pPr>
            <a:endParaRPr lang="en-US" altLang="en-US" sz="2400" b="1" noProof="1">
              <a:solidFill>
                <a:srgbClr val="000000"/>
              </a:solidFill>
              <a:latin typeface="Verdana"/>
              <a:ea typeface="Microsoft YaHei"/>
            </a:endParaRPr>
          </a:p>
          <a:p>
            <a:pPr marL="1859280" indent="0">
              <a:spcBef>
                <a:spcPts val="550"/>
              </a:spcBef>
              <a:buClrTx/>
            </a:pPr>
            <a:r>
              <a:rPr lang="en-US" altLang="en-US" sz="2800" b="1" noProof="1">
                <a:solidFill>
                  <a:srgbClr val="000000"/>
                </a:solidFill>
                <a:latin typeface="Verdana"/>
                <a:ea typeface="Microsoft YaHei"/>
              </a:rPr>
              <a:t>Attributes?</a:t>
            </a:r>
            <a:endParaRPr lang="en-US" altLang="en-US" sz="2800" b="1" noProof="1">
              <a:solidFill>
                <a:srgbClr val="000000"/>
              </a:solidFill>
              <a:latin typeface="Verdana" panose="020B0604030504040204" pitchFamily="34" charset="0"/>
            </a:endParaRPr>
          </a:p>
          <a:p>
            <a:pPr marL="2373630" indent="-514350">
              <a:spcBef>
                <a:spcPts val="550"/>
              </a:spcBef>
              <a:buClrTx/>
              <a:buAutoNum type="arabicPeriod"/>
            </a:pPr>
            <a:r>
              <a:rPr lang="en-US" altLang="en-US" sz="2400" noProof="1">
                <a:solidFill>
                  <a:srgbClr val="000000"/>
                </a:solidFill>
                <a:latin typeface="Verdana"/>
                <a:ea typeface="Microsoft YaHei"/>
              </a:rPr>
              <a:t>All html element can have attributes.</a:t>
            </a:r>
            <a:endParaRPr lang="en-US" altLang="en-US" sz="2400" noProof="1">
              <a:solidFill>
                <a:srgbClr val="000000"/>
              </a:solidFill>
              <a:latin typeface="Verdana" panose="020B0604030504040204" pitchFamily="34" charset="0"/>
            </a:endParaRPr>
          </a:p>
          <a:p>
            <a:pPr marL="2373630" indent="-514350">
              <a:spcBef>
                <a:spcPts val="550"/>
              </a:spcBef>
              <a:buClrTx/>
              <a:buAutoNum type="arabicPeriod"/>
            </a:pPr>
            <a:r>
              <a:rPr lang="en-US" altLang="en-US" sz="2400" noProof="1">
                <a:solidFill>
                  <a:srgbClr val="000000"/>
                </a:solidFill>
                <a:latin typeface="Verdana"/>
                <a:ea typeface="Microsoft YaHei"/>
              </a:rPr>
              <a:t>Attributes provides additional information about elements.</a:t>
            </a:r>
            <a:endParaRPr lang="en-US" altLang="en-US" sz="2400" noProof="1">
              <a:solidFill>
                <a:srgbClr val="000000"/>
              </a:solidFill>
              <a:latin typeface="Verdana" panose="020B0604030504040204" pitchFamily="34" charset="0"/>
            </a:endParaRPr>
          </a:p>
          <a:p>
            <a:pPr marL="2373630" indent="-514350">
              <a:spcBef>
                <a:spcPts val="550"/>
              </a:spcBef>
              <a:buClrTx/>
              <a:buAutoNum type="arabicPeriod"/>
            </a:pPr>
            <a:r>
              <a:rPr lang="en-US" altLang="en-US" sz="2400" noProof="1">
                <a:solidFill>
                  <a:srgbClr val="000000"/>
                </a:solidFill>
                <a:latin typeface="Verdana"/>
                <a:ea typeface="Microsoft YaHei"/>
              </a:rPr>
              <a:t>Attributes are always specified in the start tag.</a:t>
            </a:r>
            <a:endParaRPr lang="en-US" altLang="en-US" sz="2400" noProof="1">
              <a:solidFill>
                <a:srgbClr val="000000"/>
              </a:solidFill>
              <a:latin typeface="Verdana" panose="020B0604030504040204" pitchFamily="34" charset="0"/>
            </a:endParaRPr>
          </a:p>
          <a:p>
            <a:pPr marL="2373630" indent="-514350">
              <a:spcBef>
                <a:spcPts val="550"/>
              </a:spcBef>
              <a:buClrTx/>
              <a:buAutoNum type="arabicPeriod"/>
            </a:pPr>
            <a:r>
              <a:rPr lang="en-US" altLang="en-US" sz="2400" noProof="1">
                <a:solidFill>
                  <a:srgbClr val="000000"/>
                </a:solidFill>
                <a:latin typeface="Verdana"/>
                <a:ea typeface="Microsoft YaHei"/>
              </a:rPr>
              <a:t>Attributes usually come in name/value pairs like : name="value"</a:t>
            </a:r>
            <a:endParaRPr lang="en-US" altLang="en-US" sz="2400" noProof="1">
              <a:solidFill>
                <a:srgbClr val="000000"/>
              </a:solidFill>
              <a:latin typeface="Verdana" panose="020B0604030504040204" pitchFamily="34" charset="0"/>
            </a:endParaRPr>
          </a:p>
          <a:p>
            <a:pPr marL="1859280" indent="0">
              <a:spcBef>
                <a:spcPts val="550"/>
              </a:spcBef>
              <a:buClrTx/>
            </a:pPr>
            <a:endParaRPr lang="en-US" altLang="en-US" sz="2400" noProof="1">
              <a:solidFill>
                <a:srgbClr val="000000"/>
              </a:solidFill>
              <a:latin typeface="Microsoft YaHei"/>
              <a:ea typeface="Microsoft YaHei"/>
            </a:endParaRPr>
          </a:p>
          <a:p>
            <a:pPr indent="-537845" algn="ctr"/>
            <a:r>
              <a:rPr lang="en-US" sz="2400" b="1" noProof="1">
                <a:solidFill>
                  <a:srgbClr val="000000"/>
                </a:solidFill>
                <a:latin typeface="Verdana"/>
                <a:ea typeface="Verdana"/>
              </a:rPr>
              <a:t>&lt;tagname attribute="value"&gt;Content goes here....&lt;/tagname&gt;</a:t>
            </a:r>
            <a:endParaRPr lang="en-US" sz="2400" noProof="1">
              <a:solidFill>
                <a:srgbClr val="000000"/>
              </a:solidFill>
              <a:latin typeface="Verdana"/>
              <a:ea typeface="Verdana"/>
            </a:endParaRPr>
          </a:p>
          <a:p>
            <a:pPr marL="1859280" indent="0" algn="ctr">
              <a:spcBef>
                <a:spcPts val="550"/>
              </a:spcBef>
              <a:buClrTx/>
            </a:pPr>
            <a:endParaRPr lang="en-US" altLang="en-US" sz="2400" dirty="0">
              <a:solidFill>
                <a:srgbClr val="000000"/>
              </a:solidFill>
              <a:latin typeface="Verdana" panose="020B0604030504040204" pitchFamily="34" charset="0"/>
            </a:endParaRPr>
          </a:p>
          <a:p>
            <a:pPr marL="2373630" indent="-514350">
              <a:spcBef>
                <a:spcPts val="550"/>
              </a:spcBef>
              <a:buClrTx/>
              <a:buAutoNum type="arabicPeriod"/>
            </a:pPr>
            <a:endParaRPr lang="en-US" altLang="en-US" sz="2400" dirty="0">
              <a:solidFill>
                <a:srgbClr val="000000"/>
              </a:solidFill>
              <a:latin typeface="Verdana" panose="020B0604030504040204" pitchFamily="34" charset="0"/>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17211845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55892" y="2305085"/>
            <a:ext cx="134454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pPr>
            <a:r>
              <a:rPr lang="en-US" altLang="en-US" sz="2800" b="1" noProof="1">
                <a:solidFill>
                  <a:srgbClr val="000000"/>
                </a:solidFill>
                <a:latin typeface="Verdana"/>
                <a:ea typeface="Microsoft YaHei"/>
              </a:rPr>
              <a:t>Block Elements</a:t>
            </a:r>
            <a:endParaRPr lang="en-US" dirty="0"/>
          </a:p>
          <a:p>
            <a:pPr marL="2316480" indent="-457200">
              <a:spcBef>
                <a:spcPts val="550"/>
              </a:spcBef>
              <a:buClrTx/>
              <a:buFont typeface="Arial" panose="02020603050405020304" pitchFamily="18" charset="0"/>
              <a:buChar char="•"/>
            </a:pPr>
            <a:r>
              <a:rPr lang="en-US" sz="2400" dirty="0">
                <a:solidFill>
                  <a:schemeClr val="tx1"/>
                </a:solidFill>
                <a:latin typeface="Arial"/>
                <a:ea typeface="Microsoft YaHei"/>
                <a:cs typeface="Arial"/>
              </a:rPr>
              <a:t>A Block level elements always start on a new line and stretches out to the left and right as far as it can</a:t>
            </a:r>
            <a:endParaRPr lang="en-US" sz="2400" dirty="0">
              <a:solidFill>
                <a:schemeClr val="tx1"/>
              </a:solidFill>
              <a:cs typeface="Arial" panose="020B0604020202020204" pitchFamily="34" charset="0"/>
            </a:endParaRPr>
          </a:p>
          <a:p>
            <a:pPr marL="2316480" indent="-457200">
              <a:spcBef>
                <a:spcPts val="550"/>
              </a:spcBef>
              <a:buClrTx/>
              <a:buFont typeface="Arial" panose="02020603050405020304" pitchFamily="18" charset="0"/>
              <a:buChar char="•"/>
            </a:pPr>
            <a:r>
              <a:rPr lang="en-US" sz="2400" dirty="0">
                <a:solidFill>
                  <a:schemeClr val="tx1"/>
                </a:solidFill>
                <a:latin typeface="Arial"/>
                <a:ea typeface="Microsoft YaHei"/>
                <a:cs typeface="Arial"/>
              </a:rPr>
              <a:t>Therefore, It occupies whole horizontal space of its parent element and the height is equal to content's width.</a:t>
            </a:r>
            <a:endParaRPr lang="en-US" sz="2400">
              <a:solidFill>
                <a:schemeClr val="tx1"/>
              </a:solidFill>
              <a:cs typeface="Arial" panose="020B0604020202020204" pitchFamily="34" charset="0"/>
            </a:endParaRPr>
          </a:p>
          <a:p>
            <a:pPr marL="1859280" indent="0">
              <a:spcBef>
                <a:spcPts val="550"/>
              </a:spcBef>
              <a:buClrTx/>
            </a:pPr>
            <a:r>
              <a:rPr lang="en-US" altLang="en-US" sz="2800" b="1" noProof="1">
                <a:solidFill>
                  <a:srgbClr val="000000"/>
                </a:solidFill>
                <a:latin typeface="Verdana"/>
                <a:ea typeface="Microsoft YaHei"/>
              </a:rPr>
              <a:t>Inline Elements</a:t>
            </a:r>
            <a:endParaRPr lang="en-US" altLang="en-US" sz="2800" b="1" noProof="1">
              <a:solidFill>
                <a:srgbClr val="000000"/>
              </a:solidFill>
              <a:latin typeface="Verdana" panose="020B0604030504040204" pitchFamily="34" charset="0"/>
            </a:endParaRPr>
          </a:p>
          <a:p>
            <a:pPr marL="2316480" indent="-457200">
              <a:spcBef>
                <a:spcPts val="550"/>
              </a:spcBef>
              <a:buClrTx/>
              <a:buFont typeface="Arial" panose="02020603050405020304" pitchFamily="18" charset="0"/>
              <a:buChar char="•"/>
            </a:pPr>
            <a:r>
              <a:rPr lang="en-US" altLang="en-US" sz="2400" noProof="1">
                <a:solidFill>
                  <a:srgbClr val="000000"/>
                </a:solidFill>
                <a:latin typeface="Arial"/>
                <a:ea typeface="Microsoft YaHei"/>
                <a:cs typeface="Arial"/>
              </a:rPr>
              <a:t>It is opposite to Block-Level elements.</a:t>
            </a:r>
          </a:p>
          <a:p>
            <a:pPr marL="2316480" indent="-457200">
              <a:spcBef>
                <a:spcPts val="550"/>
              </a:spcBef>
              <a:buClrTx/>
              <a:buFont typeface="Arial" panose="02020603050405020304" pitchFamily="18" charset="0"/>
              <a:buChar char="•"/>
            </a:pPr>
            <a:r>
              <a:rPr lang="en-US" altLang="en-US" sz="2400" noProof="1">
                <a:solidFill>
                  <a:srgbClr val="000000"/>
                </a:solidFill>
                <a:latin typeface="Arial"/>
                <a:ea typeface="Microsoft YaHei"/>
                <a:cs typeface="Arial"/>
              </a:rPr>
              <a:t>It does not start on a new line and takes up only the necessary width.</a:t>
            </a:r>
            <a:endParaRPr lang="en-US" altLang="en-US" sz="2400" noProof="1">
              <a:solidFill>
                <a:srgbClr val="000000"/>
              </a:solidFill>
              <a:latin typeface="Arial"/>
              <a:cs typeface="Arial"/>
            </a:endParaRPr>
          </a:p>
          <a:p>
            <a:pPr marL="2316480" indent="-457200">
              <a:spcBef>
                <a:spcPts val="550"/>
              </a:spcBef>
              <a:buClrTx/>
              <a:buFont typeface="Arial" panose="02020603050405020304" pitchFamily="18" charset="0"/>
              <a:buChar char="•"/>
            </a:pPr>
            <a:r>
              <a:rPr lang="en-US" altLang="en-US" sz="2400" noProof="1">
                <a:solidFill>
                  <a:srgbClr val="000000"/>
                </a:solidFill>
                <a:latin typeface="Arial"/>
                <a:ea typeface="Microsoft YaHei"/>
                <a:cs typeface="Arial"/>
              </a:rPr>
              <a:t>Therefore, it occupies the space bounded by the tags defining the HTML element, instead of breaking the flow of the content.</a:t>
            </a:r>
            <a:endParaRPr lang="en-US" altLang="en-US" sz="2400" noProof="1">
              <a:solidFill>
                <a:srgbClr val="000000"/>
              </a:solidFill>
              <a:latin typeface="Arial"/>
              <a:cs typeface="Arial"/>
            </a:endParaRPr>
          </a:p>
          <a:p>
            <a:pPr marL="1859280" indent="0" algn="ctr">
              <a:spcBef>
                <a:spcPts val="550"/>
              </a:spcBef>
              <a:buClrTx/>
            </a:pPr>
            <a:endParaRPr lang="en-US" altLang="en-US" sz="2400" dirty="0">
              <a:solidFill>
                <a:srgbClr val="000000"/>
              </a:solidFill>
              <a:latin typeface="Verdana" panose="020B0604030504040204" pitchFamily="34" charset="0"/>
            </a:endParaRPr>
          </a:p>
          <a:p>
            <a:pPr marL="2373630" indent="-514350">
              <a:spcBef>
                <a:spcPts val="550"/>
              </a:spcBef>
              <a:buClrTx/>
              <a:buAutoNum type="arabicPeriod"/>
            </a:pPr>
            <a:endParaRPr lang="en-US" altLang="en-US" sz="2400" dirty="0">
              <a:solidFill>
                <a:srgbClr val="000000"/>
              </a:solidFill>
              <a:latin typeface="Verdana" panose="020B0604030504040204" pitchFamily="34" charset="0"/>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79133039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33480" y="904350"/>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Formatting Tags</a:t>
            </a:r>
          </a:p>
          <a:p>
            <a:pPr marL="2373630" indent="-514350">
              <a:spcBef>
                <a:spcPts val="550"/>
              </a:spcBef>
              <a:buClrTx/>
              <a:buFont typeface="Arial" panose="02020603050405020304" pitchFamily="18" charset="0"/>
              <a:buChar char="•"/>
            </a:pPr>
            <a:r>
              <a:rPr lang="en-US" altLang="en-US" sz="2400" dirty="0">
                <a:solidFill>
                  <a:srgbClr val="000000"/>
                </a:solidFill>
                <a:latin typeface="Verdana"/>
                <a:ea typeface="Microsoft YaHei"/>
              </a:rPr>
              <a:t>Used for formatting text for better look.</a:t>
            </a:r>
          </a:p>
          <a:p>
            <a:pPr marL="2373630" indent="-514350">
              <a:spcBef>
                <a:spcPts val="550"/>
              </a:spcBef>
              <a:buClrTx/>
              <a:buFont typeface="Arial" panose="02020603050405020304" pitchFamily="18" charset="0"/>
              <a:buChar char="•"/>
            </a:pPr>
            <a:r>
              <a:rPr lang="en-US" altLang="en-US" sz="2400" dirty="0">
                <a:solidFill>
                  <a:srgbClr val="000000"/>
                </a:solidFill>
                <a:latin typeface="Verdana"/>
                <a:ea typeface="Microsoft YaHei"/>
              </a:rPr>
              <a:t>HTML Provides ability to format text without using </a:t>
            </a:r>
            <a:r>
              <a:rPr lang="en-US" altLang="en-US" sz="2400" dirty="0" err="1">
                <a:solidFill>
                  <a:srgbClr val="000000"/>
                </a:solidFill>
                <a:latin typeface="Verdana"/>
                <a:ea typeface="Microsoft YaHei"/>
              </a:rPr>
              <a:t>css</a:t>
            </a:r>
            <a:r>
              <a:rPr lang="en-US" altLang="en-US" sz="2400" dirty="0">
                <a:solidFill>
                  <a:srgbClr val="000000"/>
                </a:solidFill>
                <a:latin typeface="Verdana"/>
                <a:ea typeface="Microsoft YaHei"/>
              </a:rPr>
              <a:t>.</a:t>
            </a:r>
          </a:p>
          <a:p>
            <a:pPr marL="2373630" indent="-514350">
              <a:spcBef>
                <a:spcPts val="550"/>
              </a:spcBef>
              <a:buClrTx/>
              <a:buFont typeface="Arial" panose="02020603050405020304" pitchFamily="18" charset="0"/>
              <a:buChar char="•"/>
            </a:pPr>
            <a:r>
              <a:rPr lang="en-US" altLang="en-US" sz="2400" dirty="0">
                <a:solidFill>
                  <a:srgbClr val="000000"/>
                </a:solidFill>
                <a:latin typeface="Verdana"/>
                <a:ea typeface="Microsoft YaHei"/>
              </a:rPr>
              <a:t>These are divided into two categories</a:t>
            </a:r>
          </a:p>
          <a:p>
            <a:pPr marL="2373630" indent="-514350">
              <a:spcBef>
                <a:spcPts val="550"/>
              </a:spcBef>
              <a:buClrTx/>
              <a:buAutoNum type="arabicPeriod"/>
            </a:pPr>
            <a:r>
              <a:rPr lang="en-US" altLang="en-US" sz="2400" dirty="0">
                <a:solidFill>
                  <a:srgbClr val="000000"/>
                </a:solidFill>
                <a:latin typeface="Verdana"/>
                <a:ea typeface="Microsoft YaHei"/>
              </a:rPr>
              <a:t>Physical Tags: Used to provide physical appearance to the text.</a:t>
            </a:r>
          </a:p>
          <a:p>
            <a:pPr marL="2373630" indent="-514350">
              <a:spcBef>
                <a:spcPts val="550"/>
              </a:spcBef>
              <a:buClrTx/>
              <a:buAutoNum type="arabicPeriod"/>
            </a:pPr>
            <a:r>
              <a:rPr lang="en-US" altLang="en-US" sz="2400" dirty="0">
                <a:solidFill>
                  <a:srgbClr val="000000"/>
                </a:solidFill>
                <a:latin typeface="Verdana"/>
                <a:ea typeface="Microsoft YaHei"/>
              </a:rPr>
              <a:t>Logical Tags: Used to add some logical or sematic value to text.</a:t>
            </a:r>
          </a:p>
          <a:p>
            <a:pPr marL="1859280" indent="0">
              <a:spcBef>
                <a:spcPts val="550"/>
              </a:spcBef>
              <a:buClrTx/>
            </a:pPr>
            <a:endParaRPr lang="en-US" altLang="en-US" sz="2400" dirty="0">
              <a:solidFill>
                <a:srgbClr val="000000"/>
              </a:solidFill>
              <a:latin typeface="Verdana"/>
              <a:ea typeface="Microsoft YaHei"/>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3" name="Table 3">
            <a:extLst>
              <a:ext uri="{FF2B5EF4-FFF2-40B4-BE49-F238E27FC236}">
                <a16:creationId xmlns:a16="http://schemas.microsoft.com/office/drawing/2014/main" id="{8C6A837C-7820-226F-88B9-1F676E2FD3F7}"/>
              </a:ext>
            </a:extLst>
          </p:cNvPr>
          <p:cNvGraphicFramePr>
            <a:graphicFrameLocks noGrp="1"/>
          </p:cNvGraphicFramePr>
          <p:nvPr>
            <p:extLst>
              <p:ext uri="{D42A27DB-BD31-4B8C-83A1-F6EECF244321}">
                <p14:modId xmlns:p14="http://schemas.microsoft.com/office/powerpoint/2010/main" val="3571977449"/>
              </p:ext>
            </p:extLst>
          </p:nvPr>
        </p:nvGraphicFramePr>
        <p:xfrm>
          <a:off x="1406562" y="3658317"/>
          <a:ext cx="9383851" cy="2380647"/>
        </p:xfrm>
        <a:graphic>
          <a:graphicData uri="http://schemas.openxmlformats.org/drawingml/2006/table">
            <a:tbl>
              <a:tblPr firstRow="1" bandRow="1">
                <a:tableStyleId>{21E4AEA4-8DFA-4A89-87EB-49C32662AFE0}</a:tableStyleId>
              </a:tblPr>
              <a:tblGrid>
                <a:gridCol w="1383631">
                  <a:extLst>
                    <a:ext uri="{9D8B030D-6E8A-4147-A177-3AD203B41FA5}">
                      <a16:colId xmlns:a16="http://schemas.microsoft.com/office/drawing/2014/main" val="2022278461"/>
                    </a:ext>
                  </a:extLst>
                </a:gridCol>
                <a:gridCol w="8000220">
                  <a:extLst>
                    <a:ext uri="{9D8B030D-6E8A-4147-A177-3AD203B41FA5}">
                      <a16:colId xmlns:a16="http://schemas.microsoft.com/office/drawing/2014/main" val="1479760939"/>
                    </a:ext>
                  </a:extLst>
                </a:gridCol>
              </a:tblGrid>
              <a:tr h="372978">
                <a:tc>
                  <a:txBody>
                    <a:bodyPr/>
                    <a:lstStyle/>
                    <a:p>
                      <a:pPr algn="ctr"/>
                      <a:r>
                        <a:rPr lang="en-US" dirty="0"/>
                        <a:t>Tag</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&lt;b&gt;</a:t>
                      </a:r>
                    </a:p>
                  </a:txBody>
                  <a:tcPr anchor="ctr"/>
                </a:tc>
                <a:tc>
                  <a:txBody>
                    <a:bodyPr/>
                    <a:lstStyle/>
                    <a:p>
                      <a:pPr algn="l"/>
                      <a:r>
                        <a:rPr lang="en-US" dirty="0"/>
                        <a:t>Physical Tag, Which is used to bold the text.</a:t>
                      </a:r>
                    </a:p>
                  </a:txBody>
                  <a:tcPr anchor="ctr"/>
                </a:tc>
                <a:extLst>
                  <a:ext uri="{0D108BD9-81ED-4DB2-BD59-A6C34878D82A}">
                    <a16:rowId xmlns:a16="http://schemas.microsoft.com/office/drawing/2014/main" val="700325843"/>
                  </a:ext>
                </a:extLst>
              </a:tr>
              <a:tr h="529389">
                <a:tc>
                  <a:txBody>
                    <a:bodyPr/>
                    <a:lstStyle/>
                    <a:p>
                      <a:pPr algn="l"/>
                      <a:r>
                        <a:rPr lang="en-US" noProof="1"/>
                        <a:t>&lt;strong&gt;</a:t>
                      </a:r>
                    </a:p>
                  </a:txBody>
                  <a:tcPr anchor="ctr"/>
                </a:tc>
                <a:tc>
                  <a:txBody>
                    <a:bodyPr/>
                    <a:lstStyle/>
                    <a:p>
                      <a:pPr algn="l"/>
                      <a:r>
                        <a:rPr lang="en-US" dirty="0"/>
                        <a:t>Logical Tag, which tells the browser that the text is important.</a:t>
                      </a:r>
                    </a:p>
                  </a:txBody>
                  <a:tcPr anchor="ctr"/>
                </a:tc>
                <a:extLst>
                  <a:ext uri="{0D108BD9-81ED-4DB2-BD59-A6C34878D82A}">
                    <a16:rowId xmlns:a16="http://schemas.microsoft.com/office/drawing/2014/main" val="640162573"/>
                  </a:ext>
                </a:extLst>
              </a:tr>
              <a:tr h="370840">
                <a:tc>
                  <a:txBody>
                    <a:bodyPr/>
                    <a:lstStyle/>
                    <a:p>
                      <a:pPr algn="l"/>
                      <a:r>
                        <a:rPr lang="en-US" noProof="1"/>
                        <a:t>&lt;u&gt;</a:t>
                      </a:r>
                    </a:p>
                  </a:txBody>
                  <a:tcPr anchor="ctr"/>
                </a:tc>
                <a:tc>
                  <a:txBody>
                    <a:bodyPr/>
                    <a:lstStyle/>
                    <a:p>
                      <a:pPr algn="l"/>
                      <a:r>
                        <a:rPr lang="en-US" dirty="0"/>
                        <a:t>Used to underline the text.</a:t>
                      </a:r>
                    </a:p>
                  </a:txBody>
                  <a:tcPr anchor="ctr"/>
                </a:tc>
                <a:extLst>
                  <a:ext uri="{0D108BD9-81ED-4DB2-BD59-A6C34878D82A}">
                    <a16:rowId xmlns:a16="http://schemas.microsoft.com/office/drawing/2014/main" val="517753056"/>
                  </a:ext>
                </a:extLst>
              </a:tr>
              <a:tr h="370840">
                <a:tc>
                  <a:txBody>
                    <a:bodyPr/>
                    <a:lstStyle/>
                    <a:p>
                      <a:pPr algn="l"/>
                      <a:r>
                        <a:rPr lang="en-US" noProof="1"/>
                        <a:t>&lt;i&gt;</a:t>
                      </a:r>
                    </a:p>
                  </a:txBody>
                  <a:tcPr anchor="ctr"/>
                </a:tc>
                <a:tc>
                  <a:txBody>
                    <a:bodyPr/>
                    <a:lstStyle/>
                    <a:p>
                      <a:pPr algn="l"/>
                      <a:r>
                        <a:rPr lang="en-US" dirty="0"/>
                        <a:t>Physical Tag, Used to make the text </a:t>
                      </a:r>
                      <a:r>
                        <a:rPr lang="en-US" i="1" dirty="0"/>
                        <a:t>italic</a:t>
                      </a:r>
                      <a:r>
                        <a:rPr lang="en-US" dirty="0"/>
                        <a:t>.</a:t>
                      </a:r>
                    </a:p>
                  </a:txBody>
                  <a:tcPr anchor="ctr"/>
                </a:tc>
                <a:extLst>
                  <a:ext uri="{0D108BD9-81ED-4DB2-BD59-A6C34878D82A}">
                    <a16:rowId xmlns:a16="http://schemas.microsoft.com/office/drawing/2014/main" val="4045548236"/>
                  </a:ext>
                </a:extLst>
              </a:tr>
              <a:tr h="352985">
                <a:tc>
                  <a:txBody>
                    <a:bodyPr/>
                    <a:lstStyle/>
                    <a:p>
                      <a:pPr algn="l"/>
                      <a:r>
                        <a:rPr lang="en-US" noProof="1"/>
                        <a:t>&lt;em&gt;</a:t>
                      </a:r>
                    </a:p>
                  </a:txBody>
                  <a:tcPr anchor="ctr"/>
                </a:tc>
                <a:tc>
                  <a:txBody>
                    <a:bodyPr/>
                    <a:lstStyle/>
                    <a:p>
                      <a:pPr algn="l"/>
                      <a:r>
                        <a:rPr lang="en-US" dirty="0"/>
                        <a:t>Logical Tag, Used to display the text </a:t>
                      </a:r>
                      <a:r>
                        <a:rPr lang="en-US" i="1" dirty="0"/>
                        <a:t>italic.</a:t>
                      </a:r>
                      <a:endParaRPr lang="en-US" dirty="0"/>
                    </a:p>
                  </a:txBody>
                  <a:tcPr anchor="ctr"/>
                </a:tc>
                <a:extLst>
                  <a:ext uri="{0D108BD9-81ED-4DB2-BD59-A6C34878D82A}">
                    <a16:rowId xmlns:a16="http://schemas.microsoft.com/office/drawing/2014/main" val="1975835513"/>
                  </a:ext>
                </a:extLst>
              </a:tr>
            </a:tbl>
          </a:graphicData>
        </a:graphic>
      </p:graphicFrame>
    </p:spTree>
    <p:extLst>
      <p:ext uri="{BB962C8B-B14F-4D97-AF65-F5344CB8AC3E}">
        <p14:creationId xmlns:p14="http://schemas.microsoft.com/office/powerpoint/2010/main" val="88510456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44686" y="971585"/>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Heading Tags</a:t>
            </a:r>
          </a:p>
          <a:p>
            <a:pPr marL="2373630" indent="-514350">
              <a:spcBef>
                <a:spcPts val="550"/>
              </a:spcBef>
              <a:buClrTx/>
              <a:buFont typeface="Arial" panose="02020603050405020304" pitchFamily="18" charset="0"/>
              <a:buChar char="•"/>
            </a:pPr>
            <a:r>
              <a:rPr lang="en-US" altLang="en-US" sz="2400" dirty="0">
                <a:solidFill>
                  <a:srgbClr val="000000"/>
                </a:solidFill>
                <a:latin typeface="Verdana"/>
                <a:ea typeface="Microsoft YaHei"/>
              </a:rPr>
              <a:t>An html heading tag can be defined as title or subtitle which you want to display on the webpage.</a:t>
            </a:r>
          </a:p>
          <a:p>
            <a:pPr marL="2373630" indent="-514350">
              <a:spcBef>
                <a:spcPts val="550"/>
              </a:spcBef>
              <a:buClrTx/>
              <a:buFont typeface="Arial" panose="02020603050405020304" pitchFamily="18" charset="0"/>
              <a:buChar char="•"/>
            </a:pPr>
            <a:r>
              <a:rPr lang="en-US" altLang="en-US" sz="2400" dirty="0">
                <a:solidFill>
                  <a:srgbClr val="000000"/>
                </a:solidFill>
                <a:latin typeface="Verdana"/>
                <a:ea typeface="Microsoft YaHei"/>
              </a:rPr>
              <a:t>When you place text within heading tags, it will display in browser in the bold format and size of the text is depends on heading.</a:t>
            </a:r>
          </a:p>
          <a:p>
            <a:pPr marL="2373630" indent="-514350">
              <a:spcBef>
                <a:spcPts val="550"/>
              </a:spcBef>
              <a:buClrTx/>
              <a:buFont typeface="Arial" panose="02020603050405020304" pitchFamily="18" charset="0"/>
              <a:buChar char="•"/>
            </a:pPr>
            <a:r>
              <a:rPr lang="en-US" altLang="en-US" sz="2400" dirty="0">
                <a:solidFill>
                  <a:srgbClr val="000000"/>
                </a:solidFill>
                <a:latin typeface="Verdana"/>
                <a:ea typeface="Microsoft YaHei"/>
              </a:rPr>
              <a:t>There are six different html heading tags which is defined from &lt;h1&gt; to &lt;h6&gt;.</a:t>
            </a:r>
            <a:r>
              <a:rPr lang="en-US" dirty="0">
                <a:latin typeface="Arial"/>
                <a:ea typeface="Microsoft YaHei"/>
                <a:cs typeface="Arial"/>
              </a:rPr>
              <a:t>h</a:t>
            </a:r>
            <a:endParaRPr lang="en-US" dirty="0">
              <a:cs typeface="Arial"/>
            </a:endParaRPr>
          </a:p>
          <a:p>
            <a:pPr marL="1859280" indent="0">
              <a:spcBef>
                <a:spcPts val="550"/>
              </a:spcBef>
              <a:buClrTx/>
            </a:pPr>
            <a:endParaRPr lang="en-US" altLang="en-US" sz="2400" dirty="0">
              <a:solidFill>
                <a:srgbClr val="000000"/>
              </a:solidFill>
              <a:latin typeface="Verdana"/>
              <a:ea typeface="Microsoft YaHei"/>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3" name="Table 3">
            <a:extLst>
              <a:ext uri="{FF2B5EF4-FFF2-40B4-BE49-F238E27FC236}">
                <a16:creationId xmlns:a16="http://schemas.microsoft.com/office/drawing/2014/main" id="{8C6A837C-7820-226F-88B9-1F676E2FD3F7}"/>
              </a:ext>
            </a:extLst>
          </p:cNvPr>
          <p:cNvGraphicFramePr>
            <a:graphicFrameLocks noGrp="1"/>
          </p:cNvGraphicFramePr>
          <p:nvPr>
            <p:extLst>
              <p:ext uri="{D42A27DB-BD31-4B8C-83A1-F6EECF244321}">
                <p14:modId xmlns:p14="http://schemas.microsoft.com/office/powerpoint/2010/main" val="399654600"/>
              </p:ext>
            </p:extLst>
          </p:nvPr>
        </p:nvGraphicFramePr>
        <p:xfrm>
          <a:off x="1333500" y="3641911"/>
          <a:ext cx="9383850" cy="2794799"/>
        </p:xfrm>
        <a:graphic>
          <a:graphicData uri="http://schemas.openxmlformats.org/drawingml/2006/table">
            <a:tbl>
              <a:tblPr firstRow="1" bandRow="1">
                <a:tableStyleId>{21E4AEA4-8DFA-4A89-87EB-49C32662AFE0}</a:tableStyleId>
              </a:tblPr>
              <a:tblGrid>
                <a:gridCol w="1407694">
                  <a:extLst>
                    <a:ext uri="{9D8B030D-6E8A-4147-A177-3AD203B41FA5}">
                      <a16:colId xmlns:a16="http://schemas.microsoft.com/office/drawing/2014/main" val="2022278461"/>
                    </a:ext>
                  </a:extLst>
                </a:gridCol>
                <a:gridCol w="7976156">
                  <a:extLst>
                    <a:ext uri="{9D8B030D-6E8A-4147-A177-3AD203B41FA5}">
                      <a16:colId xmlns:a16="http://schemas.microsoft.com/office/drawing/2014/main" val="1479760939"/>
                    </a:ext>
                  </a:extLst>
                </a:gridCol>
              </a:tblGrid>
              <a:tr h="372978">
                <a:tc>
                  <a:txBody>
                    <a:bodyPr/>
                    <a:lstStyle/>
                    <a:p>
                      <a:pPr algn="ctr"/>
                      <a:r>
                        <a:rPr lang="en-US" dirty="0"/>
                        <a:t>Tag</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&lt;h1&gt;</a:t>
                      </a:r>
                    </a:p>
                  </a:txBody>
                  <a:tcPr anchor="ctr"/>
                </a:tc>
                <a:tc>
                  <a:txBody>
                    <a:bodyPr/>
                    <a:lstStyle/>
                    <a:p>
                      <a:pPr algn="l"/>
                      <a:r>
                        <a:rPr lang="en-US" dirty="0"/>
                        <a:t>Largest Heading Tag which refers as most important heading.</a:t>
                      </a:r>
                    </a:p>
                  </a:txBody>
                  <a:tcPr anchor="ctr"/>
                </a:tc>
                <a:extLst>
                  <a:ext uri="{0D108BD9-81ED-4DB2-BD59-A6C34878D82A}">
                    <a16:rowId xmlns:a16="http://schemas.microsoft.com/office/drawing/2014/main" val="700325843"/>
                  </a:ext>
                </a:extLst>
              </a:tr>
              <a:tr h="529389">
                <a:tc>
                  <a:txBody>
                    <a:bodyPr/>
                    <a:lstStyle/>
                    <a:p>
                      <a:pPr algn="l"/>
                      <a:r>
                        <a:rPr lang="en-US" noProof="1"/>
                        <a:t>&lt;h2&gt;</a:t>
                      </a:r>
                    </a:p>
                  </a:txBody>
                  <a:tcPr anchor="ctr"/>
                </a:tc>
                <a:tc>
                  <a:txBody>
                    <a:bodyPr/>
                    <a:lstStyle/>
                    <a:p>
                      <a:pPr algn="l"/>
                      <a:r>
                        <a:rPr lang="en-US" dirty="0"/>
                        <a:t>Size is small  when compared to h1</a:t>
                      </a:r>
                    </a:p>
                  </a:txBody>
                  <a:tcPr anchor="ctr"/>
                </a:tc>
                <a:extLst>
                  <a:ext uri="{0D108BD9-81ED-4DB2-BD59-A6C34878D82A}">
                    <a16:rowId xmlns:a16="http://schemas.microsoft.com/office/drawing/2014/main" val="640162573"/>
                  </a:ext>
                </a:extLst>
              </a:tr>
              <a:tr h="409073">
                <a:tc>
                  <a:txBody>
                    <a:bodyPr/>
                    <a:lstStyle/>
                    <a:p>
                      <a:pPr algn="l"/>
                      <a:r>
                        <a:rPr lang="en-US" noProof="1"/>
                        <a:t>&lt;h3&gt;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Size is small  when compared to h2</a:t>
                      </a:r>
                    </a:p>
                  </a:txBody>
                  <a:tcPr anchor="ctr"/>
                </a:tc>
                <a:extLst>
                  <a:ext uri="{0D108BD9-81ED-4DB2-BD59-A6C34878D82A}">
                    <a16:rowId xmlns:a16="http://schemas.microsoft.com/office/drawing/2014/main" val="517753056"/>
                  </a:ext>
                </a:extLst>
              </a:tr>
              <a:tr h="370840">
                <a:tc>
                  <a:txBody>
                    <a:bodyPr/>
                    <a:lstStyle/>
                    <a:p>
                      <a:pPr algn="l"/>
                      <a:r>
                        <a:rPr lang="en-US" noProof="1"/>
                        <a:t>&lt;h4&gt;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Size is small  when compared to h3</a:t>
                      </a:r>
                    </a:p>
                  </a:txBody>
                  <a:tcPr anchor="ctr"/>
                </a:tc>
                <a:extLst>
                  <a:ext uri="{0D108BD9-81ED-4DB2-BD59-A6C34878D82A}">
                    <a16:rowId xmlns:a16="http://schemas.microsoft.com/office/drawing/2014/main" val="4045548236"/>
                  </a:ext>
                </a:extLst>
              </a:tr>
              <a:tr h="370840">
                <a:tc>
                  <a:txBody>
                    <a:bodyPr/>
                    <a:lstStyle/>
                    <a:p>
                      <a:pPr algn="l"/>
                      <a:r>
                        <a:rPr lang="en-US" noProof="1"/>
                        <a:t>&lt;h5&gt;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Size is small  when compared to h4</a:t>
                      </a:r>
                    </a:p>
                  </a:txBody>
                  <a:tcPr anchor="ctr"/>
                </a:tc>
                <a:extLst>
                  <a:ext uri="{0D108BD9-81ED-4DB2-BD59-A6C34878D82A}">
                    <a16:rowId xmlns:a16="http://schemas.microsoft.com/office/drawing/2014/main" val="1975835513"/>
                  </a:ext>
                </a:extLst>
              </a:tr>
              <a:tr h="370839">
                <a:tc>
                  <a:txBody>
                    <a:bodyPr/>
                    <a:lstStyle/>
                    <a:p>
                      <a:pPr lvl="0" algn="l">
                        <a:buNone/>
                      </a:pPr>
                      <a:r>
                        <a:rPr lang="en-US" noProof="1"/>
                        <a:t>&lt;h6&gt;</a:t>
                      </a:r>
                    </a:p>
                  </a:txBody>
                  <a:tcPr anchor="ctr"/>
                </a:tc>
                <a:tc>
                  <a:txBody>
                    <a:bodyPr/>
                    <a:lstStyle/>
                    <a:p>
                      <a:pPr lvl="0" algn="l">
                        <a:buNone/>
                      </a:pPr>
                      <a:r>
                        <a:rPr lang="en-US" sz="1800" b="0" i="0" u="none" strike="noStrike" noProof="0" dirty="0">
                          <a:solidFill>
                            <a:srgbClr val="000000"/>
                          </a:solidFill>
                          <a:latin typeface="Myriad Pro"/>
                        </a:rPr>
                        <a:t>Smallest Heading Tag which refers as least important heading.</a:t>
                      </a:r>
                      <a:endParaRPr lang="en-US" dirty="0"/>
                    </a:p>
                  </a:txBody>
                  <a:tcPr anchor="ctr"/>
                </a:tc>
                <a:extLst>
                  <a:ext uri="{0D108BD9-81ED-4DB2-BD59-A6C34878D82A}">
                    <a16:rowId xmlns:a16="http://schemas.microsoft.com/office/drawing/2014/main" val="3823611922"/>
                  </a:ext>
                </a:extLst>
              </a:tr>
            </a:tbl>
          </a:graphicData>
        </a:graphic>
      </p:graphicFrame>
    </p:spTree>
    <p:extLst>
      <p:ext uri="{BB962C8B-B14F-4D97-AF65-F5344CB8AC3E}">
        <p14:creationId xmlns:p14="http://schemas.microsoft.com/office/powerpoint/2010/main" val="245532677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55892" y="635408"/>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&lt;p&gt; Tag / Paragraph Tag</a:t>
            </a:r>
          </a:p>
          <a:p>
            <a:pPr marL="2145030" indent="-285750">
              <a:spcBef>
                <a:spcPts val="550"/>
              </a:spcBef>
              <a:buClrTx/>
              <a:buFont typeface="Arial" panose="02020603050405020304" pitchFamily="18" charset="0"/>
              <a:buChar char="•"/>
            </a:pPr>
            <a:r>
              <a:rPr lang="en-US" sz="2400" dirty="0">
                <a:solidFill>
                  <a:schemeClr val="tx1"/>
                </a:solidFill>
                <a:latin typeface="Arial"/>
                <a:ea typeface="Microsoft YaHei"/>
                <a:cs typeface="Arial"/>
              </a:rPr>
              <a:t>&lt;p&gt; tag is used to define paragraph in webpage.</a:t>
            </a:r>
          </a:p>
          <a:p>
            <a:pPr marL="2145030" indent="-285750">
              <a:spcBef>
                <a:spcPts val="550"/>
              </a:spcBef>
              <a:buClrTx/>
              <a:buFont typeface="Arial" panose="02020603050405020304" pitchFamily="18" charset="0"/>
              <a:buChar char="•"/>
            </a:pPr>
            <a:r>
              <a:rPr lang="en-US" sz="2400" dirty="0">
                <a:solidFill>
                  <a:schemeClr val="tx1"/>
                </a:solidFill>
                <a:latin typeface="Arial"/>
                <a:ea typeface="Microsoft YaHei"/>
                <a:cs typeface="Arial"/>
              </a:rPr>
              <a:t>If you are using multiple &lt;p&gt; tags in webpage, browser will automatically add an empty lines before and after a paragraph.</a:t>
            </a:r>
          </a:p>
          <a:p>
            <a:pPr marL="2145030" indent="-285750">
              <a:spcBef>
                <a:spcPts val="550"/>
              </a:spcBef>
              <a:buClrTx/>
              <a:buFont typeface="Arial" panose="02020603050405020304" pitchFamily="18" charset="0"/>
              <a:buChar char="•"/>
            </a:pPr>
            <a:r>
              <a:rPr lang="en-US" sz="2400" dirty="0">
                <a:solidFill>
                  <a:schemeClr val="tx1"/>
                </a:solidFill>
                <a:latin typeface="Arial"/>
                <a:ea typeface="Microsoft YaHei"/>
                <a:cs typeface="Arial"/>
              </a:rPr>
              <a:t>If you put lot of spaces inside the &lt;p&gt; tags, browser removes all extra spaces and extra lines while displaying on page by counting it as single one.</a:t>
            </a: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3" name="Table 3">
            <a:extLst>
              <a:ext uri="{FF2B5EF4-FFF2-40B4-BE49-F238E27FC236}">
                <a16:creationId xmlns:a16="http://schemas.microsoft.com/office/drawing/2014/main" id="{8C6A837C-7820-226F-88B9-1F676E2FD3F7}"/>
              </a:ext>
            </a:extLst>
          </p:cNvPr>
          <p:cNvGraphicFramePr>
            <a:graphicFrameLocks noGrp="1"/>
          </p:cNvGraphicFramePr>
          <p:nvPr>
            <p:extLst>
              <p:ext uri="{D42A27DB-BD31-4B8C-83A1-F6EECF244321}">
                <p14:modId xmlns:p14="http://schemas.microsoft.com/office/powerpoint/2010/main" val="597090690"/>
              </p:ext>
            </p:extLst>
          </p:nvPr>
        </p:nvGraphicFramePr>
        <p:xfrm>
          <a:off x="739588" y="3843617"/>
          <a:ext cx="10526868" cy="1682280"/>
        </p:xfrm>
        <a:graphic>
          <a:graphicData uri="http://schemas.openxmlformats.org/drawingml/2006/table">
            <a:tbl>
              <a:tblPr firstRow="1" bandRow="1">
                <a:tableStyleId>{21E4AEA4-8DFA-4A89-87EB-49C32662AFE0}</a:tableStyleId>
              </a:tblPr>
              <a:tblGrid>
                <a:gridCol w="1579160">
                  <a:extLst>
                    <a:ext uri="{9D8B030D-6E8A-4147-A177-3AD203B41FA5}">
                      <a16:colId xmlns:a16="http://schemas.microsoft.com/office/drawing/2014/main" val="2022278461"/>
                    </a:ext>
                  </a:extLst>
                </a:gridCol>
                <a:gridCol w="8947708">
                  <a:extLst>
                    <a:ext uri="{9D8B030D-6E8A-4147-A177-3AD203B41FA5}">
                      <a16:colId xmlns:a16="http://schemas.microsoft.com/office/drawing/2014/main" val="1479760939"/>
                    </a:ext>
                  </a:extLst>
                </a:gridCol>
              </a:tblGrid>
              <a:tr h="372978">
                <a:tc>
                  <a:txBody>
                    <a:bodyPr/>
                    <a:lstStyle/>
                    <a:p>
                      <a:pPr algn="ctr"/>
                      <a:r>
                        <a:rPr lang="en-US" dirty="0"/>
                        <a:t>Tag</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&lt;p&gt;</a:t>
                      </a:r>
                    </a:p>
                  </a:txBody>
                  <a:tcPr anchor="ctr"/>
                </a:tc>
                <a:tc>
                  <a:txBody>
                    <a:bodyPr/>
                    <a:lstStyle/>
                    <a:p>
                      <a:pPr algn="l"/>
                      <a:r>
                        <a:rPr lang="en-US" dirty="0"/>
                        <a:t>Used to define Paragraph in webpage.</a:t>
                      </a:r>
                    </a:p>
                  </a:txBody>
                  <a:tcPr anchor="ctr"/>
                </a:tc>
                <a:extLst>
                  <a:ext uri="{0D108BD9-81ED-4DB2-BD59-A6C34878D82A}">
                    <a16:rowId xmlns:a16="http://schemas.microsoft.com/office/drawing/2014/main" val="700325843"/>
                  </a:ext>
                </a:extLst>
              </a:tr>
              <a:tr h="529389">
                <a:tc>
                  <a:txBody>
                    <a:bodyPr/>
                    <a:lstStyle/>
                    <a:p>
                      <a:pPr algn="l"/>
                      <a:r>
                        <a:rPr lang="en-US" noProof="1"/>
                        <a:t>&lt;br&gt;</a:t>
                      </a:r>
                    </a:p>
                  </a:txBody>
                  <a:tcPr anchor="ctr"/>
                </a:tc>
                <a:tc>
                  <a:txBody>
                    <a:bodyPr/>
                    <a:lstStyle/>
                    <a:p>
                      <a:pPr algn="l"/>
                      <a:r>
                        <a:rPr lang="en-US" dirty="0"/>
                        <a:t>It is used for line break and it can be used with paragraph tag.</a:t>
                      </a:r>
                    </a:p>
                  </a:txBody>
                  <a:tcPr anchor="ctr"/>
                </a:tc>
                <a:extLst>
                  <a:ext uri="{0D108BD9-81ED-4DB2-BD59-A6C34878D82A}">
                    <a16:rowId xmlns:a16="http://schemas.microsoft.com/office/drawing/2014/main" val="640162573"/>
                  </a:ext>
                </a:extLst>
              </a:tr>
              <a:tr h="409073">
                <a:tc>
                  <a:txBody>
                    <a:bodyPr/>
                    <a:lstStyle/>
                    <a:p>
                      <a:pPr algn="l"/>
                      <a:r>
                        <a:rPr lang="en-US" noProof="1"/>
                        <a:t>&lt;hr&gt;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It is used to apply horizontal line between two elements. In our case paragraphs.</a:t>
                      </a:r>
                    </a:p>
                  </a:txBody>
                  <a:tcPr anchor="ctr"/>
                </a:tc>
                <a:extLst>
                  <a:ext uri="{0D108BD9-81ED-4DB2-BD59-A6C34878D82A}">
                    <a16:rowId xmlns:a16="http://schemas.microsoft.com/office/drawing/2014/main" val="517753056"/>
                  </a:ext>
                </a:extLst>
              </a:tr>
            </a:tbl>
          </a:graphicData>
        </a:graphic>
      </p:graphicFrame>
    </p:spTree>
    <p:extLst>
      <p:ext uri="{BB962C8B-B14F-4D97-AF65-F5344CB8AC3E}">
        <p14:creationId xmlns:p14="http://schemas.microsoft.com/office/powerpoint/2010/main" val="224316675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89510" y="1431027"/>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&lt;a&gt; Tag / Anchor Tag</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HTML Anchor Tag defines a hyperlink that links one page to another page.</a:t>
            </a:r>
            <a:endParaRPr lang="en-US" sz="2400" dirty="0">
              <a:solidFill>
                <a:schemeClr val="tx1"/>
              </a:solidFill>
              <a:cs typeface="Arial"/>
            </a:endParaRP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can create hyperlink to other page as well as files, location, or any URL.</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The "</a:t>
            </a:r>
            <a:r>
              <a:rPr lang="en-US" sz="2400" b="1" noProof="1">
                <a:solidFill>
                  <a:schemeClr val="tx1"/>
                </a:solidFill>
                <a:latin typeface="Arial"/>
                <a:ea typeface="Microsoft YaHei"/>
                <a:cs typeface="Arial"/>
              </a:rPr>
              <a:t>href</a:t>
            </a:r>
            <a:r>
              <a:rPr lang="en-US" sz="2400" dirty="0">
                <a:solidFill>
                  <a:schemeClr val="tx1"/>
                </a:solidFill>
                <a:latin typeface="Arial"/>
                <a:ea typeface="Microsoft YaHei"/>
                <a:cs typeface="Arial"/>
              </a:rPr>
              <a:t>" attribute is the most important attribute of the HTML Page and which links to the destination page or URL.</a:t>
            </a:r>
          </a:p>
          <a:p>
            <a:pPr marL="1859280" indent="0">
              <a:spcBef>
                <a:spcPts val="550"/>
              </a:spcBef>
              <a:buClrTx/>
            </a:pPr>
            <a:r>
              <a:rPr lang="en-US" sz="2800" b="1" dirty="0">
                <a:solidFill>
                  <a:schemeClr val="tx1"/>
                </a:solidFill>
                <a:latin typeface="Arial"/>
                <a:ea typeface="Microsoft YaHei"/>
                <a:cs typeface="Arial"/>
              </a:rPr>
              <a:t>Syntax</a:t>
            </a:r>
            <a:endParaRPr lang="en-US" sz="2800" dirty="0">
              <a:solidFill>
                <a:schemeClr val="tx1"/>
              </a:solidFill>
              <a:latin typeface="Arial"/>
              <a:ea typeface="Microsoft YaHei"/>
              <a:cs typeface="Arial"/>
            </a:endParaRPr>
          </a:p>
          <a:p>
            <a:pPr marL="1859280" indent="0" algn="ctr">
              <a:spcBef>
                <a:spcPts val="550"/>
              </a:spcBef>
              <a:buClrTx/>
            </a:pPr>
            <a:r>
              <a:rPr lang="en-US" sz="2800" b="1" dirty="0">
                <a:solidFill>
                  <a:schemeClr val="tx1"/>
                </a:solidFill>
                <a:latin typeface="Arial"/>
                <a:ea typeface="Microsoft YaHei"/>
                <a:cs typeface="Arial"/>
              </a:rPr>
              <a:t>&lt;a </a:t>
            </a:r>
            <a:r>
              <a:rPr lang="en-US" sz="2800" b="1" noProof="1">
                <a:solidFill>
                  <a:schemeClr val="tx1"/>
                </a:solidFill>
                <a:latin typeface="Arial"/>
                <a:ea typeface="Microsoft YaHei"/>
                <a:cs typeface="Arial"/>
              </a:rPr>
              <a:t>href</a:t>
            </a:r>
            <a:r>
              <a:rPr lang="en-US" sz="2800" b="1" dirty="0">
                <a:solidFill>
                  <a:schemeClr val="tx1"/>
                </a:solidFill>
                <a:latin typeface="Arial"/>
                <a:ea typeface="Microsoft YaHei"/>
                <a:cs typeface="Arial"/>
              </a:rPr>
              <a:t>="www.google.com"&gt;Google&lt;/a&gt;</a:t>
            </a:r>
          </a:p>
          <a:p>
            <a:pPr marL="1859280" indent="0">
              <a:spcBef>
                <a:spcPts val="550"/>
              </a:spcBef>
              <a:buClrTx/>
            </a:pPr>
            <a:r>
              <a:rPr lang="en-US" altLang="en-US" sz="2400" b="1" dirty="0">
                <a:solidFill>
                  <a:srgbClr val="000000"/>
                </a:solidFill>
                <a:latin typeface="Verdana"/>
                <a:ea typeface="Microsoft YaHei"/>
              </a:rPr>
              <a:t>Target Attribute</a:t>
            </a:r>
          </a:p>
          <a:p>
            <a:pPr marL="2373630" indent="-514350">
              <a:spcBef>
                <a:spcPts val="550"/>
              </a:spcBef>
              <a:buClrTx/>
              <a:buAutoNum type="arabicPeriod"/>
            </a:pPr>
            <a:r>
              <a:rPr lang="en-US" altLang="en-US" sz="2000" noProof="1">
                <a:solidFill>
                  <a:srgbClr val="000000"/>
                </a:solidFill>
                <a:latin typeface="Verdana"/>
                <a:ea typeface="Microsoft YaHei"/>
              </a:rPr>
              <a:t>Target attribute can only use with href attribute in anchor tag.</a:t>
            </a:r>
          </a:p>
          <a:p>
            <a:pPr marL="2373630" indent="-514350">
              <a:spcBef>
                <a:spcPts val="550"/>
              </a:spcBef>
              <a:buClrTx/>
              <a:buAutoNum type="arabicPeriod"/>
            </a:pPr>
            <a:r>
              <a:rPr lang="en-US" altLang="en-US" sz="2000" noProof="1">
                <a:solidFill>
                  <a:srgbClr val="000000"/>
                </a:solidFill>
                <a:latin typeface="Verdana"/>
                <a:ea typeface="Microsoft YaHei"/>
              </a:rPr>
              <a:t>If we will not use target attribute then link will open in same page.</a:t>
            </a: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AE5D4B46-7A32-5152-F42C-9AD0E7750CDB}"/>
              </a:ext>
            </a:extLst>
          </p:cNvPr>
          <p:cNvGraphicFramePr>
            <a:graphicFrameLocks noGrp="1"/>
          </p:cNvGraphicFramePr>
          <p:nvPr>
            <p:extLst>
              <p:ext uri="{D42A27DB-BD31-4B8C-83A1-F6EECF244321}">
                <p14:modId xmlns:p14="http://schemas.microsoft.com/office/powerpoint/2010/main" val="670257244"/>
              </p:ext>
            </p:extLst>
          </p:nvPr>
        </p:nvGraphicFramePr>
        <p:xfrm>
          <a:off x="683559" y="5065058"/>
          <a:ext cx="10526868" cy="1694312"/>
        </p:xfrm>
        <a:graphic>
          <a:graphicData uri="http://schemas.openxmlformats.org/drawingml/2006/table">
            <a:tbl>
              <a:tblPr firstRow="1" bandRow="1">
                <a:tableStyleId>{21E4AEA4-8DFA-4A89-87EB-49C32662AFE0}</a:tableStyleId>
              </a:tblPr>
              <a:tblGrid>
                <a:gridCol w="1579160">
                  <a:extLst>
                    <a:ext uri="{9D8B030D-6E8A-4147-A177-3AD203B41FA5}">
                      <a16:colId xmlns:a16="http://schemas.microsoft.com/office/drawing/2014/main" val="2022278461"/>
                    </a:ext>
                  </a:extLst>
                </a:gridCol>
                <a:gridCol w="8947708">
                  <a:extLst>
                    <a:ext uri="{9D8B030D-6E8A-4147-A177-3AD203B41FA5}">
                      <a16:colId xmlns:a16="http://schemas.microsoft.com/office/drawing/2014/main" val="1479760939"/>
                    </a:ext>
                  </a:extLst>
                </a:gridCol>
              </a:tblGrid>
              <a:tr h="385010">
                <a:tc>
                  <a:txBody>
                    <a:bodyPr/>
                    <a:lstStyle/>
                    <a:p>
                      <a:pPr algn="ctr"/>
                      <a:r>
                        <a:rPr lang="en-US" dirty="0"/>
                        <a:t>Value</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_blank</a:t>
                      </a:r>
                    </a:p>
                  </a:txBody>
                  <a:tcPr anchor="ctr"/>
                </a:tc>
                <a:tc>
                  <a:txBody>
                    <a:bodyPr/>
                    <a:lstStyle/>
                    <a:p>
                      <a:pPr algn="l"/>
                      <a:r>
                        <a:rPr lang="en-US" dirty="0"/>
                        <a:t>Opens the linked document in a new window.</a:t>
                      </a:r>
                    </a:p>
                  </a:txBody>
                  <a:tcPr anchor="ctr"/>
                </a:tc>
                <a:extLst>
                  <a:ext uri="{0D108BD9-81ED-4DB2-BD59-A6C34878D82A}">
                    <a16:rowId xmlns:a16="http://schemas.microsoft.com/office/drawing/2014/main" val="700325843"/>
                  </a:ext>
                </a:extLst>
              </a:tr>
              <a:tr h="529389">
                <a:tc>
                  <a:txBody>
                    <a:bodyPr/>
                    <a:lstStyle/>
                    <a:p>
                      <a:pPr algn="l"/>
                      <a:r>
                        <a:rPr lang="en-US" noProof="1"/>
                        <a:t>_self</a:t>
                      </a:r>
                    </a:p>
                  </a:txBody>
                  <a:tcPr anchor="ctr"/>
                </a:tc>
                <a:tc>
                  <a:txBody>
                    <a:bodyPr/>
                    <a:lstStyle/>
                    <a:p>
                      <a:pPr algn="l"/>
                      <a:r>
                        <a:rPr lang="en-US" dirty="0"/>
                        <a:t>Opens the linked document in the same window. (This is default)</a:t>
                      </a:r>
                    </a:p>
                  </a:txBody>
                  <a:tcPr anchor="ctr"/>
                </a:tc>
                <a:extLst>
                  <a:ext uri="{0D108BD9-81ED-4DB2-BD59-A6C34878D82A}">
                    <a16:rowId xmlns:a16="http://schemas.microsoft.com/office/drawing/2014/main" val="640162573"/>
                  </a:ext>
                </a:extLst>
              </a:tr>
              <a:tr h="409073">
                <a:tc>
                  <a:txBody>
                    <a:bodyPr/>
                    <a:lstStyle/>
                    <a:p>
                      <a:pPr algn="l"/>
                      <a:r>
                        <a:rPr lang="en-US" noProof="1"/>
                        <a:t>_top</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Opens the linked document in the full body of the window.</a:t>
                      </a:r>
                    </a:p>
                  </a:txBody>
                  <a:tcPr anchor="ctr"/>
                </a:tc>
                <a:extLst>
                  <a:ext uri="{0D108BD9-81ED-4DB2-BD59-A6C34878D82A}">
                    <a16:rowId xmlns:a16="http://schemas.microsoft.com/office/drawing/2014/main" val="517753056"/>
                  </a:ext>
                </a:extLst>
              </a:tr>
            </a:tbl>
          </a:graphicData>
        </a:graphic>
      </p:graphicFrame>
    </p:spTree>
    <p:extLst>
      <p:ext uri="{BB962C8B-B14F-4D97-AF65-F5344CB8AC3E}">
        <p14:creationId xmlns:p14="http://schemas.microsoft.com/office/powerpoint/2010/main" val="157089177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89510" y="1206908"/>
            <a:ext cx="12873920" cy="28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rPr>
              <a:t>&lt;img&gt; Tag / Image Tag</a:t>
            </a:r>
          </a:p>
          <a:p>
            <a:pPr marL="2373630" indent="-514350">
              <a:spcBef>
                <a:spcPts val="550"/>
              </a:spcBef>
              <a:buClrTx/>
              <a:buFont typeface="Arial" panose="02020603050405020304" pitchFamily="18" charset="0"/>
              <a:buChar char="•"/>
            </a:pPr>
            <a:r>
              <a:rPr lang="en-US" altLang="en-US" sz="2400" noProof="1">
                <a:solidFill>
                  <a:srgbClr val="000000"/>
                </a:solidFill>
                <a:latin typeface="Verdana"/>
                <a:ea typeface="Microsoft YaHei"/>
                <a:cs typeface="Arial"/>
              </a:rPr>
              <a:t>Image Tag is used to display image on the webpage.</a:t>
            </a:r>
            <a:endParaRPr lang="en-US" altLang="en-US" sz="2400" noProof="1">
              <a:solidFill>
                <a:srgbClr val="000000"/>
              </a:solidFill>
              <a:latin typeface="Verdana"/>
              <a:cs typeface="Arial"/>
            </a:endParaRPr>
          </a:p>
          <a:p>
            <a:pPr marL="2373630" indent="-514350">
              <a:spcBef>
                <a:spcPts val="550"/>
              </a:spcBef>
              <a:buClrTx/>
              <a:buFont typeface="Arial" panose="02020603050405020304" pitchFamily="18" charset="0"/>
              <a:buChar char="•"/>
            </a:pPr>
            <a:r>
              <a:rPr lang="en-US" altLang="en-US" sz="2400" noProof="1">
                <a:solidFill>
                  <a:srgbClr val="000000"/>
                </a:solidFill>
                <a:latin typeface="Verdana"/>
                <a:ea typeface="Microsoft YaHei"/>
                <a:cs typeface="Arial"/>
              </a:rPr>
              <a:t>This is an empty tag that contains attributes only, closing tags are not used in HTML image tag.</a:t>
            </a:r>
          </a:p>
          <a:p>
            <a:pPr marL="2373630" indent="-514350">
              <a:spcBef>
                <a:spcPts val="550"/>
              </a:spcBef>
              <a:buClrTx/>
              <a:buFont typeface="Arial" panose="02020603050405020304" pitchFamily="18" charset="0"/>
              <a:buChar char="•"/>
            </a:pPr>
            <a:r>
              <a:rPr lang="en-US" altLang="en-US" sz="2400" noProof="1">
                <a:solidFill>
                  <a:schemeClr val="tx1"/>
                </a:solidFill>
                <a:latin typeface="Verdana"/>
                <a:ea typeface="Microsoft YaHei"/>
                <a:cs typeface="Arial"/>
              </a:rPr>
              <a:t>Always try to insert the image with width and height. Else, it may flicker while displaying on webpage.</a:t>
            </a:r>
          </a:p>
          <a:p>
            <a:pPr marL="1859280" indent="0">
              <a:spcBef>
                <a:spcPts val="550"/>
              </a:spcBef>
            </a:pPr>
            <a:r>
              <a:rPr lang="en-US" sz="2800" b="1" noProof="1">
                <a:solidFill>
                  <a:schemeClr val="tx1"/>
                </a:solidFill>
                <a:latin typeface="Arial"/>
                <a:ea typeface="Microsoft YaHei"/>
                <a:cs typeface="Arial"/>
              </a:rPr>
              <a:t>Syntax</a:t>
            </a:r>
            <a:endParaRPr lang="en-US" sz="2800" noProof="1">
              <a:solidFill>
                <a:schemeClr val="tx1"/>
              </a:solidFill>
              <a:latin typeface="Arial"/>
              <a:ea typeface="Microsoft YaHei"/>
              <a:cs typeface="Arial"/>
            </a:endParaRPr>
          </a:p>
          <a:p>
            <a:pPr marL="1859280" indent="0" algn="ctr">
              <a:spcBef>
                <a:spcPts val="550"/>
              </a:spcBef>
              <a:buClrTx/>
            </a:pPr>
            <a:r>
              <a:rPr lang="en-US" altLang="en-US" sz="2400" b="1" noProof="1">
                <a:solidFill>
                  <a:srgbClr val="000000"/>
                </a:solidFill>
                <a:latin typeface="Verdana"/>
                <a:ea typeface="Microsoft YaHei"/>
                <a:cs typeface="Arial"/>
              </a:rPr>
              <a:t>&lt;img src="abc.jpg"/&gt;</a:t>
            </a:r>
          </a:p>
          <a:p>
            <a:pPr marL="1859280" indent="0">
              <a:spcBef>
                <a:spcPts val="550"/>
              </a:spcBef>
              <a:buClrTx/>
            </a:pPr>
            <a:endParaRPr lang="en-US" altLang="en-US" sz="2400" noProof="1">
              <a:solidFill>
                <a:srgbClr val="000000"/>
              </a:solidFill>
              <a:latin typeface="Verdana"/>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35224FA2-6962-DAA9-C7BE-99BFF7254D84}"/>
              </a:ext>
            </a:extLst>
          </p:cNvPr>
          <p:cNvGraphicFramePr>
            <a:graphicFrameLocks noGrp="1"/>
          </p:cNvGraphicFramePr>
          <p:nvPr>
            <p:extLst>
              <p:ext uri="{D42A27DB-BD31-4B8C-83A1-F6EECF244321}">
                <p14:modId xmlns:p14="http://schemas.microsoft.com/office/powerpoint/2010/main" val="3003746860"/>
              </p:ext>
            </p:extLst>
          </p:nvPr>
        </p:nvGraphicFramePr>
        <p:xfrm>
          <a:off x="392206" y="4303059"/>
          <a:ext cx="11284868" cy="2372624"/>
        </p:xfrm>
        <a:graphic>
          <a:graphicData uri="http://schemas.openxmlformats.org/drawingml/2006/table">
            <a:tbl>
              <a:tblPr firstRow="1" bandRow="1">
                <a:tableStyleId>{21E4AEA4-8DFA-4A89-87EB-49C32662AFE0}</a:tableStyleId>
              </a:tblPr>
              <a:tblGrid>
                <a:gridCol w="2347422">
                  <a:extLst>
                    <a:ext uri="{9D8B030D-6E8A-4147-A177-3AD203B41FA5}">
                      <a16:colId xmlns:a16="http://schemas.microsoft.com/office/drawing/2014/main" val="2022278461"/>
                    </a:ext>
                  </a:extLst>
                </a:gridCol>
                <a:gridCol w="8937446">
                  <a:extLst>
                    <a:ext uri="{9D8B030D-6E8A-4147-A177-3AD203B41FA5}">
                      <a16:colId xmlns:a16="http://schemas.microsoft.com/office/drawing/2014/main" val="1479760939"/>
                    </a:ext>
                  </a:extLst>
                </a:gridCol>
              </a:tblGrid>
              <a:tr h="385010">
                <a:tc>
                  <a:txBody>
                    <a:bodyPr/>
                    <a:lstStyle/>
                    <a:p>
                      <a:pPr algn="ctr"/>
                      <a:r>
                        <a:rPr lang="en-US" dirty="0"/>
                        <a:t>Attributes</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src</a:t>
                      </a:r>
                    </a:p>
                  </a:txBody>
                  <a:tcPr anchor="ctr"/>
                </a:tc>
                <a:tc>
                  <a:txBody>
                    <a:bodyPr/>
                    <a:lstStyle/>
                    <a:p>
                      <a:pPr algn="l"/>
                      <a:r>
                        <a:rPr lang="en-US" dirty="0"/>
                        <a:t>It is necessary attribute that describes the source or  path of the image. The location of the image may be on same directory or another server.</a:t>
                      </a:r>
                    </a:p>
                  </a:txBody>
                  <a:tcPr anchor="ctr"/>
                </a:tc>
                <a:extLst>
                  <a:ext uri="{0D108BD9-81ED-4DB2-BD59-A6C34878D82A}">
                    <a16:rowId xmlns:a16="http://schemas.microsoft.com/office/drawing/2014/main" val="700325843"/>
                  </a:ext>
                </a:extLst>
              </a:tr>
              <a:tr h="529389">
                <a:tc>
                  <a:txBody>
                    <a:bodyPr/>
                    <a:lstStyle/>
                    <a:p>
                      <a:pPr lvl="0" algn="l">
                        <a:buNone/>
                      </a:pPr>
                      <a:r>
                        <a:rPr lang="en-US" noProof="1"/>
                        <a:t>alt</a:t>
                      </a:r>
                    </a:p>
                  </a:txBody>
                  <a:tcPr anchor="ctr"/>
                </a:tc>
                <a:tc>
                  <a:txBody>
                    <a:bodyPr/>
                    <a:lstStyle/>
                    <a:p>
                      <a:pPr lvl="0" algn="l">
                        <a:buNone/>
                      </a:pPr>
                      <a:r>
                        <a:rPr lang="en-US" dirty="0"/>
                        <a:t>The alt attribute defines an alternate text of the image if the image is not displayed.</a:t>
                      </a:r>
                    </a:p>
                  </a:txBody>
                  <a:tcPr anchor="ctr"/>
                </a:tc>
                <a:extLst>
                  <a:ext uri="{0D108BD9-81ED-4DB2-BD59-A6C34878D82A}">
                    <a16:rowId xmlns:a16="http://schemas.microsoft.com/office/drawing/2014/main" val="640162573"/>
                  </a:ext>
                </a:extLst>
              </a:tr>
              <a:tr h="409073">
                <a:tc>
                  <a:txBody>
                    <a:bodyPr/>
                    <a:lstStyle/>
                    <a:p>
                      <a:pPr algn="l"/>
                      <a:r>
                        <a:rPr lang="en-US" noProof="1"/>
                        <a:t>width</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Used to specify the width of the image.</a:t>
                      </a:r>
                    </a:p>
                  </a:txBody>
                  <a:tcPr anchor="ctr"/>
                </a:tc>
                <a:extLst>
                  <a:ext uri="{0D108BD9-81ED-4DB2-BD59-A6C34878D82A}">
                    <a16:rowId xmlns:a16="http://schemas.microsoft.com/office/drawing/2014/main" val="517753056"/>
                  </a:ext>
                </a:extLst>
              </a:tr>
              <a:tr h="409072">
                <a:tc>
                  <a:txBody>
                    <a:bodyPr/>
                    <a:lstStyle/>
                    <a:p>
                      <a:pPr lvl="0" algn="l">
                        <a:buNone/>
                      </a:pPr>
                      <a:r>
                        <a:rPr lang="en-US" noProof="1"/>
                        <a:t>height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Used to specify the height of the image.</a:t>
                      </a:r>
                      <a:endParaRPr lang="en-US" dirty="0"/>
                    </a:p>
                  </a:txBody>
                  <a:tcPr anchor="ctr"/>
                </a:tc>
                <a:extLst>
                  <a:ext uri="{0D108BD9-81ED-4DB2-BD59-A6C34878D82A}">
                    <a16:rowId xmlns:a16="http://schemas.microsoft.com/office/drawing/2014/main" val="3595379690"/>
                  </a:ext>
                </a:extLst>
              </a:tr>
            </a:tbl>
          </a:graphicData>
        </a:graphic>
      </p:graphicFrame>
    </p:spTree>
    <p:extLst>
      <p:ext uri="{BB962C8B-B14F-4D97-AF65-F5344CB8AC3E}">
        <p14:creationId xmlns:p14="http://schemas.microsoft.com/office/powerpoint/2010/main" val="387624976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79157" y="579380"/>
            <a:ext cx="12873920"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Table Tag</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is used to display data in tabular form (rows and columns).</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&lt;table&gt; tag is used to define date in tabular form.</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HTML tables are used to manage the layout of the page e.g., Header Section, Navigation bar, Body Content, Footer Section.</a:t>
            </a:r>
            <a:endParaRPr lang="en-US" altLang="en-US" sz="2000" noProof="1">
              <a:solidFill>
                <a:schemeClr val="tx1"/>
              </a:solidFill>
              <a:latin typeface="Verdana"/>
              <a:ea typeface="Microsoft YaHei"/>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4" name="Table 3">
            <a:extLst>
              <a:ext uri="{FF2B5EF4-FFF2-40B4-BE49-F238E27FC236}">
                <a16:creationId xmlns:a16="http://schemas.microsoft.com/office/drawing/2014/main" id="{F4D2B262-90DF-FB87-E868-07739C17F754}"/>
              </a:ext>
            </a:extLst>
          </p:cNvPr>
          <p:cNvGraphicFramePr>
            <a:graphicFrameLocks noGrp="1"/>
          </p:cNvGraphicFramePr>
          <p:nvPr>
            <p:extLst>
              <p:ext uri="{D42A27DB-BD31-4B8C-83A1-F6EECF244321}">
                <p14:modId xmlns:p14="http://schemas.microsoft.com/office/powerpoint/2010/main" val="852173487"/>
              </p:ext>
            </p:extLst>
          </p:nvPr>
        </p:nvGraphicFramePr>
        <p:xfrm>
          <a:off x="851646" y="2935941"/>
          <a:ext cx="10526868" cy="3318568"/>
        </p:xfrm>
        <a:graphic>
          <a:graphicData uri="http://schemas.openxmlformats.org/drawingml/2006/table">
            <a:tbl>
              <a:tblPr firstRow="1" bandRow="1">
                <a:tableStyleId>{21E4AEA4-8DFA-4A89-87EB-49C32662AFE0}</a:tableStyleId>
              </a:tblPr>
              <a:tblGrid>
                <a:gridCol w="1579160">
                  <a:extLst>
                    <a:ext uri="{9D8B030D-6E8A-4147-A177-3AD203B41FA5}">
                      <a16:colId xmlns:a16="http://schemas.microsoft.com/office/drawing/2014/main" val="2022278461"/>
                    </a:ext>
                  </a:extLst>
                </a:gridCol>
                <a:gridCol w="8947708">
                  <a:extLst>
                    <a:ext uri="{9D8B030D-6E8A-4147-A177-3AD203B41FA5}">
                      <a16:colId xmlns:a16="http://schemas.microsoft.com/office/drawing/2014/main" val="1479760939"/>
                    </a:ext>
                  </a:extLst>
                </a:gridCol>
              </a:tblGrid>
              <a:tr h="372978">
                <a:tc>
                  <a:txBody>
                    <a:bodyPr/>
                    <a:lstStyle/>
                    <a:p>
                      <a:pPr algn="ctr"/>
                      <a:r>
                        <a:rPr lang="en-US" dirty="0"/>
                        <a:t>Tag</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&lt;tr&gt;</a:t>
                      </a:r>
                    </a:p>
                  </a:txBody>
                  <a:tcPr anchor="ctr"/>
                </a:tc>
                <a:tc>
                  <a:txBody>
                    <a:bodyPr/>
                    <a:lstStyle/>
                    <a:p>
                      <a:pPr algn="l"/>
                      <a:r>
                        <a:rPr lang="en-US" dirty="0"/>
                        <a:t>It defines row in a table.</a:t>
                      </a:r>
                    </a:p>
                  </a:txBody>
                  <a:tcPr anchor="ctr"/>
                </a:tc>
                <a:extLst>
                  <a:ext uri="{0D108BD9-81ED-4DB2-BD59-A6C34878D82A}">
                    <a16:rowId xmlns:a16="http://schemas.microsoft.com/office/drawing/2014/main" val="700325843"/>
                  </a:ext>
                </a:extLst>
              </a:tr>
              <a:tr h="529389">
                <a:tc>
                  <a:txBody>
                    <a:bodyPr/>
                    <a:lstStyle/>
                    <a:p>
                      <a:pPr algn="l"/>
                      <a:r>
                        <a:rPr lang="en-US" noProof="1"/>
                        <a:t>&lt;th&gt;</a:t>
                      </a:r>
                    </a:p>
                  </a:txBody>
                  <a:tcPr anchor="ctr"/>
                </a:tc>
                <a:tc>
                  <a:txBody>
                    <a:bodyPr/>
                    <a:lstStyle/>
                    <a:p>
                      <a:pPr algn="l"/>
                      <a:r>
                        <a:rPr lang="en-US" dirty="0"/>
                        <a:t>It defines header cell in a table.</a:t>
                      </a:r>
                    </a:p>
                  </a:txBody>
                  <a:tcPr anchor="ctr"/>
                </a:tc>
                <a:extLst>
                  <a:ext uri="{0D108BD9-81ED-4DB2-BD59-A6C34878D82A}">
                    <a16:rowId xmlns:a16="http://schemas.microsoft.com/office/drawing/2014/main" val="640162573"/>
                  </a:ext>
                </a:extLst>
              </a:tr>
              <a:tr h="409073">
                <a:tc>
                  <a:txBody>
                    <a:bodyPr/>
                    <a:lstStyle/>
                    <a:p>
                      <a:pPr algn="l"/>
                      <a:r>
                        <a:rPr lang="en-US" noProof="1"/>
                        <a:t>&lt;td&gt;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It </a:t>
                      </a:r>
                      <a:r>
                        <a:rPr lang="en-US" dirty="0"/>
                        <a:t>defines table data in a table.</a:t>
                      </a:r>
                    </a:p>
                  </a:txBody>
                  <a:tcPr anchor="ctr"/>
                </a:tc>
                <a:extLst>
                  <a:ext uri="{0D108BD9-81ED-4DB2-BD59-A6C34878D82A}">
                    <a16:rowId xmlns:a16="http://schemas.microsoft.com/office/drawing/2014/main" val="517753056"/>
                  </a:ext>
                </a:extLst>
              </a:tr>
              <a:tr h="409072">
                <a:tc>
                  <a:txBody>
                    <a:bodyPr/>
                    <a:lstStyle/>
                    <a:p>
                      <a:pPr lvl="0" algn="l">
                        <a:buNone/>
                      </a:pPr>
                      <a:r>
                        <a:rPr lang="en-US" noProof="1"/>
                        <a:t>&lt;caption&gt;</a:t>
                      </a:r>
                    </a:p>
                  </a:txBody>
                  <a:tcPr anchor="ctr"/>
                </a:tc>
                <a:tc>
                  <a:txBody>
                    <a:bodyPr/>
                    <a:lstStyle/>
                    <a:p>
                      <a:pPr lvl="0" algn="l">
                        <a:lnSpc>
                          <a:spcPct val="100000"/>
                        </a:lnSpc>
                        <a:spcBef>
                          <a:spcPts val="0"/>
                        </a:spcBef>
                        <a:spcAft>
                          <a:spcPts val="0"/>
                        </a:spcAft>
                        <a:buNone/>
                      </a:pPr>
                      <a:r>
                        <a:rPr lang="en-US" dirty="0"/>
                        <a:t>It defines the table caption. The Caption should be used after table tag only.</a:t>
                      </a:r>
                    </a:p>
                  </a:txBody>
                  <a:tcPr anchor="ctr"/>
                </a:tc>
                <a:extLst>
                  <a:ext uri="{0D108BD9-81ED-4DB2-BD59-A6C34878D82A}">
                    <a16:rowId xmlns:a16="http://schemas.microsoft.com/office/drawing/2014/main" val="1042619204"/>
                  </a:ext>
                </a:extLst>
              </a:tr>
              <a:tr h="409072">
                <a:tc>
                  <a:txBody>
                    <a:bodyPr/>
                    <a:lstStyle/>
                    <a:p>
                      <a:pPr lvl="0" algn="l">
                        <a:buNone/>
                      </a:pPr>
                      <a:r>
                        <a:rPr lang="en-US" noProof="1"/>
                        <a:t>&lt;colgroup&gt;</a:t>
                      </a:r>
                    </a:p>
                  </a:txBody>
                  <a:tcPr anchor="ctr"/>
                </a:tc>
                <a:tc>
                  <a:txBody>
                    <a:bodyPr/>
                    <a:lstStyle/>
                    <a:p>
                      <a:pPr lvl="0" algn="l">
                        <a:lnSpc>
                          <a:spcPct val="100000"/>
                        </a:lnSpc>
                        <a:spcBef>
                          <a:spcPts val="0"/>
                        </a:spcBef>
                        <a:spcAft>
                          <a:spcPts val="0"/>
                        </a:spcAft>
                        <a:buNone/>
                      </a:pPr>
                      <a:r>
                        <a:rPr lang="en-US" dirty="0"/>
                        <a:t>It specifies a group of one or more columns in a table for formatting</a:t>
                      </a:r>
                    </a:p>
                  </a:txBody>
                  <a:tcPr anchor="ctr"/>
                </a:tc>
                <a:extLst>
                  <a:ext uri="{0D108BD9-81ED-4DB2-BD59-A6C34878D82A}">
                    <a16:rowId xmlns:a16="http://schemas.microsoft.com/office/drawing/2014/main" val="2065824434"/>
                  </a:ext>
                </a:extLst>
              </a:tr>
              <a:tr h="409072">
                <a:tc>
                  <a:txBody>
                    <a:bodyPr/>
                    <a:lstStyle/>
                    <a:p>
                      <a:pPr lvl="0" algn="l">
                        <a:buNone/>
                      </a:pPr>
                      <a:r>
                        <a:rPr lang="en-US" noProof="1"/>
                        <a:t>&lt;col&gt;</a:t>
                      </a:r>
                    </a:p>
                  </a:txBody>
                  <a:tcPr anchor="ctr"/>
                </a:tc>
                <a:tc>
                  <a:txBody>
                    <a:bodyPr/>
                    <a:lstStyle/>
                    <a:p>
                      <a:pPr lvl="0" algn="l">
                        <a:lnSpc>
                          <a:spcPct val="100000"/>
                        </a:lnSpc>
                        <a:spcBef>
                          <a:spcPts val="0"/>
                        </a:spcBef>
                        <a:spcAft>
                          <a:spcPts val="0"/>
                        </a:spcAft>
                        <a:buNone/>
                      </a:pPr>
                      <a:r>
                        <a:rPr lang="en-US" dirty="0"/>
                        <a:t>Used with </a:t>
                      </a:r>
                      <a:r>
                        <a:rPr lang="en-US" dirty="0" err="1"/>
                        <a:t>colgroup</a:t>
                      </a:r>
                      <a:r>
                        <a:rPr lang="en-US" dirty="0"/>
                        <a:t> to specifies column properties for each column.</a:t>
                      </a:r>
                    </a:p>
                  </a:txBody>
                  <a:tcPr anchor="ctr"/>
                </a:tc>
                <a:extLst>
                  <a:ext uri="{0D108BD9-81ED-4DB2-BD59-A6C34878D82A}">
                    <a16:rowId xmlns:a16="http://schemas.microsoft.com/office/drawing/2014/main" val="2997560232"/>
                  </a:ext>
                </a:extLst>
              </a:tr>
              <a:tr h="409072">
                <a:tc>
                  <a:txBody>
                    <a:bodyPr/>
                    <a:lstStyle/>
                    <a:p>
                      <a:pPr lvl="0" algn="l">
                        <a:buNone/>
                      </a:pPr>
                      <a:r>
                        <a:rPr lang="en-US" noProof="1"/>
                        <a:t>&lt;tfoot&gt;</a:t>
                      </a:r>
                    </a:p>
                  </a:txBody>
                  <a:tcPr anchor="ctr"/>
                </a:tc>
                <a:tc>
                  <a:txBody>
                    <a:bodyPr/>
                    <a:lstStyle/>
                    <a:p>
                      <a:pPr lvl="0" algn="l">
                        <a:lnSpc>
                          <a:spcPct val="100000"/>
                        </a:lnSpc>
                        <a:spcBef>
                          <a:spcPts val="0"/>
                        </a:spcBef>
                        <a:spcAft>
                          <a:spcPts val="0"/>
                        </a:spcAft>
                        <a:buNone/>
                      </a:pPr>
                      <a:r>
                        <a:rPr lang="en-US" dirty="0"/>
                        <a:t>It is used to group the footer content of the table.</a:t>
                      </a:r>
                    </a:p>
                  </a:txBody>
                  <a:tcPr anchor="ctr"/>
                </a:tc>
                <a:extLst>
                  <a:ext uri="{0D108BD9-81ED-4DB2-BD59-A6C34878D82A}">
                    <a16:rowId xmlns:a16="http://schemas.microsoft.com/office/drawing/2014/main" val="1082707205"/>
                  </a:ext>
                </a:extLst>
              </a:tr>
            </a:tbl>
          </a:graphicData>
        </a:graphic>
      </p:graphicFrame>
    </p:spTree>
    <p:extLst>
      <p:ext uri="{BB962C8B-B14F-4D97-AF65-F5344CB8AC3E}">
        <p14:creationId xmlns:p14="http://schemas.microsoft.com/office/powerpoint/2010/main" val="154389818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90363" y="1442233"/>
            <a:ext cx="12873920"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Lists</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HTML lists are used to specify lists of information. All lists may contain one or more list elements.</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There are 3 different types of lists</a:t>
            </a:r>
          </a:p>
          <a:p>
            <a:pPr marL="2373630" indent="-514350">
              <a:spcBef>
                <a:spcPts val="550"/>
              </a:spcBef>
              <a:buClrTx/>
              <a:buAutoNum type="arabicPeriod"/>
            </a:pPr>
            <a:r>
              <a:rPr lang="en-US" sz="2400" dirty="0">
                <a:solidFill>
                  <a:schemeClr val="tx1"/>
                </a:solidFill>
                <a:latin typeface="Arial"/>
                <a:ea typeface="Microsoft YaHei"/>
                <a:cs typeface="Arial"/>
              </a:rPr>
              <a:t>Ordered List (</a:t>
            </a:r>
            <a:r>
              <a:rPr lang="en-US" sz="2400" dirty="0" err="1">
                <a:solidFill>
                  <a:schemeClr val="tx1"/>
                </a:solidFill>
                <a:latin typeface="Arial"/>
                <a:ea typeface="Microsoft YaHei"/>
                <a:cs typeface="Arial"/>
              </a:rPr>
              <a:t>ol</a:t>
            </a:r>
            <a:r>
              <a:rPr lang="en-US" sz="2400" dirty="0">
                <a:solidFill>
                  <a:schemeClr val="tx1"/>
                </a:solidFill>
                <a:latin typeface="Arial"/>
                <a:ea typeface="Microsoft YaHei"/>
                <a:cs typeface="Arial"/>
              </a:rPr>
              <a:t>)</a:t>
            </a:r>
          </a:p>
          <a:p>
            <a:pPr marL="2373630" indent="-514350">
              <a:spcBef>
                <a:spcPts val="550"/>
              </a:spcBef>
              <a:buClrTx/>
              <a:buAutoNum type="arabicPeriod"/>
            </a:pPr>
            <a:r>
              <a:rPr lang="en-US" sz="2400" dirty="0">
                <a:solidFill>
                  <a:schemeClr val="tx1"/>
                </a:solidFill>
                <a:latin typeface="Arial"/>
                <a:ea typeface="Microsoft YaHei"/>
                <a:cs typeface="Arial"/>
              </a:rPr>
              <a:t>Unordered List (</a:t>
            </a:r>
            <a:r>
              <a:rPr lang="en-US" sz="2400" dirty="0" err="1">
                <a:solidFill>
                  <a:schemeClr val="tx1"/>
                </a:solidFill>
                <a:latin typeface="Arial"/>
                <a:ea typeface="Microsoft YaHei"/>
                <a:cs typeface="Arial"/>
              </a:rPr>
              <a:t>ul</a:t>
            </a:r>
            <a:r>
              <a:rPr lang="en-US" sz="2400" dirty="0">
                <a:solidFill>
                  <a:schemeClr val="tx1"/>
                </a:solidFill>
                <a:latin typeface="Arial"/>
                <a:ea typeface="Microsoft YaHei"/>
                <a:cs typeface="Arial"/>
              </a:rPr>
              <a:t>)</a:t>
            </a:r>
          </a:p>
          <a:p>
            <a:pPr marL="2373630" indent="-514350">
              <a:spcBef>
                <a:spcPts val="550"/>
              </a:spcBef>
              <a:buClrTx/>
              <a:buAutoNum type="arabicPeriod"/>
            </a:pPr>
            <a:r>
              <a:rPr lang="en-US" sz="2400" dirty="0">
                <a:solidFill>
                  <a:schemeClr val="tx1"/>
                </a:solidFill>
                <a:latin typeface="Arial"/>
                <a:ea typeface="Microsoft YaHei"/>
                <a:cs typeface="Arial"/>
              </a:rPr>
              <a:t>Definition List (dl)</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We can create list inside another list, which will be termed as nested list.</a:t>
            </a: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D37C78AD-8069-4CE9-618F-D8F3F5C231BB}"/>
              </a:ext>
            </a:extLst>
          </p:cNvPr>
          <p:cNvGraphicFramePr>
            <a:graphicFrameLocks noGrp="1"/>
          </p:cNvGraphicFramePr>
          <p:nvPr>
            <p:extLst>
              <p:ext uri="{D42A27DB-BD31-4B8C-83A1-F6EECF244321}">
                <p14:modId xmlns:p14="http://schemas.microsoft.com/office/powerpoint/2010/main" val="3593394000"/>
              </p:ext>
            </p:extLst>
          </p:nvPr>
        </p:nvGraphicFramePr>
        <p:xfrm>
          <a:off x="851647" y="4303058"/>
          <a:ext cx="10526868" cy="1682280"/>
        </p:xfrm>
        <a:graphic>
          <a:graphicData uri="http://schemas.openxmlformats.org/drawingml/2006/table">
            <a:tbl>
              <a:tblPr firstRow="1" bandRow="1">
                <a:tableStyleId>{21E4AEA4-8DFA-4A89-87EB-49C32662AFE0}</a:tableStyleId>
              </a:tblPr>
              <a:tblGrid>
                <a:gridCol w="1579160">
                  <a:extLst>
                    <a:ext uri="{9D8B030D-6E8A-4147-A177-3AD203B41FA5}">
                      <a16:colId xmlns:a16="http://schemas.microsoft.com/office/drawing/2014/main" val="2022278461"/>
                    </a:ext>
                  </a:extLst>
                </a:gridCol>
                <a:gridCol w="8947708">
                  <a:extLst>
                    <a:ext uri="{9D8B030D-6E8A-4147-A177-3AD203B41FA5}">
                      <a16:colId xmlns:a16="http://schemas.microsoft.com/office/drawing/2014/main" val="1479760939"/>
                    </a:ext>
                  </a:extLst>
                </a:gridCol>
              </a:tblGrid>
              <a:tr h="372978">
                <a:tc>
                  <a:txBody>
                    <a:bodyPr/>
                    <a:lstStyle/>
                    <a:p>
                      <a:pPr algn="ctr"/>
                      <a:r>
                        <a:rPr lang="en-US" dirty="0"/>
                        <a:t>Tag</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&lt;li&gt;</a:t>
                      </a:r>
                    </a:p>
                  </a:txBody>
                  <a:tcPr anchor="ctr"/>
                </a:tc>
                <a:tc>
                  <a:txBody>
                    <a:bodyPr/>
                    <a:lstStyle/>
                    <a:p>
                      <a:pPr algn="l"/>
                      <a:r>
                        <a:rPr lang="en-US" dirty="0"/>
                        <a:t>This tag is used to specify list items inside the list for ordered and unordered list.</a:t>
                      </a:r>
                    </a:p>
                  </a:txBody>
                  <a:tcPr anchor="ctr"/>
                </a:tc>
                <a:extLst>
                  <a:ext uri="{0D108BD9-81ED-4DB2-BD59-A6C34878D82A}">
                    <a16:rowId xmlns:a16="http://schemas.microsoft.com/office/drawing/2014/main" val="700325843"/>
                  </a:ext>
                </a:extLst>
              </a:tr>
              <a:tr h="529389">
                <a:tc>
                  <a:txBody>
                    <a:bodyPr/>
                    <a:lstStyle/>
                    <a:p>
                      <a:pPr algn="l"/>
                      <a:r>
                        <a:rPr lang="en-US" noProof="1"/>
                        <a:t>&lt;dt&gt;</a:t>
                      </a:r>
                    </a:p>
                  </a:txBody>
                  <a:tcPr anchor="ctr"/>
                </a:tc>
                <a:tc>
                  <a:txBody>
                    <a:bodyPr/>
                    <a:lstStyle/>
                    <a:p>
                      <a:pPr algn="l"/>
                      <a:r>
                        <a:rPr lang="en-US" dirty="0"/>
                        <a:t>It defines as term. Used with definition list (dl).</a:t>
                      </a:r>
                    </a:p>
                  </a:txBody>
                  <a:tcPr anchor="ctr"/>
                </a:tc>
                <a:extLst>
                  <a:ext uri="{0D108BD9-81ED-4DB2-BD59-A6C34878D82A}">
                    <a16:rowId xmlns:a16="http://schemas.microsoft.com/office/drawing/2014/main" val="640162573"/>
                  </a:ext>
                </a:extLst>
              </a:tr>
              <a:tr h="409073">
                <a:tc>
                  <a:txBody>
                    <a:bodyPr/>
                    <a:lstStyle/>
                    <a:p>
                      <a:pPr algn="l"/>
                      <a:r>
                        <a:rPr lang="en-US" noProof="1"/>
                        <a:t>&lt;dd&gt;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latin typeface="Myriad Pro"/>
                        </a:rPr>
                        <a:t>It defines the term description. Used with definition term (dt)</a:t>
                      </a:r>
                    </a:p>
                  </a:txBody>
                  <a:tcPr anchor="ctr"/>
                </a:tc>
                <a:extLst>
                  <a:ext uri="{0D108BD9-81ED-4DB2-BD59-A6C34878D82A}">
                    <a16:rowId xmlns:a16="http://schemas.microsoft.com/office/drawing/2014/main" val="517753056"/>
                  </a:ext>
                </a:extLst>
              </a:tr>
            </a:tbl>
          </a:graphicData>
        </a:graphic>
      </p:graphicFrame>
    </p:spTree>
    <p:extLst>
      <p:ext uri="{BB962C8B-B14F-4D97-AF65-F5344CB8AC3E}">
        <p14:creationId xmlns:p14="http://schemas.microsoft.com/office/powerpoint/2010/main" val="97906582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90363" y="144223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HTML FORM</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is a section of a document which contains controls such as text fields, passwords, fields, radio buttons, checkboxes, dropdowns, submit buttons.</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facilitates the user to enter the data that is sent to the server for processing the data.</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is required if you want to collect some data from the client side to server side.</a:t>
            </a: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28161859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67098" y="1285351"/>
            <a:ext cx="5926273" cy="5728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FORM Tags</a:t>
            </a:r>
            <a:endParaRPr lang="en-US" altLang="en-US" sz="3200" b="1" dirty="0">
              <a:solidFill>
                <a:srgbClr val="000000"/>
              </a:solidFill>
              <a:latin typeface="Verdana"/>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D37C78AD-8069-4CE9-618F-D8F3F5C231BB}"/>
              </a:ext>
            </a:extLst>
          </p:cNvPr>
          <p:cNvGraphicFramePr>
            <a:graphicFrameLocks noGrp="1"/>
          </p:cNvGraphicFramePr>
          <p:nvPr>
            <p:extLst>
              <p:ext uri="{D42A27DB-BD31-4B8C-83A1-F6EECF244321}">
                <p14:modId xmlns:p14="http://schemas.microsoft.com/office/powerpoint/2010/main" val="2649849876"/>
              </p:ext>
            </p:extLst>
          </p:nvPr>
        </p:nvGraphicFramePr>
        <p:xfrm>
          <a:off x="750794" y="1512793"/>
          <a:ext cx="10526868" cy="4545784"/>
        </p:xfrm>
        <a:graphic>
          <a:graphicData uri="http://schemas.openxmlformats.org/drawingml/2006/table">
            <a:tbl>
              <a:tblPr firstRow="1" bandRow="1">
                <a:tableStyleId>{21E4AEA4-8DFA-4A89-87EB-49C32662AFE0}</a:tableStyleId>
              </a:tblPr>
              <a:tblGrid>
                <a:gridCol w="1579160">
                  <a:extLst>
                    <a:ext uri="{9D8B030D-6E8A-4147-A177-3AD203B41FA5}">
                      <a16:colId xmlns:a16="http://schemas.microsoft.com/office/drawing/2014/main" val="2022278461"/>
                    </a:ext>
                  </a:extLst>
                </a:gridCol>
                <a:gridCol w="8947708">
                  <a:extLst>
                    <a:ext uri="{9D8B030D-6E8A-4147-A177-3AD203B41FA5}">
                      <a16:colId xmlns:a16="http://schemas.microsoft.com/office/drawing/2014/main" val="1479760939"/>
                    </a:ext>
                  </a:extLst>
                </a:gridCol>
              </a:tblGrid>
              <a:tr h="372978">
                <a:tc>
                  <a:txBody>
                    <a:bodyPr/>
                    <a:lstStyle/>
                    <a:p>
                      <a:pPr algn="ctr"/>
                      <a:r>
                        <a:rPr lang="en-US" dirty="0"/>
                        <a:t>Tag</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algn="l"/>
                      <a:r>
                        <a:rPr lang="en-US" noProof="1"/>
                        <a:t>&lt;form&gt;</a:t>
                      </a:r>
                    </a:p>
                  </a:txBody>
                  <a:tcPr anchor="ctr"/>
                </a:tc>
                <a:tc>
                  <a:txBody>
                    <a:bodyPr/>
                    <a:lstStyle/>
                    <a:p>
                      <a:pPr algn="l"/>
                      <a:r>
                        <a:rPr lang="en-US" dirty="0"/>
                        <a:t>It defines an HTML form to enter input from the user. </a:t>
                      </a:r>
                    </a:p>
                  </a:txBody>
                  <a:tcPr anchor="ctr"/>
                </a:tc>
                <a:extLst>
                  <a:ext uri="{0D108BD9-81ED-4DB2-BD59-A6C34878D82A}">
                    <a16:rowId xmlns:a16="http://schemas.microsoft.com/office/drawing/2014/main" val="700325843"/>
                  </a:ext>
                </a:extLst>
              </a:tr>
              <a:tr h="529389">
                <a:tc>
                  <a:txBody>
                    <a:bodyPr/>
                    <a:lstStyle/>
                    <a:p>
                      <a:pPr algn="l"/>
                      <a:r>
                        <a:rPr lang="en-US" noProof="1"/>
                        <a:t>&lt;input&gt;</a:t>
                      </a:r>
                    </a:p>
                  </a:txBody>
                  <a:tcPr anchor="ctr"/>
                </a:tc>
                <a:tc>
                  <a:txBody>
                    <a:bodyPr/>
                    <a:lstStyle/>
                    <a:p>
                      <a:pPr algn="l"/>
                      <a:r>
                        <a:rPr lang="en-US" dirty="0"/>
                        <a:t>It defines the input control.</a:t>
                      </a:r>
                    </a:p>
                  </a:txBody>
                  <a:tcPr anchor="ctr"/>
                </a:tc>
                <a:extLst>
                  <a:ext uri="{0D108BD9-81ED-4DB2-BD59-A6C34878D82A}">
                    <a16:rowId xmlns:a16="http://schemas.microsoft.com/office/drawing/2014/main" val="640162573"/>
                  </a:ext>
                </a:extLst>
              </a:tr>
              <a:tr h="409073">
                <a:tc>
                  <a:txBody>
                    <a:bodyPr/>
                    <a:lstStyle/>
                    <a:p>
                      <a:pPr algn="l"/>
                      <a:r>
                        <a:rPr lang="en-US" noProof="1"/>
                        <a:t>&lt;textarea&gt;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the multi-line input control.</a:t>
                      </a:r>
                    </a:p>
                  </a:txBody>
                  <a:tcPr anchor="ctr"/>
                </a:tc>
                <a:extLst>
                  <a:ext uri="{0D108BD9-81ED-4DB2-BD59-A6C34878D82A}">
                    <a16:rowId xmlns:a16="http://schemas.microsoft.com/office/drawing/2014/main" val="517753056"/>
                  </a:ext>
                </a:extLst>
              </a:tr>
              <a:tr h="409072">
                <a:tc>
                  <a:txBody>
                    <a:bodyPr/>
                    <a:lstStyle/>
                    <a:p>
                      <a:pPr lvl="0" algn="l">
                        <a:buNone/>
                      </a:pPr>
                      <a:r>
                        <a:rPr lang="en-US" noProof="1"/>
                        <a:t>&lt;label&gt;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a label for an input element.</a:t>
                      </a:r>
                    </a:p>
                  </a:txBody>
                  <a:tcPr anchor="ctr"/>
                </a:tc>
                <a:extLst>
                  <a:ext uri="{0D108BD9-81ED-4DB2-BD59-A6C34878D82A}">
                    <a16:rowId xmlns:a16="http://schemas.microsoft.com/office/drawing/2014/main" val="3987112918"/>
                  </a:ext>
                </a:extLst>
              </a:tr>
              <a:tr h="409072">
                <a:tc>
                  <a:txBody>
                    <a:bodyPr/>
                    <a:lstStyle/>
                    <a:p>
                      <a:pPr lvl="0" algn="l">
                        <a:buNone/>
                      </a:pPr>
                      <a:r>
                        <a:rPr lang="en-US" noProof="1"/>
                        <a:t>&lt;fieldset&gt;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groups the related element in a form.</a:t>
                      </a:r>
                    </a:p>
                  </a:txBody>
                  <a:tcPr anchor="ctr"/>
                </a:tc>
                <a:extLst>
                  <a:ext uri="{0D108BD9-81ED-4DB2-BD59-A6C34878D82A}">
                    <a16:rowId xmlns:a16="http://schemas.microsoft.com/office/drawing/2014/main" val="3883284351"/>
                  </a:ext>
                </a:extLst>
              </a:tr>
              <a:tr h="409072">
                <a:tc>
                  <a:txBody>
                    <a:bodyPr/>
                    <a:lstStyle/>
                    <a:p>
                      <a:pPr lvl="0" algn="l">
                        <a:buNone/>
                      </a:pPr>
                      <a:r>
                        <a:rPr lang="en-US" noProof="1"/>
                        <a:t>&lt;legend&gt;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the caption for a &lt;</a:t>
                      </a:r>
                      <a:r>
                        <a:rPr lang="en-US" sz="1800" b="0" i="0" u="none" strike="noStrike" noProof="1">
                          <a:solidFill>
                            <a:srgbClr val="000000"/>
                          </a:solidFill>
                        </a:rPr>
                        <a:t>fieldset</a:t>
                      </a:r>
                      <a:r>
                        <a:rPr lang="en-US" sz="1800" b="0" i="0" u="none" strike="noStrike" noProof="0" dirty="0">
                          <a:solidFill>
                            <a:srgbClr val="000000"/>
                          </a:solidFill>
                        </a:rPr>
                        <a:t>&gt; element.</a:t>
                      </a:r>
                    </a:p>
                  </a:txBody>
                  <a:tcPr anchor="ctr"/>
                </a:tc>
                <a:extLst>
                  <a:ext uri="{0D108BD9-81ED-4DB2-BD59-A6C34878D82A}">
                    <a16:rowId xmlns:a16="http://schemas.microsoft.com/office/drawing/2014/main" val="1083098164"/>
                  </a:ext>
                </a:extLst>
              </a:tr>
              <a:tr h="409072">
                <a:tc>
                  <a:txBody>
                    <a:bodyPr/>
                    <a:lstStyle/>
                    <a:p>
                      <a:pPr lvl="0" algn="l">
                        <a:buNone/>
                      </a:pPr>
                      <a:r>
                        <a:rPr lang="en-US" noProof="1"/>
                        <a:t>&lt;select&gt;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a drop-down list.</a:t>
                      </a:r>
                    </a:p>
                  </a:txBody>
                  <a:tcPr anchor="ctr"/>
                </a:tc>
                <a:extLst>
                  <a:ext uri="{0D108BD9-81ED-4DB2-BD59-A6C34878D82A}">
                    <a16:rowId xmlns:a16="http://schemas.microsoft.com/office/drawing/2014/main" val="860811516"/>
                  </a:ext>
                </a:extLst>
              </a:tr>
              <a:tr h="409072">
                <a:tc>
                  <a:txBody>
                    <a:bodyPr/>
                    <a:lstStyle/>
                    <a:p>
                      <a:pPr lvl="0" algn="l">
                        <a:buNone/>
                      </a:pPr>
                      <a:r>
                        <a:rPr lang="en-US" noProof="1"/>
                        <a:t>&lt;button&gt;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a clickable button.</a:t>
                      </a:r>
                    </a:p>
                  </a:txBody>
                  <a:tcPr anchor="ctr"/>
                </a:tc>
                <a:extLst>
                  <a:ext uri="{0D108BD9-81ED-4DB2-BD59-A6C34878D82A}">
                    <a16:rowId xmlns:a16="http://schemas.microsoft.com/office/drawing/2014/main" val="687887569"/>
                  </a:ext>
                </a:extLst>
              </a:tr>
              <a:tr h="409072">
                <a:tc>
                  <a:txBody>
                    <a:bodyPr/>
                    <a:lstStyle/>
                    <a:p>
                      <a:pPr lvl="0" algn="l">
                        <a:buNone/>
                      </a:pPr>
                      <a:r>
                        <a:rPr lang="en-US" noProof="1"/>
                        <a:t>&lt;option&gt;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an option in a drop-down list.</a:t>
                      </a:r>
                    </a:p>
                  </a:txBody>
                  <a:tcPr anchor="ctr"/>
                </a:tc>
                <a:extLst>
                  <a:ext uri="{0D108BD9-81ED-4DB2-BD59-A6C34878D82A}">
                    <a16:rowId xmlns:a16="http://schemas.microsoft.com/office/drawing/2014/main" val="1104516181"/>
                  </a:ext>
                </a:extLst>
              </a:tr>
              <a:tr h="409072">
                <a:tc>
                  <a:txBody>
                    <a:bodyPr/>
                    <a:lstStyle/>
                    <a:p>
                      <a:pPr lvl="0" algn="l">
                        <a:buNone/>
                      </a:pPr>
                      <a:r>
                        <a:rPr lang="en-US" noProof="1"/>
                        <a:t>&lt;optgroup&gt;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defines a group of related options in a drop-down list.</a:t>
                      </a:r>
                    </a:p>
                  </a:txBody>
                  <a:tcPr anchor="ctr"/>
                </a:tc>
                <a:extLst>
                  <a:ext uri="{0D108BD9-81ED-4DB2-BD59-A6C34878D82A}">
                    <a16:rowId xmlns:a16="http://schemas.microsoft.com/office/drawing/2014/main" val="142594851"/>
                  </a:ext>
                </a:extLst>
              </a:tr>
            </a:tbl>
          </a:graphicData>
        </a:graphic>
      </p:graphicFrame>
    </p:spTree>
    <p:extLst>
      <p:ext uri="{BB962C8B-B14F-4D97-AF65-F5344CB8AC3E}">
        <p14:creationId xmlns:p14="http://schemas.microsoft.com/office/powerpoint/2010/main" val="43504937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67098" y="1285351"/>
            <a:ext cx="8234684" cy="5728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FORM Input Types</a:t>
            </a:r>
            <a:endParaRPr lang="en-US" altLang="en-US" sz="3200" b="1" dirty="0">
              <a:solidFill>
                <a:srgbClr val="000000"/>
              </a:solidFill>
              <a:latin typeface="Verdana"/>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D37C78AD-8069-4CE9-618F-D8F3F5C231BB}"/>
              </a:ext>
            </a:extLst>
          </p:cNvPr>
          <p:cNvGraphicFramePr>
            <a:graphicFrameLocks noGrp="1"/>
          </p:cNvGraphicFramePr>
          <p:nvPr>
            <p:extLst>
              <p:ext uri="{D42A27DB-BD31-4B8C-83A1-F6EECF244321}">
                <p14:modId xmlns:p14="http://schemas.microsoft.com/office/powerpoint/2010/main" val="2342569472"/>
              </p:ext>
            </p:extLst>
          </p:nvPr>
        </p:nvGraphicFramePr>
        <p:xfrm>
          <a:off x="750794" y="1512793"/>
          <a:ext cx="10526867" cy="4545784"/>
        </p:xfrm>
        <a:graphic>
          <a:graphicData uri="http://schemas.openxmlformats.org/drawingml/2006/table">
            <a:tbl>
              <a:tblPr firstRow="1" bandRow="1">
                <a:tableStyleId>{21E4AEA4-8DFA-4A89-87EB-49C32662AFE0}</a:tableStyleId>
              </a:tblPr>
              <a:tblGrid>
                <a:gridCol w="2105526">
                  <a:extLst>
                    <a:ext uri="{9D8B030D-6E8A-4147-A177-3AD203B41FA5}">
                      <a16:colId xmlns:a16="http://schemas.microsoft.com/office/drawing/2014/main" val="2022278461"/>
                    </a:ext>
                  </a:extLst>
                </a:gridCol>
                <a:gridCol w="8421341">
                  <a:extLst>
                    <a:ext uri="{9D8B030D-6E8A-4147-A177-3AD203B41FA5}">
                      <a16:colId xmlns:a16="http://schemas.microsoft.com/office/drawing/2014/main" val="1479760939"/>
                    </a:ext>
                  </a:extLst>
                </a:gridCol>
              </a:tblGrid>
              <a:tr h="372978">
                <a:tc>
                  <a:txBody>
                    <a:bodyPr/>
                    <a:lstStyle/>
                    <a:p>
                      <a:pPr algn="ctr"/>
                      <a:r>
                        <a:rPr lang="en-US" dirty="0"/>
                        <a:t>type=" "</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lvl="0" algn="l">
                        <a:buNone/>
                      </a:pPr>
                      <a:r>
                        <a:rPr lang="en-US" noProof="1"/>
                        <a:t>text</a:t>
                      </a:r>
                    </a:p>
                  </a:txBody>
                  <a:tcPr anchor="ctr"/>
                </a:tc>
                <a:tc>
                  <a:txBody>
                    <a:bodyPr/>
                    <a:lstStyle/>
                    <a:p>
                      <a:pPr lvl="0" algn="l">
                        <a:buNone/>
                      </a:pPr>
                      <a:r>
                        <a:rPr lang="en-US" dirty="0"/>
                        <a:t>Defines a one-line text input field.</a:t>
                      </a:r>
                    </a:p>
                  </a:txBody>
                  <a:tcPr anchor="ctr"/>
                </a:tc>
                <a:extLst>
                  <a:ext uri="{0D108BD9-81ED-4DB2-BD59-A6C34878D82A}">
                    <a16:rowId xmlns:a16="http://schemas.microsoft.com/office/drawing/2014/main" val="700325843"/>
                  </a:ext>
                </a:extLst>
              </a:tr>
              <a:tr h="529389">
                <a:tc>
                  <a:txBody>
                    <a:bodyPr/>
                    <a:lstStyle/>
                    <a:p>
                      <a:pPr algn="l"/>
                      <a:r>
                        <a:rPr lang="en-US" noProof="1"/>
                        <a:t>password</a:t>
                      </a:r>
                    </a:p>
                  </a:txBody>
                  <a:tcPr anchor="ctr"/>
                </a:tc>
                <a:tc>
                  <a:txBody>
                    <a:bodyPr/>
                    <a:lstStyle/>
                    <a:p>
                      <a:pPr lvl="0" algn="l">
                        <a:buNone/>
                      </a:pPr>
                      <a:r>
                        <a:rPr lang="en-US" sz="1800" b="0" i="0" u="none" strike="noStrike" noProof="0" dirty="0">
                          <a:solidFill>
                            <a:srgbClr val="000000"/>
                          </a:solidFill>
                          <a:latin typeface="Myriad Pro"/>
                        </a:rPr>
                        <a:t>Defines a one-line password input field.</a:t>
                      </a:r>
                      <a:endParaRPr lang="en-US" dirty="0"/>
                    </a:p>
                  </a:txBody>
                  <a:tcPr anchor="ctr"/>
                </a:tc>
                <a:extLst>
                  <a:ext uri="{0D108BD9-81ED-4DB2-BD59-A6C34878D82A}">
                    <a16:rowId xmlns:a16="http://schemas.microsoft.com/office/drawing/2014/main" val="640162573"/>
                  </a:ext>
                </a:extLst>
              </a:tr>
              <a:tr h="409073">
                <a:tc>
                  <a:txBody>
                    <a:bodyPr/>
                    <a:lstStyle/>
                    <a:p>
                      <a:pPr algn="l"/>
                      <a:r>
                        <a:rPr lang="en-US" b="0" noProof="1"/>
                        <a:t>email</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an input-field for entering email address.</a:t>
                      </a:r>
                    </a:p>
                  </a:txBody>
                  <a:tcPr anchor="ctr"/>
                </a:tc>
                <a:extLst>
                  <a:ext uri="{0D108BD9-81ED-4DB2-BD59-A6C34878D82A}">
                    <a16:rowId xmlns:a16="http://schemas.microsoft.com/office/drawing/2014/main" val="517753056"/>
                  </a:ext>
                </a:extLst>
              </a:tr>
              <a:tr h="409072">
                <a:tc>
                  <a:txBody>
                    <a:bodyPr/>
                    <a:lstStyle/>
                    <a:p>
                      <a:pPr lvl="0" algn="l">
                        <a:buNone/>
                      </a:pPr>
                      <a:r>
                        <a:rPr lang="en-US" noProof="1"/>
                        <a:t>submit</a:t>
                      </a:r>
                      <a:endParaRPr lang="en-US" dirty="0"/>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a submit button to submit the form to server.</a:t>
                      </a:r>
                    </a:p>
                  </a:txBody>
                  <a:tcPr anchor="ctr"/>
                </a:tc>
                <a:extLst>
                  <a:ext uri="{0D108BD9-81ED-4DB2-BD59-A6C34878D82A}">
                    <a16:rowId xmlns:a16="http://schemas.microsoft.com/office/drawing/2014/main" val="3987112918"/>
                  </a:ext>
                </a:extLst>
              </a:tr>
              <a:tr h="409072">
                <a:tc>
                  <a:txBody>
                    <a:bodyPr/>
                    <a:lstStyle/>
                    <a:p>
                      <a:pPr lvl="0" algn="l">
                        <a:buNone/>
                      </a:pPr>
                      <a:r>
                        <a:rPr lang="en-US" noProof="1"/>
                        <a:t>reset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It is used to reset all values in the form.</a:t>
                      </a:r>
                    </a:p>
                  </a:txBody>
                  <a:tcPr anchor="ctr"/>
                </a:tc>
                <a:extLst>
                  <a:ext uri="{0D108BD9-81ED-4DB2-BD59-A6C34878D82A}">
                    <a16:rowId xmlns:a16="http://schemas.microsoft.com/office/drawing/2014/main" val="3883284351"/>
                  </a:ext>
                </a:extLst>
              </a:tr>
              <a:tr h="409072">
                <a:tc>
                  <a:txBody>
                    <a:bodyPr/>
                    <a:lstStyle/>
                    <a:p>
                      <a:pPr lvl="0" algn="l">
                        <a:buNone/>
                      </a:pPr>
                      <a:r>
                        <a:rPr lang="en-US" noProof="1"/>
                        <a:t>checkbox</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checkboxes which allows select one option.</a:t>
                      </a:r>
                    </a:p>
                  </a:txBody>
                  <a:tcPr anchor="ctr"/>
                </a:tc>
                <a:extLst>
                  <a:ext uri="{0D108BD9-81ED-4DB2-BD59-A6C34878D82A}">
                    <a16:rowId xmlns:a16="http://schemas.microsoft.com/office/drawing/2014/main" val="1083098164"/>
                  </a:ext>
                </a:extLst>
              </a:tr>
              <a:tr h="409072">
                <a:tc>
                  <a:txBody>
                    <a:bodyPr/>
                    <a:lstStyle/>
                    <a:p>
                      <a:pPr lvl="0" algn="l">
                        <a:buNone/>
                      </a:pPr>
                      <a:r>
                        <a:rPr lang="en-US" noProof="1"/>
                        <a:t>button</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Simple push button, which can be programmed to perform a task on an event.</a:t>
                      </a:r>
                    </a:p>
                  </a:txBody>
                  <a:tcPr anchor="ctr"/>
                </a:tc>
                <a:extLst>
                  <a:ext uri="{0D108BD9-81ED-4DB2-BD59-A6C34878D82A}">
                    <a16:rowId xmlns:a16="http://schemas.microsoft.com/office/drawing/2014/main" val="860811516"/>
                  </a:ext>
                </a:extLst>
              </a:tr>
              <a:tr h="409072">
                <a:tc>
                  <a:txBody>
                    <a:bodyPr/>
                    <a:lstStyle/>
                    <a:p>
                      <a:pPr lvl="0" algn="l">
                        <a:buNone/>
                      </a:pPr>
                      <a:r>
                        <a:rPr lang="en-US" noProof="1"/>
                        <a:t>color</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an input field with specific color.</a:t>
                      </a:r>
                    </a:p>
                  </a:txBody>
                  <a:tcPr anchor="ctr"/>
                </a:tc>
                <a:extLst>
                  <a:ext uri="{0D108BD9-81ED-4DB2-BD59-A6C34878D82A}">
                    <a16:rowId xmlns:a16="http://schemas.microsoft.com/office/drawing/2014/main" val="687887569"/>
                  </a:ext>
                </a:extLst>
              </a:tr>
              <a:tr h="409072">
                <a:tc>
                  <a:txBody>
                    <a:bodyPr/>
                    <a:lstStyle/>
                    <a:p>
                      <a:pPr lvl="0" algn="l">
                        <a:buNone/>
                      </a:pPr>
                      <a:r>
                        <a:rPr lang="en-US" noProof="1"/>
                        <a:t>number</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the input field to enter numbers.</a:t>
                      </a:r>
                    </a:p>
                  </a:txBody>
                  <a:tcPr anchor="ctr"/>
                </a:tc>
                <a:extLst>
                  <a:ext uri="{0D108BD9-81ED-4DB2-BD59-A6C34878D82A}">
                    <a16:rowId xmlns:a16="http://schemas.microsoft.com/office/drawing/2014/main" val="1104516181"/>
                  </a:ext>
                </a:extLst>
              </a:tr>
              <a:tr h="409072">
                <a:tc>
                  <a:txBody>
                    <a:bodyPr/>
                    <a:lstStyle/>
                    <a:p>
                      <a:pPr lvl="0" algn="l">
                        <a:buNone/>
                      </a:pPr>
                      <a:r>
                        <a:rPr lang="en-US" b="0" noProof="1"/>
                        <a:t>date</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an input field for selection of date.</a:t>
                      </a:r>
                    </a:p>
                  </a:txBody>
                  <a:tcPr anchor="ctr"/>
                </a:tc>
                <a:extLst>
                  <a:ext uri="{0D108BD9-81ED-4DB2-BD59-A6C34878D82A}">
                    <a16:rowId xmlns:a16="http://schemas.microsoft.com/office/drawing/2014/main" val="142594851"/>
                  </a:ext>
                </a:extLst>
              </a:tr>
            </a:tbl>
          </a:graphicData>
        </a:graphic>
      </p:graphicFrame>
    </p:spTree>
    <p:extLst>
      <p:ext uri="{BB962C8B-B14F-4D97-AF65-F5344CB8AC3E}">
        <p14:creationId xmlns:p14="http://schemas.microsoft.com/office/powerpoint/2010/main" val="209880082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67098" y="1285351"/>
            <a:ext cx="8234684" cy="5728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FORM Attributes</a:t>
            </a:r>
            <a:endParaRPr lang="en-US" altLang="en-US" sz="3200" b="1" dirty="0">
              <a:solidFill>
                <a:srgbClr val="000000"/>
              </a:solidFill>
              <a:latin typeface="Verdana"/>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D37C78AD-8069-4CE9-618F-D8F3F5C231BB}"/>
              </a:ext>
            </a:extLst>
          </p:cNvPr>
          <p:cNvGraphicFramePr>
            <a:graphicFrameLocks noGrp="1"/>
          </p:cNvGraphicFramePr>
          <p:nvPr>
            <p:extLst>
              <p:ext uri="{D42A27DB-BD31-4B8C-83A1-F6EECF244321}">
                <p14:modId xmlns:p14="http://schemas.microsoft.com/office/powerpoint/2010/main" val="20048691"/>
              </p:ext>
            </p:extLst>
          </p:nvPr>
        </p:nvGraphicFramePr>
        <p:xfrm>
          <a:off x="750794" y="1512793"/>
          <a:ext cx="10526867" cy="2976611"/>
        </p:xfrm>
        <a:graphic>
          <a:graphicData uri="http://schemas.openxmlformats.org/drawingml/2006/table">
            <a:tbl>
              <a:tblPr firstRow="1" bandRow="1">
                <a:tableStyleId>{21E4AEA4-8DFA-4A89-87EB-49C32662AFE0}</a:tableStyleId>
              </a:tblPr>
              <a:tblGrid>
                <a:gridCol w="2105526">
                  <a:extLst>
                    <a:ext uri="{9D8B030D-6E8A-4147-A177-3AD203B41FA5}">
                      <a16:colId xmlns:a16="http://schemas.microsoft.com/office/drawing/2014/main" val="2022278461"/>
                    </a:ext>
                  </a:extLst>
                </a:gridCol>
                <a:gridCol w="8421341">
                  <a:extLst>
                    <a:ext uri="{9D8B030D-6E8A-4147-A177-3AD203B41FA5}">
                      <a16:colId xmlns:a16="http://schemas.microsoft.com/office/drawing/2014/main" val="1479760939"/>
                    </a:ext>
                  </a:extLst>
                </a:gridCol>
              </a:tblGrid>
              <a:tr h="372978">
                <a:tc>
                  <a:txBody>
                    <a:bodyPr/>
                    <a:lstStyle/>
                    <a:p>
                      <a:pPr algn="ctr"/>
                      <a:r>
                        <a:rPr lang="en-US" dirty="0"/>
                        <a:t>Attribute</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lvl="0" algn="l">
                        <a:buNone/>
                      </a:pPr>
                      <a:r>
                        <a:rPr lang="en-US" noProof="1"/>
                        <a:t>action</a:t>
                      </a:r>
                    </a:p>
                  </a:txBody>
                  <a:tcPr anchor="ctr"/>
                </a:tc>
                <a:tc>
                  <a:txBody>
                    <a:bodyPr/>
                    <a:lstStyle/>
                    <a:p>
                      <a:pPr lvl="0" algn="l">
                        <a:buNone/>
                      </a:pPr>
                      <a:r>
                        <a:rPr lang="en-US" dirty="0"/>
                        <a:t>Defines the process to be performed on form, when form is submitted, or it is a URL to process the form information. If it is blank then form will be processed to the same page.</a:t>
                      </a:r>
                    </a:p>
                  </a:txBody>
                  <a:tcPr anchor="ctr"/>
                </a:tc>
                <a:extLst>
                  <a:ext uri="{0D108BD9-81ED-4DB2-BD59-A6C34878D82A}">
                    <a16:rowId xmlns:a16="http://schemas.microsoft.com/office/drawing/2014/main" val="700325843"/>
                  </a:ext>
                </a:extLst>
              </a:tr>
              <a:tr h="529389">
                <a:tc>
                  <a:txBody>
                    <a:bodyPr/>
                    <a:lstStyle/>
                    <a:p>
                      <a:pPr algn="l"/>
                      <a:r>
                        <a:rPr lang="en-US" noProof="1"/>
                        <a:t>method</a:t>
                      </a:r>
                    </a:p>
                  </a:txBody>
                  <a:tcPr anchor="ctr"/>
                </a:tc>
                <a:tc>
                  <a:txBody>
                    <a:bodyPr/>
                    <a:lstStyle/>
                    <a:p>
                      <a:pPr lvl="0" algn="l">
                        <a:buNone/>
                      </a:pPr>
                      <a:r>
                        <a:rPr lang="en-US" sz="1800" b="0" i="0" u="none" strike="noStrike" noProof="0" dirty="0">
                          <a:solidFill>
                            <a:srgbClr val="000000"/>
                          </a:solidFill>
                          <a:latin typeface="Myriad Pro"/>
                        </a:rPr>
                        <a:t>Defines the HTTP method which browser used to submit the form. The possible values are </a:t>
                      </a:r>
                      <a:r>
                        <a:rPr lang="en-US" sz="1800" b="1" i="0" u="none" strike="noStrike" noProof="0" dirty="0">
                          <a:solidFill>
                            <a:srgbClr val="000000"/>
                          </a:solidFill>
                          <a:latin typeface="Myriad Pro"/>
                        </a:rPr>
                        <a:t>"GET"</a:t>
                      </a:r>
                      <a:r>
                        <a:rPr lang="en-US" sz="1800" b="0" i="0" u="none" strike="noStrike" noProof="0" dirty="0">
                          <a:solidFill>
                            <a:srgbClr val="000000"/>
                          </a:solidFill>
                          <a:latin typeface="Myriad Pro"/>
                        </a:rPr>
                        <a:t> and </a:t>
                      </a:r>
                      <a:r>
                        <a:rPr lang="en-US" sz="1800" b="1" i="0" u="none" strike="noStrike" noProof="0" dirty="0">
                          <a:solidFill>
                            <a:srgbClr val="000000"/>
                          </a:solidFill>
                          <a:latin typeface="Myriad Pro"/>
                        </a:rPr>
                        <a:t>"POST"</a:t>
                      </a:r>
                      <a:r>
                        <a:rPr lang="en-US" sz="1800" b="0" i="0" u="none" strike="noStrike" noProof="0" dirty="0">
                          <a:solidFill>
                            <a:srgbClr val="000000"/>
                          </a:solidFill>
                          <a:latin typeface="Myriad Pro"/>
                        </a:rPr>
                        <a:t>.</a:t>
                      </a:r>
                    </a:p>
                  </a:txBody>
                  <a:tcPr anchor="ctr"/>
                </a:tc>
                <a:extLst>
                  <a:ext uri="{0D108BD9-81ED-4DB2-BD59-A6C34878D82A}">
                    <a16:rowId xmlns:a16="http://schemas.microsoft.com/office/drawing/2014/main" val="640162573"/>
                  </a:ext>
                </a:extLst>
              </a:tr>
              <a:tr h="409073">
                <a:tc>
                  <a:txBody>
                    <a:bodyPr/>
                    <a:lstStyle/>
                    <a:p>
                      <a:pPr algn="l"/>
                      <a:r>
                        <a:rPr lang="en-US" noProof="1"/>
                        <a:t>target</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Defines where to open response after submitting the button.</a:t>
                      </a:r>
                    </a:p>
                  </a:txBody>
                  <a:tcPr anchor="ctr"/>
                </a:tc>
                <a:extLst>
                  <a:ext uri="{0D108BD9-81ED-4DB2-BD59-A6C34878D82A}">
                    <a16:rowId xmlns:a16="http://schemas.microsoft.com/office/drawing/2014/main" val="517753056"/>
                  </a:ext>
                </a:extLst>
              </a:tr>
              <a:tr h="409072">
                <a:tc>
                  <a:txBody>
                    <a:bodyPr/>
                    <a:lstStyle/>
                    <a:p>
                      <a:pPr lvl="0" algn="l">
                        <a:buNone/>
                      </a:pPr>
                      <a:r>
                        <a:rPr lang="en-US" noProof="1"/>
                        <a:t>autocomplete</a:t>
                      </a:r>
                      <a:endParaRPr lang="en-US" dirty="0"/>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Newly added attribute in HTML5 which enables an input field to complete automatically. It can have two values </a:t>
                      </a:r>
                      <a:r>
                        <a:rPr lang="en-US" sz="1800" b="1" i="0" u="none" strike="noStrike" noProof="0" dirty="0">
                          <a:solidFill>
                            <a:srgbClr val="000000"/>
                          </a:solidFill>
                        </a:rPr>
                        <a:t>"on"</a:t>
                      </a:r>
                      <a:r>
                        <a:rPr lang="en-US" sz="1800" b="0" i="0" u="none" strike="noStrike" noProof="0" dirty="0">
                          <a:solidFill>
                            <a:srgbClr val="000000"/>
                          </a:solidFill>
                        </a:rPr>
                        <a:t> and </a:t>
                      </a:r>
                      <a:r>
                        <a:rPr lang="en-US" sz="1800" b="1" i="0" u="none" strike="noStrike" noProof="0" dirty="0">
                          <a:solidFill>
                            <a:srgbClr val="000000"/>
                          </a:solidFill>
                        </a:rPr>
                        <a:t>"off"</a:t>
                      </a:r>
                      <a:r>
                        <a:rPr lang="en-US" sz="1800" b="0" i="0" u="none" strike="noStrike" noProof="0" dirty="0">
                          <a:solidFill>
                            <a:srgbClr val="000000"/>
                          </a:solidFill>
                        </a:rPr>
                        <a:t>.</a:t>
                      </a:r>
                    </a:p>
                  </a:txBody>
                  <a:tcPr anchor="ctr"/>
                </a:tc>
                <a:extLst>
                  <a:ext uri="{0D108BD9-81ED-4DB2-BD59-A6C34878D82A}">
                    <a16:rowId xmlns:a16="http://schemas.microsoft.com/office/drawing/2014/main" val="3987112918"/>
                  </a:ext>
                </a:extLst>
              </a:tr>
            </a:tbl>
          </a:graphicData>
        </a:graphic>
      </p:graphicFrame>
      <p:sp>
        <p:nvSpPr>
          <p:cNvPr id="3" name="TextBox 2">
            <a:extLst>
              <a:ext uri="{FF2B5EF4-FFF2-40B4-BE49-F238E27FC236}">
                <a16:creationId xmlns:a16="http://schemas.microsoft.com/office/drawing/2014/main" id="{CAE98743-A180-6A5B-60BE-F348081A65A5}"/>
              </a:ext>
            </a:extLst>
          </p:cNvPr>
          <p:cNvSpPr txBox="1"/>
          <p:nvPr/>
        </p:nvSpPr>
        <p:spPr>
          <a:xfrm>
            <a:off x="624344" y="4484358"/>
            <a:ext cx="10431379"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POST</a:t>
            </a:r>
          </a:p>
          <a:p>
            <a:r>
              <a:rPr lang="en-US" dirty="0">
                <a:latin typeface="Arial"/>
                <a:cs typeface="Arial"/>
              </a:rPr>
              <a:t>We can use the post value when we want to process the sensitive data as it does not display the submitted data in URL.</a:t>
            </a:r>
            <a:endParaRPr lang="en-US" sz="2000" b="1" dirty="0"/>
          </a:p>
          <a:p>
            <a:r>
              <a:rPr lang="en-US" sz="2000" b="1" dirty="0"/>
              <a:t>GET</a:t>
            </a:r>
          </a:p>
          <a:p>
            <a:r>
              <a:rPr lang="en-US" dirty="0"/>
              <a:t>The get value of method is default value while submitting the form. But this is not secure as it displays data in URL after submitting the form.</a:t>
            </a:r>
            <a:endParaRPr lang="en-US" b="1" dirty="0"/>
          </a:p>
        </p:txBody>
      </p:sp>
    </p:spTree>
    <p:extLst>
      <p:ext uri="{BB962C8B-B14F-4D97-AF65-F5344CB8AC3E}">
        <p14:creationId xmlns:p14="http://schemas.microsoft.com/office/powerpoint/2010/main" val="175146723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67098" y="1285351"/>
            <a:ext cx="8234684" cy="5728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Input Attributes</a:t>
            </a:r>
            <a:endParaRPr lang="en-US" altLang="en-US" sz="3200" b="1" dirty="0">
              <a:solidFill>
                <a:srgbClr val="000000"/>
              </a:solidFill>
              <a:latin typeface="Verdana"/>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26395" y="-2949"/>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graphicFrame>
        <p:nvGraphicFramePr>
          <p:cNvPr id="5" name="Table 3">
            <a:extLst>
              <a:ext uri="{FF2B5EF4-FFF2-40B4-BE49-F238E27FC236}">
                <a16:creationId xmlns:a16="http://schemas.microsoft.com/office/drawing/2014/main" id="{D37C78AD-8069-4CE9-618F-D8F3F5C231BB}"/>
              </a:ext>
            </a:extLst>
          </p:cNvPr>
          <p:cNvGraphicFramePr>
            <a:graphicFrameLocks noGrp="1"/>
          </p:cNvGraphicFramePr>
          <p:nvPr>
            <p:extLst>
              <p:ext uri="{D42A27DB-BD31-4B8C-83A1-F6EECF244321}">
                <p14:modId xmlns:p14="http://schemas.microsoft.com/office/powerpoint/2010/main" val="1302493692"/>
              </p:ext>
            </p:extLst>
          </p:nvPr>
        </p:nvGraphicFramePr>
        <p:xfrm>
          <a:off x="750794" y="1512793"/>
          <a:ext cx="11260803" cy="4733216"/>
        </p:xfrm>
        <a:graphic>
          <a:graphicData uri="http://schemas.openxmlformats.org/drawingml/2006/table">
            <a:tbl>
              <a:tblPr firstRow="1" bandRow="1">
                <a:tableStyleId>{21E4AEA4-8DFA-4A89-87EB-49C32662AFE0}</a:tableStyleId>
              </a:tblPr>
              <a:tblGrid>
                <a:gridCol w="1515979">
                  <a:extLst>
                    <a:ext uri="{9D8B030D-6E8A-4147-A177-3AD203B41FA5}">
                      <a16:colId xmlns:a16="http://schemas.microsoft.com/office/drawing/2014/main" val="2022278461"/>
                    </a:ext>
                  </a:extLst>
                </a:gridCol>
                <a:gridCol w="9744824">
                  <a:extLst>
                    <a:ext uri="{9D8B030D-6E8A-4147-A177-3AD203B41FA5}">
                      <a16:colId xmlns:a16="http://schemas.microsoft.com/office/drawing/2014/main" val="1479760939"/>
                    </a:ext>
                  </a:extLst>
                </a:gridCol>
              </a:tblGrid>
              <a:tr h="372978">
                <a:tc>
                  <a:txBody>
                    <a:bodyPr/>
                    <a:lstStyle/>
                    <a:p>
                      <a:pPr algn="ctr"/>
                      <a:r>
                        <a:rPr lang="en-US" dirty="0"/>
                        <a:t>Attribute</a:t>
                      </a:r>
                    </a:p>
                  </a:txBody>
                  <a:tcPr/>
                </a:tc>
                <a:tc>
                  <a:txBody>
                    <a:bodyPr/>
                    <a:lstStyle/>
                    <a:p>
                      <a:pPr algn="ctr"/>
                      <a:r>
                        <a:rPr lang="en-US" dirty="0"/>
                        <a:t>Description</a:t>
                      </a:r>
                    </a:p>
                  </a:txBody>
                  <a:tcPr/>
                </a:tc>
                <a:extLst>
                  <a:ext uri="{0D108BD9-81ED-4DB2-BD59-A6C34878D82A}">
                    <a16:rowId xmlns:a16="http://schemas.microsoft.com/office/drawing/2014/main" val="1648329449"/>
                  </a:ext>
                </a:extLst>
              </a:tr>
              <a:tr h="370840">
                <a:tc>
                  <a:txBody>
                    <a:bodyPr/>
                    <a:lstStyle/>
                    <a:p>
                      <a:pPr lvl="0" algn="l">
                        <a:buNone/>
                      </a:pPr>
                      <a:r>
                        <a:rPr lang="en-US" noProof="1"/>
                        <a:t>name</a:t>
                      </a:r>
                    </a:p>
                  </a:txBody>
                  <a:tcPr anchor="ctr"/>
                </a:tc>
                <a:tc>
                  <a:txBody>
                    <a:bodyPr/>
                    <a:lstStyle/>
                    <a:p>
                      <a:pPr lvl="0" algn="l">
                        <a:buNone/>
                      </a:pPr>
                      <a:r>
                        <a:rPr lang="en-US" dirty="0"/>
                        <a:t>The name attribute defines the name of an input element. The name and value attributes are included in HTTP request when we submit the form.</a:t>
                      </a:r>
                    </a:p>
                  </a:txBody>
                  <a:tcPr anchor="ctr"/>
                </a:tc>
                <a:extLst>
                  <a:ext uri="{0D108BD9-81ED-4DB2-BD59-A6C34878D82A}">
                    <a16:rowId xmlns:a16="http://schemas.microsoft.com/office/drawing/2014/main" val="700325843"/>
                  </a:ext>
                </a:extLst>
              </a:tr>
              <a:tr h="529389">
                <a:tc>
                  <a:txBody>
                    <a:bodyPr/>
                    <a:lstStyle/>
                    <a:p>
                      <a:pPr algn="l"/>
                      <a:r>
                        <a:rPr lang="en-US" noProof="1"/>
                        <a:t>value</a:t>
                      </a:r>
                    </a:p>
                  </a:txBody>
                  <a:tcPr anchor="ctr"/>
                </a:tc>
                <a:tc>
                  <a:txBody>
                    <a:bodyPr/>
                    <a:lstStyle/>
                    <a:p>
                      <a:pPr lvl="0" algn="l">
                        <a:buNone/>
                      </a:pPr>
                      <a:r>
                        <a:rPr lang="en-US" sz="1800" b="0" i="0" u="none" strike="noStrike" noProof="0" dirty="0">
                          <a:solidFill>
                            <a:srgbClr val="000000"/>
                          </a:solidFill>
                          <a:latin typeface="Myriad Pro"/>
                        </a:rPr>
                        <a:t>The value attribute defines the initial value or default value of an input field.</a:t>
                      </a:r>
                    </a:p>
                  </a:txBody>
                  <a:tcPr anchor="ctr"/>
                </a:tc>
                <a:extLst>
                  <a:ext uri="{0D108BD9-81ED-4DB2-BD59-A6C34878D82A}">
                    <a16:rowId xmlns:a16="http://schemas.microsoft.com/office/drawing/2014/main" val="640162573"/>
                  </a:ext>
                </a:extLst>
              </a:tr>
              <a:tr h="409073">
                <a:tc>
                  <a:txBody>
                    <a:bodyPr/>
                    <a:lstStyle/>
                    <a:p>
                      <a:pPr algn="l"/>
                      <a:r>
                        <a:rPr lang="en-US" noProof="1"/>
                        <a:t>required</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Boolean attribute which specifies that user must fill that filed before submitting the form.</a:t>
                      </a:r>
                    </a:p>
                  </a:txBody>
                  <a:tcPr anchor="ctr"/>
                </a:tc>
                <a:extLst>
                  <a:ext uri="{0D108BD9-81ED-4DB2-BD59-A6C34878D82A}">
                    <a16:rowId xmlns:a16="http://schemas.microsoft.com/office/drawing/2014/main" val="517753056"/>
                  </a:ext>
                </a:extLst>
              </a:tr>
              <a:tr h="409072">
                <a:tc>
                  <a:txBody>
                    <a:bodyPr/>
                    <a:lstStyle/>
                    <a:p>
                      <a:pPr lvl="0" algn="l">
                        <a:buNone/>
                      </a:pPr>
                      <a:r>
                        <a:rPr lang="en-US" noProof="1"/>
                        <a:t>autofocus</a:t>
                      </a:r>
                      <a:endParaRPr lang="en-US" dirty="0"/>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Boolean Attribute which enables a field automatically focused when a webpage loads.</a:t>
                      </a:r>
                    </a:p>
                  </a:txBody>
                  <a:tcPr anchor="ctr"/>
                </a:tc>
                <a:extLst>
                  <a:ext uri="{0D108BD9-81ED-4DB2-BD59-A6C34878D82A}">
                    <a16:rowId xmlns:a16="http://schemas.microsoft.com/office/drawing/2014/main" val="3987112918"/>
                  </a:ext>
                </a:extLst>
              </a:tr>
              <a:tr h="409072">
                <a:tc>
                  <a:txBody>
                    <a:bodyPr/>
                    <a:lstStyle/>
                    <a:p>
                      <a:pPr lvl="0" algn="l">
                        <a:buNone/>
                      </a:pPr>
                      <a:r>
                        <a:rPr lang="en-US" noProof="1"/>
                        <a:t>place holder</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Placeholder attribute specifies a text within input field which informs the user about the expected input of that filled. When user enters the value, placeholder automatically removed.</a:t>
                      </a:r>
                    </a:p>
                  </a:txBody>
                  <a:tcPr anchor="ctr"/>
                </a:tc>
                <a:extLst>
                  <a:ext uri="{0D108BD9-81ED-4DB2-BD59-A6C34878D82A}">
                    <a16:rowId xmlns:a16="http://schemas.microsoft.com/office/drawing/2014/main" val="3187162443"/>
                  </a:ext>
                </a:extLst>
              </a:tr>
              <a:tr h="409072">
                <a:tc>
                  <a:txBody>
                    <a:bodyPr/>
                    <a:lstStyle/>
                    <a:p>
                      <a:pPr lvl="0" algn="l">
                        <a:buNone/>
                      </a:pPr>
                      <a:r>
                        <a:rPr lang="en-US" noProof="1"/>
                        <a:t>disabled</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When applied then it disable that input field. The disabled field does not allow the user to interact with that field. It does not receive click events, and these input value will not be sent to server when submitting the form.</a:t>
                      </a:r>
                    </a:p>
                  </a:txBody>
                  <a:tcPr anchor="ctr"/>
                </a:tc>
                <a:extLst>
                  <a:ext uri="{0D108BD9-81ED-4DB2-BD59-A6C34878D82A}">
                    <a16:rowId xmlns:a16="http://schemas.microsoft.com/office/drawing/2014/main" val="98146961"/>
                  </a:ext>
                </a:extLst>
              </a:tr>
              <a:tr h="409072">
                <a:tc>
                  <a:txBody>
                    <a:bodyPr/>
                    <a:lstStyle/>
                    <a:p>
                      <a:pPr lvl="0" algn="l">
                        <a:buNone/>
                      </a:pPr>
                      <a:r>
                        <a:rPr lang="en-US" noProof="1"/>
                        <a:t>size</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Controls the size of input field.</a:t>
                      </a:r>
                    </a:p>
                  </a:txBody>
                  <a:tcPr anchor="ctr"/>
                </a:tc>
                <a:extLst>
                  <a:ext uri="{0D108BD9-81ED-4DB2-BD59-A6C34878D82A}">
                    <a16:rowId xmlns:a16="http://schemas.microsoft.com/office/drawing/2014/main" val="1003798671"/>
                  </a:ext>
                </a:extLst>
              </a:tr>
              <a:tr h="409072">
                <a:tc>
                  <a:txBody>
                    <a:bodyPr/>
                    <a:lstStyle/>
                    <a:p>
                      <a:pPr lvl="0" algn="l">
                        <a:buNone/>
                      </a:pPr>
                      <a:r>
                        <a:rPr lang="en-US" noProof="1"/>
                        <a:t>form</a:t>
                      </a:r>
                    </a:p>
                  </a:txBody>
                  <a:tcPr anchor="ctr"/>
                </a:tc>
                <a:tc>
                  <a:txBody>
                    <a:bodyPr/>
                    <a:lstStyle/>
                    <a:p>
                      <a:pPr lvl="0" algn="l">
                        <a:lnSpc>
                          <a:spcPct val="100000"/>
                        </a:lnSpc>
                        <a:spcBef>
                          <a:spcPts val="0"/>
                        </a:spcBef>
                        <a:spcAft>
                          <a:spcPts val="0"/>
                        </a:spcAft>
                        <a:buNone/>
                      </a:pPr>
                      <a:r>
                        <a:rPr lang="en-US" sz="1800" b="0" i="0" u="none" strike="noStrike" noProof="0" dirty="0">
                          <a:solidFill>
                            <a:srgbClr val="000000"/>
                          </a:solidFill>
                        </a:rPr>
                        <a:t>Allows the user to specify an input field outside of the form but remains part of parent form.</a:t>
                      </a:r>
                    </a:p>
                  </a:txBody>
                  <a:tcPr anchor="ctr"/>
                </a:tc>
                <a:extLst>
                  <a:ext uri="{0D108BD9-81ED-4DB2-BD59-A6C34878D82A}">
                    <a16:rowId xmlns:a16="http://schemas.microsoft.com/office/drawing/2014/main" val="984720550"/>
                  </a:ext>
                </a:extLst>
              </a:tr>
            </a:tbl>
          </a:graphicData>
        </a:graphic>
      </p:graphicFrame>
    </p:spTree>
    <p:extLst>
      <p:ext uri="{BB962C8B-B14F-4D97-AF65-F5344CB8AC3E}">
        <p14:creationId xmlns:p14="http://schemas.microsoft.com/office/powerpoint/2010/main" val="300731857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90363" y="2282674"/>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Div Tag / Division Tag</a:t>
            </a:r>
            <a:endParaRPr lang="en-US" dirty="0">
              <a:solidFill>
                <a:srgbClr val="000000"/>
              </a:solidFill>
              <a:cs typeface="Arial" panose="020B0604020202020204" pitchFamily="34" charset="0"/>
            </a:endParaRPr>
          </a:p>
          <a:p>
            <a:pPr marL="2202180" indent="-34290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is used in HTML to make the division of content in a webpage like (text, images, header, footer, navigation bar, </a:t>
            </a:r>
            <a:r>
              <a:rPr lang="en-US" sz="2400" dirty="0" err="1">
                <a:solidFill>
                  <a:schemeClr val="tx1"/>
                </a:solidFill>
                <a:latin typeface="Arial"/>
                <a:ea typeface="Microsoft YaHei"/>
                <a:cs typeface="Arial"/>
              </a:rPr>
              <a:t>etc</a:t>
            </a:r>
            <a:r>
              <a:rPr lang="en-US" sz="2400" dirty="0">
                <a:solidFill>
                  <a:schemeClr val="tx1"/>
                </a:solidFill>
                <a:latin typeface="Arial"/>
                <a:ea typeface="Microsoft YaHei"/>
                <a:cs typeface="Arial"/>
              </a:rPr>
              <a:t>).</a:t>
            </a:r>
          </a:p>
          <a:p>
            <a:pPr marL="2202180" indent="-34290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has both open(&lt;div&gt;) and closed(&lt;/div&gt;) and it is mandatory to close the tag.</a:t>
            </a:r>
          </a:p>
          <a:p>
            <a:pPr marL="2202180" indent="-34290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helps us to separate the data in the webpage and we can create a particular section for particular data or function in the webpages.</a:t>
            </a:r>
            <a:endParaRPr lang="en-US" dirty="0">
              <a:solidFill>
                <a:schemeClr val="tx1"/>
              </a:solidFill>
            </a:endParaRPr>
          </a:p>
          <a:p>
            <a:pPr marL="2316480" indent="-457200">
              <a:spcBef>
                <a:spcPts val="550"/>
              </a:spcBef>
              <a:buClrTx/>
              <a:buAutoNum type="arabicPeriod"/>
            </a:pPr>
            <a:r>
              <a:rPr lang="en-US" sz="2400" dirty="0">
                <a:solidFill>
                  <a:schemeClr val="tx1"/>
                </a:solidFill>
                <a:latin typeface="Arial"/>
                <a:ea typeface="Microsoft YaHei"/>
                <a:cs typeface="Arial"/>
              </a:rPr>
              <a:t>Div Tag is a block level tag.</a:t>
            </a:r>
          </a:p>
          <a:p>
            <a:pPr marL="2316480" indent="-457200">
              <a:spcBef>
                <a:spcPts val="550"/>
              </a:spcBef>
              <a:buClrTx/>
              <a:buAutoNum type="arabicPeriod"/>
            </a:pPr>
            <a:r>
              <a:rPr lang="en-US" sz="2400" dirty="0">
                <a:solidFill>
                  <a:schemeClr val="tx1"/>
                </a:solidFill>
                <a:latin typeface="Arial"/>
                <a:ea typeface="Microsoft YaHei"/>
                <a:cs typeface="Arial"/>
              </a:rPr>
              <a:t>It is a generic container tag.</a:t>
            </a:r>
          </a:p>
          <a:p>
            <a:pPr marL="2316480" indent="-457200">
              <a:spcBef>
                <a:spcPts val="550"/>
              </a:spcBef>
              <a:buClrTx/>
              <a:buAutoNum type="arabicPeriod"/>
            </a:pPr>
            <a:r>
              <a:rPr lang="en-US" sz="2400" dirty="0">
                <a:solidFill>
                  <a:schemeClr val="tx1"/>
                </a:solidFill>
                <a:latin typeface="Arial"/>
                <a:ea typeface="Microsoft YaHei"/>
                <a:cs typeface="Arial"/>
              </a:rPr>
              <a:t>It is used to group various types of HTML so that sections can be created and styles can be applied to them.</a:t>
            </a:r>
          </a:p>
          <a:p>
            <a:pPr marL="2373630" indent="-514350">
              <a:spcBef>
                <a:spcPts val="550"/>
              </a:spcBef>
              <a:buClrTx/>
              <a:buFont typeface="Arial" panose="02020603050405020304" pitchFamily="18" charset="0"/>
              <a:buChar char="•"/>
            </a:pPr>
            <a:endParaRPr lang="en-US" sz="2400"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335221639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90363" y="2282674"/>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rPr>
              <a:t>Span Tag</a:t>
            </a:r>
            <a:endParaRPr lang="en-US" dirty="0">
              <a:solidFill>
                <a:srgbClr val="000000"/>
              </a:solidFill>
              <a:cs typeface="Arial" panose="020B0604020202020204" pitchFamily="34" charset="0"/>
            </a:endParaRP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HTML &lt;span&gt; tag is used as generic container of inline elements.</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It is used for styling purpose to the grouped inline elements (using class and id attributes or inline style).</a:t>
            </a:r>
          </a:p>
          <a:p>
            <a:pPr marL="2373630" indent="-514350">
              <a:spcBef>
                <a:spcPts val="550"/>
              </a:spcBef>
              <a:buClrTx/>
              <a:buFont typeface="Arial" panose="02020603050405020304" pitchFamily="18" charset="0"/>
              <a:buChar char="•"/>
            </a:pPr>
            <a:r>
              <a:rPr lang="en-US" sz="2400" dirty="0">
                <a:solidFill>
                  <a:schemeClr val="tx1"/>
                </a:solidFill>
                <a:latin typeface="Arial"/>
                <a:ea typeface="Microsoft YaHei"/>
                <a:cs typeface="Arial"/>
              </a:rPr>
              <a:t>The &lt;span&gt; tag can be useful for following task:</a:t>
            </a:r>
          </a:p>
          <a:p>
            <a:pPr marL="2373630" indent="-514350">
              <a:spcBef>
                <a:spcPts val="550"/>
              </a:spcBef>
              <a:buClrTx/>
              <a:buAutoNum type="arabicPeriod"/>
            </a:pPr>
            <a:r>
              <a:rPr lang="en-US" sz="2400" dirty="0">
                <a:solidFill>
                  <a:schemeClr val="tx1"/>
                </a:solidFill>
                <a:latin typeface="Arial"/>
                <a:ea typeface="Microsoft YaHei"/>
                <a:cs typeface="Arial"/>
              </a:rPr>
              <a:t>To Change the language of a part of the text.</a:t>
            </a:r>
          </a:p>
          <a:p>
            <a:pPr marL="2373630" indent="-514350">
              <a:spcBef>
                <a:spcPts val="550"/>
              </a:spcBef>
              <a:buClrTx/>
              <a:buAutoNum type="arabicPeriod"/>
            </a:pPr>
            <a:r>
              <a:rPr lang="en-US" sz="2400" dirty="0">
                <a:solidFill>
                  <a:schemeClr val="tx1"/>
                </a:solidFill>
                <a:latin typeface="Arial"/>
                <a:ea typeface="Microsoft YaHei"/>
                <a:cs typeface="Arial"/>
              </a:rPr>
              <a:t>To change the  color, font, background of a part of text using CSS.</a:t>
            </a:r>
          </a:p>
          <a:p>
            <a:pPr marL="2373630" indent="-514350">
              <a:spcBef>
                <a:spcPts val="550"/>
              </a:spcBef>
              <a:buClrTx/>
              <a:buAutoNum type="arabicPeriod"/>
            </a:pPr>
            <a:r>
              <a:rPr lang="en-US" sz="2400" dirty="0">
                <a:solidFill>
                  <a:schemeClr val="tx1"/>
                </a:solidFill>
                <a:latin typeface="Arial"/>
                <a:ea typeface="Microsoft YaHei"/>
                <a:cs typeface="Arial"/>
              </a:rPr>
              <a:t>To apply the scripts to the particular pat of the text.</a:t>
            </a:r>
          </a:p>
          <a:p>
            <a:pPr marL="2373630" indent="-514350">
              <a:spcBef>
                <a:spcPts val="550"/>
              </a:spcBef>
              <a:buClrTx/>
              <a:buFont typeface="Wingdings" panose="02020603050405020304" pitchFamily="18" charset="0"/>
              <a:buChar char="Ø"/>
            </a:pPr>
            <a:r>
              <a:rPr lang="en-US" sz="2400" dirty="0">
                <a:solidFill>
                  <a:schemeClr val="tx1"/>
                </a:solidFill>
                <a:latin typeface="Arial"/>
                <a:ea typeface="Microsoft YaHei"/>
                <a:cs typeface="Arial"/>
              </a:rPr>
              <a:t>HTML &lt;span&gt; Tag is similar to &lt;div&gt; Tag, but &lt;div&gt; is used for block-level elements and &lt;span&gt; tag is used for inline elements.</a:t>
            </a:r>
          </a:p>
          <a:p>
            <a:pPr marL="1859280" indent="0">
              <a:spcBef>
                <a:spcPts val="550"/>
              </a:spcBef>
              <a:buClrTx/>
            </a:pPr>
            <a:r>
              <a:rPr lang="en-US" sz="2800" b="1" dirty="0">
                <a:solidFill>
                  <a:schemeClr val="tx1"/>
                </a:solidFill>
                <a:latin typeface="Arial"/>
                <a:ea typeface="Microsoft YaHei"/>
                <a:cs typeface="Arial"/>
              </a:rPr>
              <a:t>Syntax:                  &lt;span&gt;Content here....&lt;/span&gt;</a:t>
            </a: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227619050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90363" y="2282674"/>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dirty="0">
                <a:solidFill>
                  <a:srgbClr val="000000"/>
                </a:solidFill>
                <a:latin typeface="Verdana"/>
                <a:ea typeface="Microsoft YaHei"/>
                <a:cs typeface="Arial"/>
              </a:rPr>
              <a:t>Steps to create a Navigation Bar</a:t>
            </a:r>
            <a:endParaRPr lang="en-US" altLang="en-US" sz="3200" b="1" dirty="0">
              <a:solidFill>
                <a:srgbClr val="000000"/>
              </a:solidFill>
              <a:latin typeface="Verdana"/>
              <a:cs typeface="Arial"/>
            </a:endParaRPr>
          </a:p>
          <a:p>
            <a:pPr marL="2373630" indent="-514350">
              <a:spcBef>
                <a:spcPts val="550"/>
              </a:spcBef>
              <a:buClrTx/>
              <a:buAutoNum type="arabicPeriod"/>
            </a:pPr>
            <a:r>
              <a:rPr lang="en-US" sz="2400" dirty="0">
                <a:solidFill>
                  <a:schemeClr val="tx1"/>
                </a:solidFill>
                <a:latin typeface="Arial"/>
                <a:ea typeface="Microsoft YaHei"/>
                <a:cs typeface="Arial"/>
              </a:rPr>
              <a:t>Create an HTML File.</a:t>
            </a:r>
          </a:p>
          <a:p>
            <a:pPr marL="2373630" indent="-514350">
              <a:spcBef>
                <a:spcPts val="550"/>
              </a:spcBef>
              <a:buClrTx/>
              <a:buAutoNum type="arabicPeriod"/>
            </a:pPr>
            <a:r>
              <a:rPr lang="en-US" sz="2400" dirty="0">
                <a:solidFill>
                  <a:schemeClr val="tx1"/>
                </a:solidFill>
                <a:latin typeface="Arial"/>
                <a:ea typeface="Microsoft YaHei"/>
                <a:cs typeface="Arial"/>
              </a:rPr>
              <a:t>Define &lt;nav&gt;&lt;/nav&gt; Tags in body section where you want to make bar.</a:t>
            </a:r>
          </a:p>
          <a:p>
            <a:pPr marL="2373630" indent="-514350">
              <a:spcBef>
                <a:spcPts val="550"/>
              </a:spcBef>
              <a:buClrTx/>
              <a:buAutoNum type="arabicPeriod"/>
            </a:pPr>
            <a:r>
              <a:rPr lang="en-US" sz="2400" dirty="0">
                <a:solidFill>
                  <a:schemeClr val="tx1"/>
                </a:solidFill>
                <a:latin typeface="Arial"/>
                <a:ea typeface="Microsoft YaHei"/>
                <a:cs typeface="Arial"/>
              </a:rPr>
              <a:t>Next, define the &lt;</a:t>
            </a:r>
            <a:r>
              <a:rPr lang="en-US" sz="2400" dirty="0" err="1">
                <a:solidFill>
                  <a:schemeClr val="tx1"/>
                </a:solidFill>
                <a:latin typeface="Arial"/>
                <a:ea typeface="Microsoft YaHei"/>
                <a:cs typeface="Arial"/>
              </a:rPr>
              <a:t>ul</a:t>
            </a:r>
            <a:r>
              <a:rPr lang="en-US" sz="2400" dirty="0">
                <a:solidFill>
                  <a:schemeClr val="tx1"/>
                </a:solidFill>
                <a:latin typeface="Arial"/>
                <a:ea typeface="Microsoft YaHei"/>
                <a:cs typeface="Arial"/>
              </a:rPr>
              <a:t>&gt; tag, which is used to show the unordered list. And then define the list Items &lt;li&gt; tag. We want to define those items which you want to show in navigation bar.</a:t>
            </a:r>
          </a:p>
          <a:p>
            <a:pPr marL="2373630" indent="-514350">
              <a:spcBef>
                <a:spcPts val="550"/>
              </a:spcBef>
              <a:buClrTx/>
              <a:buAutoNum type="arabicPeriod"/>
            </a:pPr>
            <a:r>
              <a:rPr lang="en-US" sz="2400" dirty="0">
                <a:solidFill>
                  <a:schemeClr val="tx1"/>
                </a:solidFill>
                <a:latin typeface="Arial"/>
                <a:ea typeface="Microsoft YaHei"/>
                <a:cs typeface="Arial"/>
              </a:rPr>
              <a:t>Define &lt;style&gt; tag in the head section.</a:t>
            </a:r>
          </a:p>
          <a:p>
            <a:pPr marL="2373630" indent="-514350">
              <a:spcBef>
                <a:spcPts val="550"/>
              </a:spcBef>
              <a:buClrTx/>
              <a:buAutoNum type="arabicPeriod"/>
            </a:pPr>
            <a:r>
              <a:rPr lang="en-US" sz="2400" dirty="0">
                <a:solidFill>
                  <a:schemeClr val="tx1"/>
                </a:solidFill>
                <a:latin typeface="Arial"/>
                <a:ea typeface="Microsoft YaHei"/>
                <a:cs typeface="Arial"/>
              </a:rPr>
              <a:t>We have to specify different  </a:t>
            </a:r>
            <a:r>
              <a:rPr lang="en-US" sz="2400" dirty="0" err="1">
                <a:solidFill>
                  <a:schemeClr val="tx1"/>
                </a:solidFill>
                <a:latin typeface="Arial"/>
                <a:ea typeface="Microsoft YaHei"/>
                <a:cs typeface="Arial"/>
              </a:rPr>
              <a:t>css</a:t>
            </a:r>
            <a:r>
              <a:rPr lang="en-US" sz="2400" dirty="0">
                <a:solidFill>
                  <a:schemeClr val="tx1"/>
                </a:solidFill>
                <a:latin typeface="Arial"/>
                <a:ea typeface="Microsoft YaHei"/>
                <a:cs typeface="Arial"/>
              </a:rPr>
              <a:t> attributes  which are used to set the position, color of the navigation bar.</a:t>
            </a:r>
          </a:p>
          <a:p>
            <a:pPr marL="2373630" indent="-514350">
              <a:spcBef>
                <a:spcPts val="550"/>
              </a:spcBef>
              <a:buClrTx/>
              <a:buAutoNum type="arabicPeriod"/>
            </a:pPr>
            <a:r>
              <a:rPr lang="en-US" sz="2400" dirty="0">
                <a:solidFill>
                  <a:schemeClr val="tx1"/>
                </a:solidFill>
                <a:latin typeface="Arial"/>
                <a:ea typeface="Microsoft YaHei"/>
                <a:cs typeface="Arial"/>
              </a:rPr>
              <a:t>After then, we have to type the &lt;header&gt; Tag before the opening &lt;nav&gt; tag.</a:t>
            </a: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HTML</a:t>
            </a:r>
          </a:p>
        </p:txBody>
      </p:sp>
    </p:spTree>
    <p:extLst>
      <p:ext uri="{BB962C8B-B14F-4D97-AF65-F5344CB8AC3E}">
        <p14:creationId xmlns:p14="http://schemas.microsoft.com/office/powerpoint/2010/main" val="2818857804"/>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3484196" y="2708496"/>
            <a:ext cx="5119450" cy="1368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indent="-537845">
              <a:spcBef>
                <a:spcPts val="550"/>
              </a:spcBef>
              <a:buClrTx/>
            </a:pPr>
            <a:r>
              <a:rPr lang="en-US" altLang="en-US" sz="4000" b="1" dirty="0">
                <a:solidFill>
                  <a:srgbClr val="000000"/>
                </a:solidFill>
                <a:latin typeface="Verdana"/>
                <a:ea typeface="Microsoft YaHei"/>
              </a:rPr>
              <a:t>CSS</a:t>
            </a:r>
            <a:endParaRPr lang="en-US" altLang="en-US" sz="4000" b="1" dirty="0">
              <a:solidFill>
                <a:srgbClr val="000000"/>
              </a:solidFill>
              <a:latin typeface="Verdana" panose="020B0604030504040204" pitchFamily="34" charset="0"/>
            </a:endParaRPr>
          </a:p>
          <a:p>
            <a:pPr marL="2430780" indent="-571500">
              <a:spcBef>
                <a:spcPts val="550"/>
              </a:spcBef>
              <a:buClrTx/>
              <a:buFont typeface="Arial" panose="02020603050405020304" pitchFamily="18" charset="0"/>
              <a:buChar char="•"/>
            </a:pPr>
            <a:endParaRPr lang="en-US" altLang="en-US" sz="24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2912683633"/>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19760" y="218203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Cascading Style Sheets</a:t>
            </a:r>
            <a:endParaRPr lang="en-US" altLang="en-US" sz="3200" b="1" noProof="1">
              <a:solidFill>
                <a:srgbClr val="000000"/>
              </a:solidFill>
              <a:latin typeface="Verdana"/>
              <a:cs typeface="Arial"/>
            </a:endParaRPr>
          </a:p>
          <a:p>
            <a:pPr marL="2373630" indent="-514350">
              <a:spcBef>
                <a:spcPts val="550"/>
              </a:spcBef>
              <a:buClrTx/>
              <a:buFont typeface="Arial" panose="02020603050405020304" pitchFamily="18" charset="0"/>
              <a:buChar char="•"/>
            </a:pPr>
            <a:r>
              <a:rPr lang="en-US" sz="2400" noProof="1">
                <a:solidFill>
                  <a:schemeClr val="tx1"/>
                </a:solidFill>
                <a:latin typeface="Arial"/>
                <a:ea typeface="Microsoft YaHei"/>
                <a:cs typeface="Arial"/>
              </a:rPr>
              <a:t>CSS is used to apply styles to webpages.</a:t>
            </a:r>
          </a:p>
          <a:p>
            <a:pPr marL="2373630" indent="-514350">
              <a:spcBef>
                <a:spcPts val="550"/>
              </a:spcBef>
              <a:buClrTx/>
              <a:buFont typeface="Arial" panose="02020603050405020304" pitchFamily="18" charset="0"/>
              <a:buChar char="•"/>
            </a:pPr>
            <a:r>
              <a:rPr lang="en-US" sz="2400" noProof="1">
                <a:solidFill>
                  <a:schemeClr val="tx1"/>
                </a:solidFill>
                <a:latin typeface="Arial"/>
                <a:ea typeface="Microsoft YaHei"/>
                <a:cs typeface="Arial"/>
              </a:rPr>
              <a:t>The reason of using  this is to simply the process of making web pages presentable.</a:t>
            </a:r>
          </a:p>
          <a:p>
            <a:pPr marL="2373630" indent="-514350">
              <a:spcBef>
                <a:spcPts val="550"/>
              </a:spcBef>
              <a:buClrTx/>
              <a:buFont typeface="Arial" panose="02020603050405020304" pitchFamily="18" charset="0"/>
              <a:buChar char="•"/>
            </a:pPr>
            <a:r>
              <a:rPr lang="en-US" sz="2400" noProof="1">
                <a:solidFill>
                  <a:schemeClr val="tx1"/>
                </a:solidFill>
                <a:latin typeface="Arial"/>
                <a:ea typeface="Microsoft YaHei"/>
                <a:cs typeface="Arial"/>
              </a:rPr>
              <a:t>More importantly, It enables you to do this independently of the HTML that makes up each web page.</a:t>
            </a:r>
          </a:p>
          <a:p>
            <a:pPr marL="1859280" indent="0">
              <a:spcBef>
                <a:spcPts val="550"/>
              </a:spcBef>
            </a:pPr>
            <a:r>
              <a:rPr lang="en-US" sz="3200" b="1" noProof="1">
                <a:solidFill>
                  <a:schemeClr val="tx1"/>
                </a:solidFill>
                <a:latin typeface="Verdana"/>
                <a:ea typeface="Verdana"/>
                <a:cs typeface="Arial"/>
              </a:rPr>
              <a:t>Why we learn CSS?</a:t>
            </a:r>
            <a:endParaRPr lang="en-US" noProof="1">
              <a:solidFill>
                <a:schemeClr val="tx1"/>
              </a:solidFill>
              <a:cs typeface="Arial" panose="020B0604020202020204" pitchFamily="34" charset="0"/>
            </a:endParaRPr>
          </a:p>
          <a:p>
            <a:pPr marL="2316480" indent="-457200">
              <a:spcBef>
                <a:spcPts val="550"/>
              </a:spcBef>
              <a:buFont typeface="Arial" panose="02020603050405020304" pitchFamily="18" charset="0"/>
              <a:buChar char="•"/>
            </a:pPr>
            <a:r>
              <a:rPr lang="en-US" sz="2400" noProof="1">
                <a:solidFill>
                  <a:schemeClr val="tx1"/>
                </a:solidFill>
                <a:latin typeface="Verdana"/>
                <a:ea typeface="Verdana"/>
                <a:cs typeface="Arial"/>
              </a:rPr>
              <a:t>Styling is an essential property for any website as it increase the standards and overall look of the website that makes it easier for the user to interact with it.</a:t>
            </a:r>
          </a:p>
          <a:p>
            <a:pPr marL="2316480" indent="-457200">
              <a:spcBef>
                <a:spcPts val="550"/>
              </a:spcBef>
              <a:buFont typeface="Arial" panose="02020603050405020304" pitchFamily="18" charset="0"/>
              <a:buChar char="•"/>
            </a:pPr>
            <a:r>
              <a:rPr lang="en-US" sz="2400" noProof="1">
                <a:solidFill>
                  <a:schemeClr val="tx1"/>
                </a:solidFill>
                <a:latin typeface="Verdana"/>
                <a:ea typeface="Verdana"/>
                <a:cs typeface="Arial"/>
              </a:rPr>
              <a:t>A web page can be made without using css, but no one would want to interact with a dull and shaddy website. Hence, CSS is mandatory.</a:t>
            </a: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421424846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32213" y="2282675"/>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Structure of CSS</a:t>
            </a:r>
          </a:p>
          <a:p>
            <a:pPr marL="1859280" indent="0">
              <a:spcBef>
                <a:spcPts val="550"/>
              </a:spcBef>
              <a:buClrTx/>
            </a:pPr>
            <a:r>
              <a:rPr lang="en-US" altLang="en-US" sz="2400" noProof="1">
                <a:solidFill>
                  <a:schemeClr val="tx1"/>
                </a:solidFill>
                <a:latin typeface="Verdana"/>
                <a:ea typeface="Microsoft YaHei"/>
                <a:cs typeface="Arial"/>
              </a:rPr>
              <a:t>body {</a:t>
            </a:r>
          </a:p>
          <a:p>
            <a:pPr marL="1859280" indent="0">
              <a:spcBef>
                <a:spcPts val="550"/>
              </a:spcBef>
              <a:buClrTx/>
            </a:pPr>
            <a:r>
              <a:rPr lang="en-US" altLang="en-US" sz="2400" noProof="1">
                <a:solidFill>
                  <a:schemeClr val="tx1"/>
                </a:solidFill>
                <a:latin typeface="Verdana"/>
                <a:ea typeface="Microsoft YaHei"/>
                <a:cs typeface="Arial"/>
              </a:rPr>
              <a:t>         background-color: lightgray;</a:t>
            </a:r>
          </a:p>
          <a:p>
            <a:pPr marL="1859280" indent="0">
              <a:spcBef>
                <a:spcPts val="550"/>
              </a:spcBef>
              <a:buClrTx/>
            </a:pPr>
            <a:r>
              <a:rPr lang="en-US" altLang="en-US" sz="2400" noProof="1">
                <a:solidFill>
                  <a:schemeClr val="tx1"/>
                </a:solidFill>
                <a:latin typeface="Verdana"/>
                <a:ea typeface="Microsoft YaHei"/>
                <a:cs typeface="Arial"/>
              </a:rPr>
              <a:t>}</a:t>
            </a:r>
          </a:p>
          <a:p>
            <a:pPr marL="1859280" indent="0">
              <a:spcBef>
                <a:spcPts val="550"/>
              </a:spcBef>
              <a:buClrTx/>
            </a:pPr>
            <a:r>
              <a:rPr lang="en-US" altLang="en-US" sz="2400" noProof="1">
                <a:solidFill>
                  <a:schemeClr val="tx1"/>
                </a:solidFill>
                <a:latin typeface="Verdana"/>
                <a:ea typeface="Microsoft YaHei"/>
                <a:cs typeface="Arial"/>
              </a:rPr>
              <a:t>h1{</a:t>
            </a:r>
          </a:p>
          <a:p>
            <a:pPr marL="1859280" indent="0">
              <a:spcBef>
                <a:spcPts val="550"/>
              </a:spcBef>
              <a:buClrTx/>
            </a:pPr>
            <a:r>
              <a:rPr lang="en-US" altLang="en-US" sz="2400" noProof="1">
                <a:solidFill>
                  <a:schemeClr val="tx1"/>
                </a:solidFill>
                <a:latin typeface="Verdana"/>
                <a:ea typeface="Microsoft YaHei"/>
                <a:cs typeface="Arial"/>
              </a:rPr>
              <a:t>         color: green;</a:t>
            </a:r>
          </a:p>
          <a:p>
            <a:pPr marL="1859280" indent="0">
              <a:spcBef>
                <a:spcPts val="550"/>
              </a:spcBef>
              <a:buClrTx/>
            </a:pPr>
            <a:r>
              <a:rPr lang="en-US" altLang="en-US" sz="2400" noProof="1">
                <a:solidFill>
                  <a:schemeClr val="tx1"/>
                </a:solidFill>
                <a:latin typeface="Verdana"/>
                <a:ea typeface="Microsoft YaHei"/>
                <a:cs typeface="Arial"/>
              </a:rPr>
              <a:t>         text-align: center;</a:t>
            </a:r>
          </a:p>
          <a:p>
            <a:pPr marL="1859280" indent="0">
              <a:spcBef>
                <a:spcPts val="550"/>
              </a:spcBef>
              <a:buClrTx/>
            </a:pPr>
            <a:r>
              <a:rPr lang="en-US" altLang="en-US" sz="2400" noProof="1">
                <a:solidFill>
                  <a:schemeClr val="tx1"/>
                </a:solidFill>
                <a:latin typeface="Verdana"/>
                <a:ea typeface="Microsoft YaHei"/>
                <a:cs typeface="Arial"/>
              </a:rPr>
              <a:t>}</a:t>
            </a:r>
          </a:p>
          <a:p>
            <a:pPr marL="1859280" indent="0">
              <a:spcBef>
                <a:spcPts val="550"/>
              </a:spcBef>
              <a:buClrTx/>
            </a:pPr>
            <a:r>
              <a:rPr lang="en-US" altLang="en-US" sz="2400" noProof="1">
                <a:solidFill>
                  <a:schemeClr val="tx1"/>
                </a:solidFill>
                <a:latin typeface="Verdana"/>
                <a:ea typeface="Microsoft YaHei"/>
                <a:cs typeface="Arial"/>
              </a:rPr>
              <a:t>p{</a:t>
            </a:r>
          </a:p>
          <a:p>
            <a:pPr marL="1859280" indent="0">
              <a:spcBef>
                <a:spcPts val="550"/>
              </a:spcBef>
              <a:buClrTx/>
            </a:pPr>
            <a:r>
              <a:rPr lang="en-US" altLang="en-US" sz="2400" noProof="1">
                <a:solidFill>
                  <a:schemeClr val="tx1"/>
                </a:solidFill>
                <a:latin typeface="Verdana"/>
                <a:ea typeface="Microsoft YaHei"/>
                <a:cs typeface="Arial"/>
              </a:rPr>
              <a:t>          font-family: sans-serif;</a:t>
            </a:r>
          </a:p>
          <a:p>
            <a:pPr marL="1859280" indent="0">
              <a:spcBef>
                <a:spcPts val="550"/>
              </a:spcBef>
              <a:buClrTx/>
            </a:pPr>
            <a:r>
              <a:rPr lang="en-US" altLang="en-US" sz="2400" noProof="1">
                <a:solidFill>
                  <a:schemeClr val="tx1"/>
                </a:solidFill>
                <a:latin typeface="Verdana"/>
                <a:ea typeface="Microsoft YaHei"/>
                <a:cs typeface="Arial"/>
              </a:rPr>
              <a:t>          font-size: 16px;</a:t>
            </a:r>
          </a:p>
          <a:p>
            <a:pPr marL="1859280" indent="0">
              <a:spcBef>
                <a:spcPts val="550"/>
              </a:spcBef>
              <a:buClrTx/>
            </a:pPr>
            <a:r>
              <a:rPr lang="en-US" altLang="en-US" sz="2400" noProof="1">
                <a:solidFill>
                  <a:schemeClr val="tx1"/>
                </a:solidFill>
                <a:latin typeface="Verdana"/>
                <a:ea typeface="Microsoft YaHei"/>
                <a:cs typeface="Arial"/>
              </a:rPr>
              <a:t>}</a:t>
            </a: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362453480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19760" y="218203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Types of CSS</a:t>
            </a:r>
            <a:endParaRPr lang="en-US" altLang="en-US" sz="3200" b="1" noProof="1">
              <a:solidFill>
                <a:srgbClr val="000000"/>
              </a:solidFill>
              <a:latin typeface="Verdana"/>
              <a:cs typeface="Arial"/>
            </a:endParaRPr>
          </a:p>
          <a:p>
            <a:pPr marL="2373630" indent="-514350">
              <a:spcBef>
                <a:spcPts val="550"/>
              </a:spcBef>
              <a:buClrTx/>
              <a:buFont typeface="Arial" panose="02020603050405020304" pitchFamily="18" charset="0"/>
              <a:buChar char="•"/>
            </a:pPr>
            <a:r>
              <a:rPr lang="en-US" sz="3200" b="1" noProof="1">
                <a:solidFill>
                  <a:schemeClr val="tx1"/>
                </a:solidFill>
                <a:latin typeface="Arial"/>
                <a:ea typeface="Microsoft YaHei"/>
                <a:cs typeface="Arial"/>
              </a:rPr>
              <a:t>Inline CSS</a:t>
            </a:r>
          </a:p>
          <a:p>
            <a:pPr marL="2316480" indent="-457200">
              <a:spcBef>
                <a:spcPts val="550"/>
              </a:spcBef>
              <a:buClrTx/>
              <a:buFont typeface="Wingdings" panose="02020603050405020304" pitchFamily="18" charset="0"/>
              <a:buChar char="ü"/>
            </a:pPr>
            <a:r>
              <a:rPr lang="en-US" sz="3200" noProof="1">
                <a:solidFill>
                  <a:schemeClr val="tx1"/>
                </a:solidFill>
                <a:latin typeface="Arial"/>
                <a:ea typeface="Microsoft YaHei"/>
                <a:cs typeface="Arial"/>
              </a:rPr>
              <a:t>Inline CSS contains the CSS property in the body section attached with the element known as inline CSS.</a:t>
            </a:r>
            <a:endParaRPr lang="en-US" sz="3200" b="1" noProof="1">
              <a:solidFill>
                <a:schemeClr val="tx1"/>
              </a:solidFill>
              <a:latin typeface="Arial"/>
              <a:ea typeface="Microsoft YaHei"/>
              <a:cs typeface="Arial"/>
            </a:endParaRPr>
          </a:p>
          <a:p>
            <a:pPr marL="2373630" indent="-514350">
              <a:spcBef>
                <a:spcPts val="550"/>
              </a:spcBef>
              <a:buClrTx/>
              <a:buFont typeface="Arial" panose="02020603050405020304" pitchFamily="18" charset="0"/>
              <a:buChar char="•"/>
            </a:pPr>
            <a:r>
              <a:rPr lang="en-US" sz="3200" b="1" noProof="1">
                <a:solidFill>
                  <a:schemeClr val="tx1"/>
                </a:solidFill>
                <a:latin typeface="Arial"/>
                <a:ea typeface="Microsoft YaHei"/>
                <a:cs typeface="Arial"/>
              </a:rPr>
              <a:t>Internal or Embedded CSS</a:t>
            </a:r>
          </a:p>
          <a:p>
            <a:pPr marL="2373630" indent="-514350">
              <a:spcBef>
                <a:spcPts val="550"/>
              </a:spcBef>
              <a:buClrTx/>
              <a:buFont typeface="Wingdings" panose="02020603050405020304" pitchFamily="18" charset="0"/>
              <a:buChar char="ü"/>
            </a:pPr>
            <a:r>
              <a:rPr lang="en-US" sz="3200" noProof="1">
                <a:solidFill>
                  <a:schemeClr val="tx1"/>
                </a:solidFill>
                <a:latin typeface="Arial"/>
                <a:ea typeface="Microsoft YaHei"/>
                <a:cs typeface="Arial"/>
              </a:rPr>
              <a:t>The CSS ruleset should be within the HTML file in the head section i.e the CSS is embedded within the HTML file.</a:t>
            </a:r>
          </a:p>
          <a:p>
            <a:pPr marL="2373630" indent="-514350">
              <a:spcBef>
                <a:spcPts val="550"/>
              </a:spcBef>
              <a:buClrTx/>
              <a:buFont typeface="Arial" panose="02020603050405020304" pitchFamily="18" charset="0"/>
              <a:buChar char="•"/>
            </a:pPr>
            <a:r>
              <a:rPr lang="en-US" sz="3200" b="1" noProof="1">
                <a:solidFill>
                  <a:schemeClr val="tx1"/>
                </a:solidFill>
                <a:latin typeface="Arial"/>
                <a:ea typeface="Microsoft YaHei"/>
                <a:cs typeface="Arial"/>
              </a:rPr>
              <a:t>External CSS</a:t>
            </a:r>
          </a:p>
          <a:p>
            <a:pPr marL="2373630" indent="-514350">
              <a:spcBef>
                <a:spcPts val="550"/>
              </a:spcBef>
              <a:buClrTx/>
              <a:buFont typeface="Wingdings" panose="02020603050405020304" pitchFamily="18" charset="0"/>
              <a:buChar char="ü"/>
            </a:pPr>
            <a:r>
              <a:rPr lang="en-US" sz="3200" noProof="1">
                <a:solidFill>
                  <a:schemeClr val="tx1"/>
                </a:solidFill>
                <a:latin typeface="Arial"/>
                <a:ea typeface="Microsoft YaHei"/>
                <a:cs typeface="Arial"/>
              </a:rPr>
              <a:t>External CSS contains a separate CSS file that contains only style property with the help of tag attributes</a:t>
            </a:r>
            <a:endParaRPr lang="en-US" sz="3200" b="1" noProof="1">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314829969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19760" y="218203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CSS Syntax</a:t>
            </a:r>
            <a:endParaRPr lang="en-US" altLang="en-US" sz="3200" b="1" noProof="1">
              <a:solidFill>
                <a:srgbClr val="000000"/>
              </a:solidFill>
              <a:latin typeface="Verdana"/>
              <a:cs typeface="Arial"/>
            </a:endParaRPr>
          </a:p>
          <a:p>
            <a:pPr marL="2373630" indent="-514350">
              <a:spcBef>
                <a:spcPts val="550"/>
              </a:spcBef>
              <a:buClrTx/>
              <a:buFont typeface="Arial" panose="02020603050405020304" pitchFamily="18" charset="0"/>
              <a:buChar char="•"/>
            </a:pPr>
            <a:r>
              <a:rPr lang="en-US" sz="3200" noProof="1">
                <a:solidFill>
                  <a:schemeClr val="tx1"/>
                </a:solidFill>
                <a:latin typeface="Arial"/>
                <a:ea typeface="Microsoft YaHei"/>
                <a:cs typeface="Arial"/>
              </a:rPr>
              <a:t>CSS comprises style rules that are interpreted by the browser and then applied to the corresponding elements in your document.</a:t>
            </a:r>
          </a:p>
          <a:p>
            <a:pPr marL="2373630" indent="-514350">
              <a:spcBef>
                <a:spcPts val="550"/>
              </a:spcBef>
              <a:buClrTx/>
              <a:buFont typeface="Arial" panose="02020603050405020304" pitchFamily="18" charset="0"/>
              <a:buChar char="•"/>
            </a:pPr>
            <a:r>
              <a:rPr lang="en-US" sz="3200" noProof="1">
                <a:solidFill>
                  <a:schemeClr val="tx1"/>
                </a:solidFill>
                <a:latin typeface="Arial"/>
                <a:ea typeface="Microsoft YaHei"/>
                <a:cs typeface="Arial"/>
              </a:rPr>
              <a:t>A style rule set consists of a selector and declaration block.</a:t>
            </a:r>
          </a:p>
          <a:p>
            <a:pPr marL="1859280" indent="0">
              <a:spcBef>
                <a:spcPts val="550"/>
              </a:spcBef>
              <a:buClrTx/>
            </a:pPr>
            <a:r>
              <a:rPr lang="en-US" sz="3200" b="1" noProof="1">
                <a:solidFill>
                  <a:schemeClr val="tx1"/>
                </a:solidFill>
                <a:latin typeface="Arial"/>
                <a:ea typeface="Microsoft YaHei"/>
                <a:cs typeface="Arial"/>
              </a:rPr>
              <a:t>Selector      --  </a:t>
            </a:r>
            <a:r>
              <a:rPr lang="en-US" sz="3200" noProof="1">
                <a:solidFill>
                  <a:schemeClr val="tx1"/>
                </a:solidFill>
                <a:latin typeface="Arial"/>
                <a:ea typeface="Microsoft YaHei"/>
                <a:cs typeface="Arial"/>
              </a:rPr>
              <a:t>h1</a:t>
            </a:r>
          </a:p>
          <a:p>
            <a:pPr marL="1859280" indent="0">
              <a:spcBef>
                <a:spcPts val="550"/>
              </a:spcBef>
              <a:buClrTx/>
            </a:pPr>
            <a:r>
              <a:rPr lang="en-US" sz="3200" b="1" noProof="1">
                <a:solidFill>
                  <a:schemeClr val="tx1"/>
                </a:solidFill>
                <a:latin typeface="Arial"/>
                <a:ea typeface="Microsoft YaHei"/>
                <a:cs typeface="Arial"/>
              </a:rPr>
              <a:t>Declaration --  </a:t>
            </a:r>
            <a:r>
              <a:rPr lang="en-US" sz="3200" noProof="1">
                <a:solidFill>
                  <a:schemeClr val="tx1"/>
                </a:solidFill>
                <a:latin typeface="Arial"/>
                <a:ea typeface="Microsoft YaHei"/>
                <a:cs typeface="Arial"/>
              </a:rPr>
              <a:t>{</a:t>
            </a:r>
          </a:p>
          <a:p>
            <a:pPr marL="1859280" indent="0">
              <a:spcBef>
                <a:spcPts val="550"/>
              </a:spcBef>
              <a:buClrTx/>
            </a:pPr>
            <a:r>
              <a:rPr lang="en-US" sz="3200" noProof="1">
                <a:solidFill>
                  <a:schemeClr val="tx1"/>
                </a:solidFill>
                <a:latin typeface="Arial"/>
                <a:ea typeface="Microsoft YaHei"/>
                <a:cs typeface="Arial"/>
              </a:rPr>
              <a:t>                          color:blue;       &lt;!-- Here color is property --&gt;</a:t>
            </a:r>
            <a:endParaRPr lang="en-US" dirty="0">
              <a:solidFill>
                <a:schemeClr val="tx1"/>
              </a:solidFill>
            </a:endParaRPr>
          </a:p>
          <a:p>
            <a:pPr marL="1859280" indent="0">
              <a:spcBef>
                <a:spcPts val="550"/>
              </a:spcBef>
              <a:buClrTx/>
            </a:pPr>
            <a:r>
              <a:rPr lang="en-US" sz="3200" noProof="1">
                <a:solidFill>
                  <a:schemeClr val="tx1"/>
                </a:solidFill>
                <a:latin typeface="Arial"/>
                <a:ea typeface="Microsoft YaHei"/>
                <a:cs typeface="Arial"/>
              </a:rPr>
              <a:t>                           font-size:12px;     &lt;!-- 12px is value --&gt;</a:t>
            </a:r>
          </a:p>
          <a:p>
            <a:pPr marL="1859280" indent="0">
              <a:spcBef>
                <a:spcPts val="550"/>
              </a:spcBef>
              <a:buClrTx/>
            </a:pPr>
            <a:r>
              <a:rPr lang="en-US" sz="3200" noProof="1">
                <a:solidFill>
                  <a:schemeClr val="tx1"/>
                </a:solidFill>
                <a:latin typeface="Arial"/>
                <a:ea typeface="Microsoft YaHei"/>
                <a:cs typeface="Arial"/>
              </a:rPr>
              <a:t>                         }</a:t>
            </a:r>
            <a:endParaRPr lang="en-US" dirty="0">
              <a:solidFill>
                <a:schemeClr val="tx1"/>
              </a:solidFil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2171513137"/>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19760" y="218203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CSS SELECTORS</a:t>
            </a:r>
            <a:endParaRPr lang="en-US" altLang="en-US" sz="3200" b="1" noProof="1">
              <a:solidFill>
                <a:srgbClr val="000000"/>
              </a:solidFill>
              <a:latin typeface="Verdana"/>
              <a:cs typeface="Arial"/>
            </a:endParaRPr>
          </a:p>
          <a:p>
            <a:pPr marL="2316480" indent="-457200">
              <a:spcBef>
                <a:spcPts val="550"/>
              </a:spcBef>
              <a:buClrTx/>
              <a:buFont typeface="Wingdings" panose="02020603050405020304" pitchFamily="18" charset="0"/>
              <a:buChar char="ü"/>
            </a:pPr>
            <a:r>
              <a:rPr lang="en-US" altLang="en-US" sz="3200" noProof="1">
                <a:solidFill>
                  <a:schemeClr val="tx1"/>
                </a:solidFill>
                <a:latin typeface="Arial"/>
                <a:ea typeface="Microsoft YaHei"/>
                <a:cs typeface="Arial"/>
              </a:rPr>
              <a:t>CSS selectors are used to select HTML elements based on their element name, id, class, attribute and more.</a:t>
            </a:r>
          </a:p>
          <a:p>
            <a:pPr marL="2316480" indent="-457200">
              <a:spcBef>
                <a:spcPts val="550"/>
              </a:spcBef>
              <a:buClrTx/>
              <a:buFont typeface="Wingdings" panose="02020603050405020304" pitchFamily="18" charset="0"/>
              <a:buChar char="ü"/>
            </a:pPr>
            <a:r>
              <a:rPr lang="en-US" altLang="en-US" sz="3200" noProof="1">
                <a:solidFill>
                  <a:schemeClr val="tx1"/>
                </a:solidFill>
                <a:latin typeface="Arial"/>
                <a:ea typeface="Microsoft YaHei"/>
                <a:cs typeface="Arial"/>
              </a:rPr>
              <a:t>Types of CSS Selectors</a:t>
            </a:r>
          </a:p>
          <a:p>
            <a:pPr marL="2373630" indent="-514350">
              <a:spcBef>
                <a:spcPts val="550"/>
              </a:spcBef>
              <a:buClrTx/>
              <a:buAutoNum type="arabicPeriod"/>
            </a:pPr>
            <a:r>
              <a:rPr lang="en-US" altLang="en-US" sz="3200" noProof="1">
                <a:solidFill>
                  <a:schemeClr val="tx1"/>
                </a:solidFill>
                <a:latin typeface="Arial"/>
                <a:ea typeface="Microsoft YaHei"/>
                <a:cs typeface="Arial"/>
              </a:rPr>
              <a:t>Universal Selectors</a:t>
            </a:r>
          </a:p>
          <a:p>
            <a:pPr marL="2373630" indent="-514350">
              <a:spcBef>
                <a:spcPts val="550"/>
              </a:spcBef>
              <a:buClrTx/>
              <a:buAutoNum type="arabicPeriod"/>
            </a:pPr>
            <a:r>
              <a:rPr lang="en-US" altLang="en-US" sz="3200" noProof="1">
                <a:solidFill>
                  <a:schemeClr val="tx1"/>
                </a:solidFill>
                <a:latin typeface="Arial"/>
                <a:ea typeface="Microsoft YaHei"/>
                <a:cs typeface="Arial"/>
              </a:rPr>
              <a:t>Element Selectors</a:t>
            </a:r>
          </a:p>
          <a:p>
            <a:pPr marL="2373630" indent="-514350">
              <a:spcBef>
                <a:spcPts val="550"/>
              </a:spcBef>
              <a:buClrTx/>
              <a:buAutoNum type="arabicPeriod"/>
            </a:pPr>
            <a:r>
              <a:rPr lang="en-US" altLang="en-US" sz="3200" noProof="1">
                <a:solidFill>
                  <a:schemeClr val="tx1"/>
                </a:solidFill>
                <a:latin typeface="Arial"/>
                <a:ea typeface="Microsoft YaHei"/>
                <a:cs typeface="Arial"/>
              </a:rPr>
              <a:t>Descendant Selectors</a:t>
            </a:r>
          </a:p>
          <a:p>
            <a:pPr marL="2373630" indent="-514350">
              <a:spcBef>
                <a:spcPts val="550"/>
              </a:spcBef>
              <a:buClrTx/>
              <a:buAutoNum type="arabicPeriod"/>
            </a:pPr>
            <a:r>
              <a:rPr lang="en-US" altLang="en-US" sz="3200" noProof="1">
                <a:solidFill>
                  <a:schemeClr val="tx1"/>
                </a:solidFill>
                <a:latin typeface="Arial"/>
                <a:ea typeface="Microsoft YaHei"/>
                <a:cs typeface="Arial"/>
              </a:rPr>
              <a:t>ID selector</a:t>
            </a:r>
          </a:p>
          <a:p>
            <a:pPr marL="2373630" indent="-514350">
              <a:spcBef>
                <a:spcPts val="550"/>
              </a:spcBef>
              <a:buClrTx/>
              <a:buAutoNum type="arabicPeriod"/>
            </a:pPr>
            <a:r>
              <a:rPr lang="en-US" altLang="en-US" sz="3200" noProof="1">
                <a:solidFill>
                  <a:schemeClr val="tx1"/>
                </a:solidFill>
                <a:latin typeface="Arial"/>
                <a:ea typeface="Microsoft YaHei"/>
                <a:cs typeface="Arial"/>
              </a:rPr>
              <a:t>CLASS selectors</a:t>
            </a:r>
            <a:endParaRPr lang="en-US" dirty="0">
              <a:solidFill>
                <a:schemeClr val="tx1"/>
              </a:solidFill>
            </a:endParaRPr>
          </a:p>
          <a:p>
            <a:pPr marL="2373630" indent="-514350">
              <a:spcBef>
                <a:spcPts val="550"/>
              </a:spcBef>
              <a:buClrTx/>
              <a:buAutoNum type="arabicPeriod"/>
            </a:pPr>
            <a:r>
              <a:rPr lang="en-US" altLang="en-US" sz="3200" noProof="1">
                <a:solidFill>
                  <a:schemeClr val="tx1"/>
                </a:solidFill>
                <a:latin typeface="Arial"/>
                <a:ea typeface="Microsoft YaHei"/>
                <a:cs typeface="Arial"/>
              </a:rPr>
              <a:t>Group Selectors</a:t>
            </a: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230608539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361609" y="190886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CSS color Property</a:t>
            </a:r>
          </a:p>
          <a:p>
            <a:pPr marL="2316480" indent="-457200">
              <a:spcBef>
                <a:spcPts val="550"/>
              </a:spcBef>
              <a:buClrTx/>
              <a:buFont typeface="Arial" panose="02020603050405020304" pitchFamily="18" charset="0"/>
              <a:buChar char="•"/>
            </a:pPr>
            <a:r>
              <a:rPr lang="en-US" altLang="en-US" sz="2800" noProof="1">
                <a:solidFill>
                  <a:schemeClr val="tx1"/>
                </a:solidFill>
                <a:latin typeface="Verdana"/>
                <a:ea typeface="Microsoft YaHei"/>
                <a:cs typeface="Arial"/>
              </a:rPr>
              <a:t>It is used to set the color of HTML elements. This property is used to set font color.</a:t>
            </a:r>
          </a:p>
          <a:p>
            <a:pPr marL="1859280" indent="0">
              <a:spcBef>
                <a:spcPts val="550"/>
              </a:spcBef>
              <a:buClrTx/>
            </a:pPr>
            <a:r>
              <a:rPr lang="en-US" altLang="en-US" sz="2800" b="1" noProof="1">
                <a:solidFill>
                  <a:schemeClr val="tx1"/>
                </a:solidFill>
                <a:latin typeface="Verdana"/>
                <a:ea typeface="Microsoft YaHei"/>
                <a:cs typeface="Arial"/>
              </a:rPr>
              <a:t>Syntax</a:t>
            </a:r>
          </a:p>
          <a:p>
            <a:pPr marL="1859280" indent="0">
              <a:spcBef>
                <a:spcPts val="550"/>
              </a:spcBef>
              <a:buClrTx/>
            </a:pPr>
            <a:r>
              <a:rPr lang="en-US" altLang="en-US" sz="2800" noProof="1">
                <a:solidFill>
                  <a:schemeClr val="tx1"/>
                </a:solidFill>
                <a:latin typeface="Verdana"/>
                <a:ea typeface="Microsoft YaHei"/>
                <a:cs typeface="Arial"/>
              </a:rPr>
              <a:t>h1{</a:t>
            </a:r>
            <a:endParaRPr lang="en-US" altLang="en-US" sz="2800" b="1" noProof="1">
              <a:solidFill>
                <a:schemeClr val="tx1"/>
              </a:solidFill>
              <a:latin typeface="Verdana"/>
              <a:ea typeface="Microsoft YaHei"/>
              <a:cs typeface="Arial"/>
            </a:endParaRPr>
          </a:p>
          <a:p>
            <a:pPr marL="1859280" indent="0">
              <a:spcBef>
                <a:spcPts val="550"/>
              </a:spcBef>
              <a:buClrTx/>
            </a:pPr>
            <a:r>
              <a:rPr lang="en-US" altLang="en-US" sz="2800" noProof="1">
                <a:solidFill>
                  <a:schemeClr val="tx1"/>
                </a:solidFill>
                <a:latin typeface="Verdana"/>
                <a:ea typeface="Microsoft YaHei"/>
                <a:cs typeface="Arial"/>
              </a:rPr>
              <a:t>     color: pink;</a:t>
            </a:r>
          </a:p>
          <a:p>
            <a:pPr marL="1859280" indent="0">
              <a:spcBef>
                <a:spcPts val="550"/>
              </a:spcBef>
              <a:buClrTx/>
            </a:pPr>
            <a:r>
              <a:rPr lang="en-US" altLang="en-US" sz="2800" noProof="1">
                <a:solidFill>
                  <a:schemeClr val="tx1"/>
                </a:solidFill>
                <a:latin typeface="Verdana"/>
                <a:ea typeface="Microsoft YaHei"/>
                <a:cs typeface="Arial"/>
              </a:rPr>
              <a:t>}</a:t>
            </a:r>
            <a:endParaRPr lang="en-US" altLang="en-US" sz="2800" b="1" noProof="1">
              <a:solidFill>
                <a:schemeClr val="tx1"/>
              </a:solidFill>
              <a:latin typeface="Verdana"/>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143041379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62251" y="701165"/>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3200" b="1" noProof="1">
                <a:solidFill>
                  <a:srgbClr val="000000"/>
                </a:solidFill>
                <a:latin typeface="Verdana"/>
                <a:ea typeface="Microsoft YaHei"/>
                <a:cs typeface="Arial"/>
              </a:rPr>
              <a:t>CSS background Property</a:t>
            </a:r>
          </a:p>
          <a:p>
            <a:pPr marL="2316480" indent="-457200">
              <a:spcBef>
                <a:spcPts val="550"/>
              </a:spcBef>
              <a:buClrTx/>
              <a:buFont typeface="Arial" panose="02020603050405020304" pitchFamily="18" charset="0"/>
              <a:buChar char="•"/>
            </a:pPr>
            <a:r>
              <a:rPr lang="en-US" altLang="en-US" sz="2800" noProof="1">
                <a:solidFill>
                  <a:schemeClr val="tx1"/>
                </a:solidFill>
                <a:latin typeface="Verdana"/>
                <a:ea typeface="Microsoft YaHei"/>
                <a:cs typeface="Arial"/>
              </a:rPr>
              <a:t>It is used to define the background effects for elements. There are lots of properties to design the background.</a:t>
            </a:r>
            <a:endParaRPr lang="en-US" altLang="en-US" sz="2800" b="1" noProof="1">
              <a:solidFill>
                <a:schemeClr val="tx1"/>
              </a:solidFill>
              <a:latin typeface="Verdana"/>
              <a:ea typeface="Microsoft YaHei"/>
              <a:cs typeface="Arial"/>
            </a:endParaRPr>
          </a:p>
          <a:p>
            <a:pPr marL="1859280" indent="0">
              <a:spcBef>
                <a:spcPts val="550"/>
              </a:spcBef>
              <a:buClrTx/>
            </a:pPr>
            <a:endParaRPr lang="en-US" altLang="en-US" sz="2800" noProof="1">
              <a:solidFill>
                <a:schemeClr val="tx1"/>
              </a:solidFill>
              <a:latin typeface="Verdana"/>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graphicFrame>
        <p:nvGraphicFramePr>
          <p:cNvPr id="3" name="Table 3">
            <a:extLst>
              <a:ext uri="{FF2B5EF4-FFF2-40B4-BE49-F238E27FC236}">
                <a16:creationId xmlns:a16="http://schemas.microsoft.com/office/drawing/2014/main" id="{507A6AD5-D677-F6B0-582B-7285B35C3D0A}"/>
              </a:ext>
            </a:extLst>
          </p:cNvPr>
          <p:cNvGraphicFramePr>
            <a:graphicFrameLocks noGrp="1"/>
          </p:cNvGraphicFramePr>
          <p:nvPr>
            <p:extLst>
              <p:ext uri="{D42A27DB-BD31-4B8C-83A1-F6EECF244321}">
                <p14:modId xmlns:p14="http://schemas.microsoft.com/office/powerpoint/2010/main" val="1062176867"/>
              </p:ext>
            </p:extLst>
          </p:nvPr>
        </p:nvGraphicFramePr>
        <p:xfrm>
          <a:off x="1768415" y="2645433"/>
          <a:ext cx="9943782" cy="3193824"/>
        </p:xfrm>
        <a:graphic>
          <a:graphicData uri="http://schemas.openxmlformats.org/drawingml/2006/table">
            <a:tbl>
              <a:tblPr firstRow="1" bandRow="1">
                <a:tableStyleId>{5C22544A-7EE6-4342-B048-85BDC9FD1C3A}</a:tableStyleId>
              </a:tblPr>
              <a:tblGrid>
                <a:gridCol w="3306591">
                  <a:extLst>
                    <a:ext uri="{9D8B030D-6E8A-4147-A177-3AD203B41FA5}">
                      <a16:colId xmlns:a16="http://schemas.microsoft.com/office/drawing/2014/main" val="3232426388"/>
                    </a:ext>
                  </a:extLst>
                </a:gridCol>
                <a:gridCol w="6637191">
                  <a:extLst>
                    <a:ext uri="{9D8B030D-6E8A-4147-A177-3AD203B41FA5}">
                      <a16:colId xmlns:a16="http://schemas.microsoft.com/office/drawing/2014/main" val="4197912981"/>
                    </a:ext>
                  </a:extLst>
                </a:gridCol>
              </a:tblGrid>
              <a:tr h="430305">
                <a:tc>
                  <a:txBody>
                    <a:bodyPr/>
                    <a:lstStyle/>
                    <a:p>
                      <a:pPr algn="ctr"/>
                      <a:r>
                        <a:rPr lang="en-US" dirty="0"/>
                        <a:t>Property</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Background-color</a:t>
                      </a:r>
                    </a:p>
                  </a:txBody>
                  <a:tcPr/>
                </a:tc>
                <a:tc>
                  <a:txBody>
                    <a:bodyPr/>
                    <a:lstStyle/>
                    <a:p>
                      <a:r>
                        <a:rPr lang="en-US" dirty="0"/>
                        <a:t>Specify the background color of an element</a:t>
                      </a:r>
                    </a:p>
                  </a:txBody>
                  <a:tcPr/>
                </a:tc>
                <a:extLst>
                  <a:ext uri="{0D108BD9-81ED-4DB2-BD59-A6C34878D82A}">
                    <a16:rowId xmlns:a16="http://schemas.microsoft.com/office/drawing/2014/main" val="1534733952"/>
                  </a:ext>
                </a:extLst>
              </a:tr>
              <a:tr h="370840">
                <a:tc>
                  <a:txBody>
                    <a:bodyPr/>
                    <a:lstStyle/>
                    <a:p>
                      <a:r>
                        <a:rPr lang="en-US" dirty="0"/>
                        <a:t>Background-image</a:t>
                      </a:r>
                    </a:p>
                  </a:txBody>
                  <a:tcPr/>
                </a:tc>
                <a:tc>
                  <a:txBody>
                    <a:bodyPr/>
                    <a:lstStyle/>
                    <a:p>
                      <a:r>
                        <a:rPr lang="en-US" dirty="0"/>
                        <a:t>Set on or more background images</a:t>
                      </a:r>
                    </a:p>
                  </a:txBody>
                  <a:tcPr/>
                </a:tc>
                <a:extLst>
                  <a:ext uri="{0D108BD9-81ED-4DB2-BD59-A6C34878D82A}">
                    <a16:rowId xmlns:a16="http://schemas.microsoft.com/office/drawing/2014/main" val="3671367115"/>
                  </a:ext>
                </a:extLst>
              </a:tr>
              <a:tr h="370840">
                <a:tc>
                  <a:txBody>
                    <a:bodyPr/>
                    <a:lstStyle/>
                    <a:p>
                      <a:r>
                        <a:rPr lang="en-US" dirty="0"/>
                        <a:t>Background-repeat</a:t>
                      </a:r>
                    </a:p>
                  </a:txBody>
                  <a:tcPr/>
                </a:tc>
                <a:tc>
                  <a:txBody>
                    <a:bodyPr/>
                    <a:lstStyle/>
                    <a:p>
                      <a:r>
                        <a:rPr lang="en-US" dirty="0"/>
                        <a:t>It is used to repeat the background image either horizontally or vertically</a:t>
                      </a:r>
                    </a:p>
                  </a:txBody>
                  <a:tcPr/>
                </a:tc>
                <a:extLst>
                  <a:ext uri="{0D108BD9-81ED-4DB2-BD59-A6C34878D82A}">
                    <a16:rowId xmlns:a16="http://schemas.microsoft.com/office/drawing/2014/main" val="3618890050"/>
                  </a:ext>
                </a:extLst>
              </a:tr>
              <a:tr h="370840">
                <a:tc>
                  <a:txBody>
                    <a:bodyPr/>
                    <a:lstStyle/>
                    <a:p>
                      <a:r>
                        <a:rPr lang="en-US" dirty="0"/>
                        <a:t>Background-attachment</a:t>
                      </a:r>
                    </a:p>
                  </a:txBody>
                  <a:tcPr/>
                </a:tc>
                <a:tc>
                  <a:txBody>
                    <a:bodyPr/>
                    <a:lstStyle/>
                    <a:p>
                      <a:r>
                        <a:rPr lang="en-US" dirty="0"/>
                        <a:t>It is used to specify the kind of attachment of the background image with respect to container</a:t>
                      </a:r>
                    </a:p>
                  </a:txBody>
                  <a:tcPr/>
                </a:tc>
                <a:extLst>
                  <a:ext uri="{0D108BD9-81ED-4DB2-BD59-A6C34878D82A}">
                    <a16:rowId xmlns:a16="http://schemas.microsoft.com/office/drawing/2014/main" val="3095820679"/>
                  </a:ext>
                </a:extLst>
              </a:tr>
              <a:tr h="370840">
                <a:tc>
                  <a:txBody>
                    <a:bodyPr/>
                    <a:lstStyle/>
                    <a:p>
                      <a:r>
                        <a:rPr lang="en-US" dirty="0"/>
                        <a:t>Background-position</a:t>
                      </a:r>
                    </a:p>
                  </a:txBody>
                  <a:tcPr/>
                </a:tc>
                <a:tc>
                  <a:txBody>
                    <a:bodyPr/>
                    <a:lstStyle/>
                    <a:p>
                      <a:r>
                        <a:rPr lang="en-US" dirty="0"/>
                        <a:t>It mainly used to set an image at a certain position</a:t>
                      </a:r>
                    </a:p>
                  </a:txBody>
                  <a:tcPr/>
                </a:tc>
                <a:extLst>
                  <a:ext uri="{0D108BD9-81ED-4DB2-BD59-A6C34878D82A}">
                    <a16:rowId xmlns:a16="http://schemas.microsoft.com/office/drawing/2014/main" val="1823011582"/>
                  </a:ext>
                </a:extLst>
              </a:tr>
              <a:tr h="370839">
                <a:tc>
                  <a:txBody>
                    <a:bodyPr/>
                    <a:lstStyle/>
                    <a:p>
                      <a:pPr lvl="0">
                        <a:buNone/>
                      </a:pPr>
                      <a:r>
                        <a:rPr lang="en-US" dirty="0"/>
                        <a:t>Background-clip</a:t>
                      </a:r>
                    </a:p>
                  </a:txBody>
                  <a:tcPr/>
                </a:tc>
                <a:tc>
                  <a:txBody>
                    <a:bodyPr/>
                    <a:lstStyle/>
                    <a:p>
                      <a:pPr lvl="0">
                        <a:buNone/>
                      </a:pPr>
                      <a:r>
                        <a:rPr lang="en-US" dirty="0"/>
                        <a:t>It is used to define how to extend background within a element.</a:t>
                      </a:r>
                    </a:p>
                  </a:txBody>
                  <a:tcPr/>
                </a:tc>
                <a:extLst>
                  <a:ext uri="{0D108BD9-81ED-4DB2-BD59-A6C34878D82A}">
                    <a16:rowId xmlns:a16="http://schemas.microsoft.com/office/drawing/2014/main" val="284369123"/>
                  </a:ext>
                </a:extLst>
              </a:tr>
            </a:tbl>
          </a:graphicData>
        </a:graphic>
      </p:graphicFrame>
    </p:spTree>
    <p:extLst>
      <p:ext uri="{BB962C8B-B14F-4D97-AF65-F5344CB8AC3E}">
        <p14:creationId xmlns:p14="http://schemas.microsoft.com/office/powerpoint/2010/main" val="143797227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62251" y="701165"/>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800" b="1" noProof="1">
                <a:solidFill>
                  <a:srgbClr val="000000"/>
                </a:solidFill>
                <a:latin typeface="Verdana"/>
                <a:ea typeface="Microsoft YaHei"/>
                <a:cs typeface="Arial"/>
              </a:rPr>
              <a:t>CSS border Property</a:t>
            </a:r>
          </a:p>
          <a:p>
            <a:pPr marL="2316480" indent="-457200">
              <a:spcBef>
                <a:spcPts val="550"/>
              </a:spcBef>
              <a:buClrTx/>
              <a:buFont typeface="Arial" panose="02020603050405020304" pitchFamily="18" charset="0"/>
              <a:buChar char="•"/>
            </a:pPr>
            <a:r>
              <a:rPr lang="en-US" altLang="en-US" sz="2400" noProof="1">
                <a:solidFill>
                  <a:schemeClr val="tx1"/>
                </a:solidFill>
                <a:latin typeface="Verdana"/>
                <a:ea typeface="Microsoft YaHei"/>
                <a:cs typeface="Arial"/>
              </a:rPr>
              <a:t>It allows us to set the style, color and width of the border.</a:t>
            </a:r>
          </a:p>
          <a:p>
            <a:pPr marL="2316480" indent="-457200">
              <a:spcBef>
                <a:spcPts val="550"/>
              </a:spcBef>
              <a:buClrTx/>
              <a:buFont typeface="Arial" panose="02020603050405020304" pitchFamily="18" charset="0"/>
              <a:buChar char="•"/>
            </a:pPr>
            <a:r>
              <a:rPr lang="en-US" altLang="en-US" sz="2400" noProof="1">
                <a:solidFill>
                  <a:schemeClr val="tx1"/>
                </a:solidFill>
                <a:latin typeface="Verdana"/>
                <a:ea typeface="Microsoft YaHei"/>
                <a:cs typeface="Arial"/>
              </a:rPr>
              <a:t>Different properties can be set for all different borders i.e. top border, right border, bottom border and left border.</a:t>
            </a:r>
          </a:p>
          <a:p>
            <a:pPr marL="1859280" indent="0">
              <a:spcBef>
                <a:spcPts val="550"/>
              </a:spcBef>
              <a:buClrTx/>
            </a:pPr>
            <a:endParaRPr lang="en-US" altLang="en-US" sz="2800" noProof="1">
              <a:solidFill>
                <a:schemeClr val="tx1"/>
              </a:solidFill>
              <a:latin typeface="Verdana"/>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graphicFrame>
        <p:nvGraphicFramePr>
          <p:cNvPr id="3" name="Table 3">
            <a:extLst>
              <a:ext uri="{FF2B5EF4-FFF2-40B4-BE49-F238E27FC236}">
                <a16:creationId xmlns:a16="http://schemas.microsoft.com/office/drawing/2014/main" id="{507A6AD5-D677-F6B0-582B-7285B35C3D0A}"/>
              </a:ext>
            </a:extLst>
          </p:cNvPr>
          <p:cNvGraphicFramePr>
            <a:graphicFrameLocks noGrp="1"/>
          </p:cNvGraphicFramePr>
          <p:nvPr>
            <p:extLst>
              <p:ext uri="{D42A27DB-BD31-4B8C-83A1-F6EECF244321}">
                <p14:modId xmlns:p14="http://schemas.microsoft.com/office/powerpoint/2010/main" val="1404154672"/>
              </p:ext>
            </p:extLst>
          </p:nvPr>
        </p:nvGraphicFramePr>
        <p:xfrm>
          <a:off x="585310" y="2585275"/>
          <a:ext cx="10713816" cy="2990625"/>
        </p:xfrm>
        <a:graphic>
          <a:graphicData uri="http://schemas.openxmlformats.org/drawingml/2006/table">
            <a:tbl>
              <a:tblPr firstRow="1" bandRow="1">
                <a:tableStyleId>{5C22544A-7EE6-4342-B048-85BDC9FD1C3A}</a:tableStyleId>
              </a:tblPr>
              <a:tblGrid>
                <a:gridCol w="3562649">
                  <a:extLst>
                    <a:ext uri="{9D8B030D-6E8A-4147-A177-3AD203B41FA5}">
                      <a16:colId xmlns:a16="http://schemas.microsoft.com/office/drawing/2014/main" val="3232426388"/>
                    </a:ext>
                  </a:extLst>
                </a:gridCol>
                <a:gridCol w="7151167">
                  <a:extLst>
                    <a:ext uri="{9D8B030D-6E8A-4147-A177-3AD203B41FA5}">
                      <a16:colId xmlns:a16="http://schemas.microsoft.com/office/drawing/2014/main" val="4197912981"/>
                    </a:ext>
                  </a:extLst>
                </a:gridCol>
              </a:tblGrid>
              <a:tr h="430305">
                <a:tc>
                  <a:txBody>
                    <a:bodyPr/>
                    <a:lstStyle/>
                    <a:p>
                      <a:pPr algn="ctr"/>
                      <a:r>
                        <a:rPr lang="en-US" dirty="0"/>
                        <a:t>Property</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border-style</a:t>
                      </a:r>
                    </a:p>
                  </a:txBody>
                  <a:tcPr/>
                </a:tc>
                <a:tc>
                  <a:txBody>
                    <a:bodyPr/>
                    <a:lstStyle/>
                    <a:p>
                      <a:r>
                        <a:rPr lang="en-US" dirty="0"/>
                        <a:t>Specify the type of border. None of the other border properties will work without setting the border style.</a:t>
                      </a:r>
                    </a:p>
                  </a:txBody>
                  <a:tcPr/>
                </a:tc>
                <a:extLst>
                  <a:ext uri="{0D108BD9-81ED-4DB2-BD59-A6C34878D82A}">
                    <a16:rowId xmlns:a16="http://schemas.microsoft.com/office/drawing/2014/main" val="1534733952"/>
                  </a:ext>
                </a:extLst>
              </a:tr>
              <a:tr h="370840">
                <a:tc>
                  <a:txBody>
                    <a:bodyPr/>
                    <a:lstStyle/>
                    <a:p>
                      <a:r>
                        <a:rPr lang="en-US" dirty="0"/>
                        <a:t>border-width</a:t>
                      </a:r>
                    </a:p>
                  </a:txBody>
                  <a:tcPr/>
                </a:tc>
                <a:tc>
                  <a:txBody>
                    <a:bodyPr/>
                    <a:lstStyle/>
                    <a:p>
                      <a:r>
                        <a:rPr lang="en-US" dirty="0"/>
                        <a:t>Sets the width of the border. The width of the border can be in </a:t>
                      </a:r>
                      <a:r>
                        <a:rPr lang="en-US" dirty="0" err="1"/>
                        <a:t>px</a:t>
                      </a:r>
                      <a:r>
                        <a:rPr lang="en-US" dirty="0"/>
                        <a:t>, pt, cm or thin, medium, thick.</a:t>
                      </a:r>
                    </a:p>
                  </a:txBody>
                  <a:tcPr/>
                </a:tc>
                <a:extLst>
                  <a:ext uri="{0D108BD9-81ED-4DB2-BD59-A6C34878D82A}">
                    <a16:rowId xmlns:a16="http://schemas.microsoft.com/office/drawing/2014/main" val="3671367115"/>
                  </a:ext>
                </a:extLst>
              </a:tr>
              <a:tr h="370840">
                <a:tc>
                  <a:txBody>
                    <a:bodyPr/>
                    <a:lstStyle/>
                    <a:p>
                      <a:r>
                        <a:rPr lang="en-US" dirty="0"/>
                        <a:t>border-color</a:t>
                      </a:r>
                    </a:p>
                  </a:txBody>
                  <a:tcPr/>
                </a:tc>
                <a:tc>
                  <a:txBody>
                    <a:bodyPr/>
                    <a:lstStyle/>
                    <a:p>
                      <a:r>
                        <a:rPr lang="en-US" dirty="0"/>
                        <a:t>It is used to set the color of the border. Color can be set by using color name, hex value and RGB value.</a:t>
                      </a:r>
                    </a:p>
                  </a:txBody>
                  <a:tcPr/>
                </a:tc>
                <a:extLst>
                  <a:ext uri="{0D108BD9-81ED-4DB2-BD59-A6C34878D82A}">
                    <a16:rowId xmlns:a16="http://schemas.microsoft.com/office/drawing/2014/main" val="3618890050"/>
                  </a:ext>
                </a:extLst>
              </a:tr>
              <a:tr h="370840">
                <a:tc>
                  <a:txBody>
                    <a:bodyPr/>
                    <a:lstStyle/>
                    <a:p>
                      <a:r>
                        <a:rPr lang="en-US" dirty="0"/>
                        <a:t>border-radius</a:t>
                      </a:r>
                    </a:p>
                  </a:txBody>
                  <a:tcPr/>
                </a:tc>
                <a:tc>
                  <a:txBody>
                    <a:bodyPr/>
                    <a:lstStyle/>
                    <a:p>
                      <a:r>
                        <a:rPr lang="en-US" dirty="0"/>
                        <a:t>It is used to round the corner of the border that looks more attractive. </a:t>
                      </a:r>
                    </a:p>
                  </a:txBody>
                  <a:tcPr/>
                </a:tc>
                <a:extLst>
                  <a:ext uri="{0D108BD9-81ED-4DB2-BD59-A6C34878D82A}">
                    <a16:rowId xmlns:a16="http://schemas.microsoft.com/office/drawing/2014/main" val="3095820679"/>
                  </a:ext>
                </a:extLst>
              </a:tr>
            </a:tbl>
          </a:graphicData>
        </a:graphic>
      </p:graphicFrame>
    </p:spTree>
    <p:extLst>
      <p:ext uri="{BB962C8B-B14F-4D97-AF65-F5344CB8AC3E}">
        <p14:creationId xmlns:p14="http://schemas.microsoft.com/office/powerpoint/2010/main" val="1665595184"/>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82566" y="282674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000" b="1" noProof="1">
                <a:solidFill>
                  <a:srgbClr val="000000"/>
                </a:solidFill>
                <a:latin typeface="Verdana"/>
                <a:ea typeface="Microsoft YaHei"/>
                <a:cs typeface="Arial"/>
              </a:rPr>
              <a:t>CSS margin Property</a:t>
            </a:r>
          </a:p>
          <a:p>
            <a:pPr marL="2316480" indent="-4572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It allows you to create space around the element. We can set the different size of margins for individual sides (top, right, bottom, left).</a:t>
            </a:r>
          </a:p>
          <a:p>
            <a:pPr marL="2316480" indent="-4572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Margin Properties can have the following values:</a:t>
            </a:r>
          </a:p>
          <a:p>
            <a:pPr marL="2316480" indent="-457200">
              <a:spcBef>
                <a:spcPts val="550"/>
              </a:spcBef>
              <a:buClrTx/>
              <a:buAutoNum type="arabicPeriod"/>
            </a:pPr>
            <a:r>
              <a:rPr lang="en-US" altLang="en-US" noProof="1">
                <a:solidFill>
                  <a:schemeClr val="tx1"/>
                </a:solidFill>
                <a:latin typeface="Verdana"/>
                <a:ea typeface="Microsoft YaHei"/>
                <a:cs typeface="Arial"/>
              </a:rPr>
              <a:t>Length in cm, px, pt etc.</a:t>
            </a:r>
          </a:p>
          <a:p>
            <a:pPr marL="2316480" indent="-457200">
              <a:spcBef>
                <a:spcPts val="550"/>
              </a:spcBef>
              <a:buClrTx/>
              <a:buAutoNum type="arabicPeriod"/>
            </a:pPr>
            <a:r>
              <a:rPr lang="en-US" altLang="en-US" noProof="1">
                <a:solidFill>
                  <a:schemeClr val="tx1"/>
                </a:solidFill>
                <a:latin typeface="Verdana"/>
                <a:ea typeface="Microsoft YaHei"/>
                <a:cs typeface="Arial"/>
              </a:rPr>
              <a:t>Width % of the element.</a:t>
            </a:r>
          </a:p>
          <a:p>
            <a:pPr marL="2316480" indent="-457200">
              <a:spcBef>
                <a:spcPts val="550"/>
              </a:spcBef>
              <a:buClrTx/>
              <a:buAutoNum type="arabicPeriod"/>
            </a:pPr>
            <a:r>
              <a:rPr lang="en-US" altLang="en-US" noProof="1">
                <a:solidFill>
                  <a:schemeClr val="tx1"/>
                </a:solidFill>
                <a:latin typeface="Verdana"/>
                <a:ea typeface="Microsoft YaHei"/>
                <a:cs typeface="Arial"/>
              </a:rPr>
              <a:t>Margin calculated by browser: auto</a:t>
            </a:r>
          </a:p>
          <a:p>
            <a:pPr marL="2202180" indent="-3429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The short hand property of margin is</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margin property have 4 values</a:t>
            </a:r>
          </a:p>
          <a:p>
            <a:pPr marL="1859280" indent="0">
              <a:spcBef>
                <a:spcPts val="550"/>
              </a:spcBef>
              <a:buClrTx/>
            </a:pPr>
            <a:r>
              <a:rPr lang="en-US" altLang="en-US" noProof="1">
                <a:solidFill>
                  <a:schemeClr val="tx1"/>
                </a:solidFill>
                <a:latin typeface="Verdana"/>
                <a:ea typeface="Microsoft YaHei"/>
                <a:cs typeface="Arial"/>
              </a:rPr>
              <a:t>     </a:t>
            </a:r>
            <a:r>
              <a:rPr lang="en-US" altLang="en-US" sz="1600" noProof="1">
                <a:solidFill>
                  <a:schemeClr val="tx1"/>
                </a:solidFill>
                <a:latin typeface="Verdana"/>
                <a:ea typeface="Microsoft YaHei"/>
                <a:cs typeface="Arial"/>
              </a:rPr>
              <a:t>margin: 40px 30px 20px 10px /* top=40px, right=30px, bottom=20px, left=10px*/ </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margin property have 3 values</a:t>
            </a:r>
            <a:endParaRPr lang="en-US" b="1" dirty="0">
              <a:solidFill>
                <a:schemeClr val="tx1"/>
              </a:solidFill>
              <a:ea typeface="Microsoft YaHei"/>
              <a:cs typeface="Arial" panose="020B0604020202020204" pitchFamily="34" charset="0"/>
            </a:endParaRPr>
          </a:p>
          <a:p>
            <a:pPr marL="2316480" indent="-457200">
              <a:spcBef>
                <a:spcPts val="550"/>
              </a:spcBef>
              <a:buClrTx/>
              <a:buFont typeface="Arial" panose="02020603050405020304" pitchFamily="18" charset="0"/>
              <a:buChar char="•"/>
            </a:pPr>
            <a:r>
              <a:rPr lang="en-US" sz="1600" noProof="1">
                <a:solidFill>
                  <a:schemeClr val="tx1"/>
                </a:solidFill>
                <a:latin typeface="Verdana"/>
                <a:ea typeface="Verdana"/>
                <a:cs typeface="Arial"/>
              </a:rPr>
              <a:t>margin: 40px 30px 10px /* top=40px, right and left=30px, bottom=20px*/ </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margin property have 2 values</a:t>
            </a:r>
          </a:p>
          <a:p>
            <a:pPr marL="2316480" indent="-457200">
              <a:spcBef>
                <a:spcPts val="550"/>
              </a:spcBef>
              <a:buClrTx/>
              <a:buFont typeface="Arial" panose="02020603050405020304" pitchFamily="18" charset="0"/>
              <a:buChar char="•"/>
            </a:pPr>
            <a:r>
              <a:rPr lang="en-US" sz="1600" noProof="1">
                <a:solidFill>
                  <a:schemeClr val="tx1"/>
                </a:solidFill>
                <a:latin typeface="Verdana"/>
                <a:ea typeface="Verdana"/>
                <a:cs typeface="Arial"/>
              </a:rPr>
              <a:t>margin: 40px 30px  /* top=40px and bottom, left and right=30px*/ </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margin property have 1 value</a:t>
            </a:r>
            <a:endParaRPr lang="en-US" altLang="en-US" b="1" noProof="1">
              <a:solidFill>
                <a:schemeClr val="tx1"/>
              </a:solidFill>
              <a:latin typeface="Verdana"/>
              <a:cs typeface="Arial"/>
            </a:endParaRPr>
          </a:p>
          <a:p>
            <a:pPr indent="-537845">
              <a:buFont typeface="Arial" panose="02020603050405020304" pitchFamily="18" charset="0"/>
              <a:buChar char="•"/>
            </a:pPr>
            <a:r>
              <a:rPr lang="en-US" sz="1600" noProof="1">
                <a:solidFill>
                  <a:schemeClr val="tx1"/>
                </a:solidFill>
                <a:latin typeface="Verdana"/>
                <a:ea typeface="Verdana"/>
                <a:cs typeface="Arial"/>
              </a:rPr>
              <a:t>margin: 40px  /* top, right, bottom, left=40px*/ </a:t>
            </a:r>
          </a:p>
          <a:p>
            <a:pPr marL="1859280" indent="0">
              <a:spcBef>
                <a:spcPts val="550"/>
              </a:spcBef>
              <a:buClrTx/>
            </a:pPr>
            <a:endParaRPr lang="en-US" altLang="en-US" noProof="1">
              <a:solidFill>
                <a:schemeClr val="tx1"/>
              </a:solidFill>
              <a:latin typeface="Verdana"/>
              <a:ea typeface="Microsoft YaHei"/>
              <a:cs typeface="Arial"/>
            </a:endParaRPr>
          </a:p>
          <a:p>
            <a:pPr marL="2316480" indent="-457200">
              <a:spcBef>
                <a:spcPts val="550"/>
              </a:spcBef>
              <a:buClrTx/>
              <a:buFont typeface="Wingdings" panose="02020603050405020304" pitchFamily="18" charset="0"/>
              <a:buChar char="Ø"/>
            </a:pPr>
            <a:endParaRPr lang="en-US" sz="1400" dirty="0">
              <a:solidFill>
                <a:schemeClr val="tx1"/>
              </a:solidFill>
              <a:ea typeface="Microsoft YaHei"/>
              <a:cs typeface="Arial"/>
            </a:endParaRPr>
          </a:p>
          <a:p>
            <a:pPr marL="1859280" indent="0">
              <a:spcBef>
                <a:spcPts val="550"/>
              </a:spcBef>
              <a:buClrTx/>
            </a:pPr>
            <a:endParaRPr lang="en-US" altLang="en-US" sz="2000" noProof="1">
              <a:solidFill>
                <a:schemeClr val="tx1"/>
              </a:solidFill>
              <a:latin typeface="Verdana"/>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283649743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82566" y="2826743"/>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000" b="1" noProof="1">
                <a:solidFill>
                  <a:srgbClr val="000000"/>
                </a:solidFill>
                <a:latin typeface="Verdana"/>
                <a:ea typeface="Microsoft YaHei"/>
                <a:cs typeface="Arial"/>
              </a:rPr>
              <a:t>CSS padding Property</a:t>
            </a:r>
          </a:p>
          <a:p>
            <a:pPr marL="2316480" indent="-4572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It allows you to create space around the element, inside any defined border.</a:t>
            </a:r>
          </a:p>
          <a:p>
            <a:pPr marL="2316480" indent="-4572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We can set different paddings for individual sides.</a:t>
            </a:r>
          </a:p>
          <a:p>
            <a:pPr marL="2316480" indent="-4572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Padding Properties can have the following values:</a:t>
            </a:r>
          </a:p>
          <a:p>
            <a:pPr marL="2316480" indent="-457200">
              <a:spcBef>
                <a:spcPts val="550"/>
              </a:spcBef>
              <a:buClrTx/>
              <a:buAutoNum type="arabicPeriod"/>
            </a:pPr>
            <a:r>
              <a:rPr lang="en-US" altLang="en-US" noProof="1">
                <a:solidFill>
                  <a:schemeClr val="tx1"/>
                </a:solidFill>
                <a:latin typeface="Verdana"/>
                <a:ea typeface="Microsoft YaHei"/>
                <a:cs typeface="Arial"/>
              </a:rPr>
              <a:t>Length in cm, px, pt etc.</a:t>
            </a:r>
          </a:p>
          <a:p>
            <a:pPr marL="2316480" indent="-457200">
              <a:spcBef>
                <a:spcPts val="550"/>
              </a:spcBef>
              <a:buClrTx/>
              <a:buAutoNum type="arabicPeriod"/>
            </a:pPr>
            <a:r>
              <a:rPr lang="en-US" altLang="en-US" noProof="1">
                <a:solidFill>
                  <a:schemeClr val="tx1"/>
                </a:solidFill>
                <a:latin typeface="Verdana"/>
                <a:ea typeface="Microsoft YaHei"/>
                <a:cs typeface="Arial"/>
              </a:rPr>
              <a:t>Width % of the element.</a:t>
            </a:r>
          </a:p>
          <a:p>
            <a:pPr marL="2202180" indent="-342900">
              <a:spcBef>
                <a:spcPts val="550"/>
              </a:spcBef>
              <a:buClrTx/>
              <a:buFont typeface="Arial" panose="02020603050405020304" pitchFamily="18" charset="0"/>
              <a:buChar char="•"/>
            </a:pPr>
            <a:r>
              <a:rPr lang="en-US" altLang="en-US" noProof="1">
                <a:solidFill>
                  <a:schemeClr val="tx1"/>
                </a:solidFill>
                <a:latin typeface="Verdana"/>
                <a:ea typeface="Microsoft YaHei"/>
                <a:cs typeface="Arial"/>
              </a:rPr>
              <a:t>The short hand property of margin is</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padding property have 4 values</a:t>
            </a:r>
          </a:p>
          <a:p>
            <a:pPr marL="1859280" indent="0">
              <a:spcBef>
                <a:spcPts val="550"/>
              </a:spcBef>
              <a:buClrTx/>
            </a:pPr>
            <a:r>
              <a:rPr lang="en-US" altLang="en-US" noProof="1">
                <a:solidFill>
                  <a:schemeClr val="tx1"/>
                </a:solidFill>
                <a:latin typeface="Verdana"/>
                <a:ea typeface="Microsoft YaHei"/>
                <a:cs typeface="Arial"/>
              </a:rPr>
              <a:t>     </a:t>
            </a:r>
            <a:r>
              <a:rPr lang="en-US" altLang="en-US" sz="1600" noProof="1">
                <a:solidFill>
                  <a:schemeClr val="tx1"/>
                </a:solidFill>
                <a:latin typeface="Verdana"/>
                <a:ea typeface="Microsoft YaHei"/>
                <a:cs typeface="Arial"/>
              </a:rPr>
              <a:t>padding : 40px 30px 20px 10px /* top=40px, right=30px, bottom=20px, left=10px*/ </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padding property have 3 values</a:t>
            </a:r>
            <a:endParaRPr lang="en-US" b="1" dirty="0">
              <a:solidFill>
                <a:schemeClr val="tx1"/>
              </a:solidFill>
              <a:ea typeface="Microsoft YaHei"/>
              <a:cs typeface="Arial" panose="020B0604020202020204" pitchFamily="34" charset="0"/>
            </a:endParaRPr>
          </a:p>
          <a:p>
            <a:pPr marL="2316480" indent="-457200">
              <a:spcBef>
                <a:spcPts val="550"/>
              </a:spcBef>
              <a:buClrTx/>
              <a:buFont typeface="Arial" panose="02020603050405020304" pitchFamily="18" charset="0"/>
              <a:buChar char="•"/>
            </a:pPr>
            <a:r>
              <a:rPr lang="en-US" sz="1600" noProof="1">
                <a:solidFill>
                  <a:schemeClr val="tx1"/>
                </a:solidFill>
                <a:latin typeface="Verdana"/>
                <a:ea typeface="Verdana"/>
                <a:cs typeface="Arial"/>
              </a:rPr>
              <a:t>padding: 40px 30px 10px /* top=40px, right and left=30px, bottom=20px*/ </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padding property have 2 values</a:t>
            </a:r>
          </a:p>
          <a:p>
            <a:pPr marL="2316480" indent="-457200">
              <a:spcBef>
                <a:spcPts val="550"/>
              </a:spcBef>
              <a:buClrTx/>
              <a:buFont typeface="Arial" panose="02020603050405020304" pitchFamily="18" charset="0"/>
              <a:buChar char="•"/>
            </a:pPr>
            <a:r>
              <a:rPr lang="en-US" sz="1600" noProof="1">
                <a:solidFill>
                  <a:schemeClr val="tx1"/>
                </a:solidFill>
                <a:latin typeface="Verdana"/>
                <a:ea typeface="Verdana"/>
                <a:cs typeface="Arial"/>
              </a:rPr>
              <a:t>padding: 40px 30px  /* top=40px and bottom, left and right=30px*/ </a:t>
            </a:r>
          </a:p>
          <a:p>
            <a:pPr marL="2316480" indent="-457200">
              <a:spcBef>
                <a:spcPts val="550"/>
              </a:spcBef>
              <a:buClrTx/>
              <a:buFont typeface="Wingdings" panose="02020603050405020304" pitchFamily="18" charset="0"/>
              <a:buChar char="Ø"/>
            </a:pPr>
            <a:r>
              <a:rPr lang="en-US" altLang="en-US" b="1" noProof="1">
                <a:solidFill>
                  <a:schemeClr val="tx1"/>
                </a:solidFill>
                <a:latin typeface="Verdana"/>
                <a:ea typeface="Microsoft YaHei"/>
                <a:cs typeface="Arial"/>
              </a:rPr>
              <a:t>If padding property have 1 value</a:t>
            </a:r>
            <a:endParaRPr lang="en-US" altLang="en-US" b="1" noProof="1">
              <a:solidFill>
                <a:schemeClr val="tx1"/>
              </a:solidFill>
              <a:latin typeface="Verdana"/>
              <a:cs typeface="Arial"/>
            </a:endParaRPr>
          </a:p>
          <a:p>
            <a:pPr indent="-537845">
              <a:buFont typeface="Arial" panose="02020603050405020304" pitchFamily="18" charset="0"/>
              <a:buChar char="•"/>
            </a:pPr>
            <a:r>
              <a:rPr lang="en-US" sz="1600" noProof="1">
                <a:solidFill>
                  <a:schemeClr val="tx1"/>
                </a:solidFill>
                <a:latin typeface="Verdana"/>
                <a:ea typeface="Verdana"/>
                <a:cs typeface="Arial"/>
              </a:rPr>
              <a:t>padding: 40px  /* top, right, bottom, left=40px*/ </a:t>
            </a:r>
          </a:p>
          <a:p>
            <a:pPr marL="1859280" indent="0">
              <a:spcBef>
                <a:spcPts val="550"/>
              </a:spcBef>
              <a:buClrTx/>
            </a:pPr>
            <a:endParaRPr lang="en-US" altLang="en-US" noProof="1">
              <a:solidFill>
                <a:schemeClr val="tx1"/>
              </a:solidFill>
              <a:latin typeface="Verdana"/>
              <a:ea typeface="Microsoft YaHei"/>
              <a:cs typeface="Arial"/>
            </a:endParaRPr>
          </a:p>
          <a:p>
            <a:pPr marL="2316480" indent="-457200">
              <a:spcBef>
                <a:spcPts val="550"/>
              </a:spcBef>
              <a:buClrTx/>
              <a:buFont typeface="Wingdings" panose="02020603050405020304" pitchFamily="18" charset="0"/>
              <a:buChar char="Ø"/>
            </a:pPr>
            <a:endParaRPr lang="en-US" sz="1400" dirty="0">
              <a:solidFill>
                <a:schemeClr val="tx1"/>
              </a:solidFill>
              <a:ea typeface="Microsoft YaHei"/>
              <a:cs typeface="Arial"/>
            </a:endParaRPr>
          </a:p>
          <a:p>
            <a:pPr marL="1859280" indent="0">
              <a:spcBef>
                <a:spcPts val="550"/>
              </a:spcBef>
              <a:buClrTx/>
            </a:pPr>
            <a:endParaRPr lang="en-US" altLang="en-US" sz="2000" noProof="1">
              <a:solidFill>
                <a:schemeClr val="tx1"/>
              </a:solidFill>
              <a:latin typeface="Verdana"/>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8749084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760030" y="836048"/>
            <a:ext cx="6023587" cy="7644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rgbClr val="000000"/>
                </a:solidFill>
                <a:latin typeface="Verdana"/>
                <a:ea typeface="Microsoft YaHei"/>
                <a:cs typeface="Arial"/>
              </a:rPr>
              <a:t>CSS Box Model</a:t>
            </a: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
        <p:nvSpPr>
          <p:cNvPr id="4" name="Rectangle 3">
            <a:extLst>
              <a:ext uri="{FF2B5EF4-FFF2-40B4-BE49-F238E27FC236}">
                <a16:creationId xmlns:a16="http://schemas.microsoft.com/office/drawing/2014/main" id="{DAABD408-1A96-23E1-CA2D-37DB4805BBDC}"/>
              </a:ext>
            </a:extLst>
          </p:cNvPr>
          <p:cNvSpPr/>
          <p:nvPr/>
        </p:nvSpPr>
        <p:spPr bwMode="auto">
          <a:xfrm>
            <a:off x="1748591" y="1608222"/>
            <a:ext cx="8373977" cy="431332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0" fontAlgn="base" hangingPunct="0">
              <a:spcBef>
                <a:spcPct val="0"/>
              </a:spcBef>
              <a:spcAft>
                <a:spcPct val="0"/>
              </a:spcAft>
              <a:buClr>
                <a:srgbClr val="000000"/>
              </a:buClr>
              <a:buSzPct val="100000"/>
            </a:pPr>
            <a:r>
              <a:rPr lang="en-US" sz="2400" b="1" dirty="0">
                <a:latin typeface="Arial"/>
                <a:ea typeface="Microsoft YaHei"/>
                <a:cs typeface="Arial"/>
              </a:rPr>
              <a:t>Margin Property</a:t>
            </a:r>
            <a:endParaRPr lang="en-US" sz="2400" dirty="0">
              <a:latin typeface="Arial"/>
              <a:ea typeface="Microsoft YaHei"/>
              <a:cs typeface="Arial"/>
            </a:endParaRPr>
          </a:p>
        </p:txBody>
      </p:sp>
      <p:sp>
        <p:nvSpPr>
          <p:cNvPr id="5" name="Rectangle 4">
            <a:extLst>
              <a:ext uri="{FF2B5EF4-FFF2-40B4-BE49-F238E27FC236}">
                <a16:creationId xmlns:a16="http://schemas.microsoft.com/office/drawing/2014/main" id="{E69F72C0-BEB2-A080-960B-14640EFE1659}"/>
              </a:ext>
            </a:extLst>
          </p:cNvPr>
          <p:cNvSpPr/>
          <p:nvPr/>
        </p:nvSpPr>
        <p:spPr bwMode="auto">
          <a:xfrm>
            <a:off x="2503070" y="2152149"/>
            <a:ext cx="6870031" cy="3150268"/>
          </a:xfrm>
          <a:prstGeom prst="rect">
            <a:avLst/>
          </a:prstGeom>
          <a:solidFill>
            <a:srgbClr val="FFFF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457200">
              <a:spcBef>
                <a:spcPct val="0"/>
              </a:spcBef>
              <a:spcAft>
                <a:spcPct val="0"/>
              </a:spcAft>
            </a:pPr>
            <a:r>
              <a:rPr lang="en-US" sz="2400" b="1" dirty="0">
                <a:latin typeface="Arial"/>
                <a:cs typeface="Arial"/>
              </a:rPr>
              <a:t>Border Property</a:t>
            </a:r>
          </a:p>
        </p:txBody>
      </p:sp>
      <p:sp>
        <p:nvSpPr>
          <p:cNvPr id="6" name="Rectangle 5">
            <a:extLst>
              <a:ext uri="{FF2B5EF4-FFF2-40B4-BE49-F238E27FC236}">
                <a16:creationId xmlns:a16="http://schemas.microsoft.com/office/drawing/2014/main" id="{9E249FD4-EF48-5ECD-2B6E-3A30407DF8FB}"/>
              </a:ext>
            </a:extLst>
          </p:cNvPr>
          <p:cNvSpPr/>
          <p:nvPr/>
        </p:nvSpPr>
        <p:spPr bwMode="auto">
          <a:xfrm>
            <a:off x="3046998" y="2595813"/>
            <a:ext cx="5696952" cy="225792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457200" eaLnBrk="0" fontAlgn="base" hangingPunct="0">
              <a:spcBef>
                <a:spcPct val="0"/>
              </a:spcBef>
              <a:spcAft>
                <a:spcPct val="0"/>
              </a:spcAft>
              <a:buClr>
                <a:srgbClr val="000000"/>
              </a:buClr>
              <a:buSzPct val="100000"/>
            </a:pPr>
            <a:r>
              <a:rPr lang="en-US" sz="2400" b="1" dirty="0">
                <a:solidFill>
                  <a:srgbClr val="000000"/>
                </a:solidFill>
                <a:latin typeface="Arial"/>
                <a:ea typeface="Microsoft YaHei"/>
                <a:cs typeface="Arial"/>
              </a:rPr>
              <a:t>Padding Property</a:t>
            </a:r>
          </a:p>
          <a:p>
            <a:pPr defTabSz="457200">
              <a:spcBef>
                <a:spcPct val="0"/>
              </a:spcBef>
              <a:spcAft>
                <a:spcPct val="0"/>
              </a:spcAft>
            </a:pPr>
            <a:endParaRPr lang="en-US" sz="2400" b="1" dirty="0">
              <a:solidFill>
                <a:srgbClr val="000000"/>
              </a:solidFill>
              <a:latin typeface="Arial" panose="020B0604020202020204" pitchFamily="34" charset="0"/>
              <a:ea typeface="Microsoft YaHei" panose="020B0503020204020204" pitchFamily="34" charset="-122"/>
              <a:cs typeface="Arial" panose="020B0604020202020204" pitchFamily="34" charset="0"/>
            </a:endParaRPr>
          </a:p>
          <a:p>
            <a:pPr defTabSz="457200">
              <a:spcBef>
                <a:spcPct val="0"/>
              </a:spcBef>
              <a:spcAft>
                <a:spcPct val="0"/>
              </a:spcAft>
            </a:pPr>
            <a:r>
              <a:rPr lang="en-US" b="1" dirty="0">
                <a:solidFill>
                  <a:srgbClr val="000000"/>
                </a:solidFill>
                <a:latin typeface="Arial"/>
                <a:ea typeface="Microsoft YaHei"/>
                <a:cs typeface="Arial"/>
              </a:rPr>
              <a:t>Height</a:t>
            </a:r>
            <a:endParaRPr lang="en-US" sz="2400" b="1" dirty="0">
              <a:solidFill>
                <a:srgbClr val="000000"/>
              </a:solidFill>
              <a:latin typeface="Arial" panose="020B0604020202020204" pitchFamily="34" charset="0"/>
              <a:ea typeface="Microsoft YaHei" panose="020B0503020204020204" pitchFamily="34" charset="-122"/>
              <a:cs typeface="Arial" panose="020B0604020202020204" pitchFamily="34" charset="0"/>
            </a:endParaRPr>
          </a:p>
          <a:p>
            <a:pPr algn="ctr" defTabSz="457200">
              <a:spcBef>
                <a:spcPct val="0"/>
              </a:spcBef>
              <a:spcAft>
                <a:spcPct val="0"/>
              </a:spcAft>
            </a:pPr>
            <a:endParaRPr lang="en-US" sz="2400" b="1" dirty="0">
              <a:solidFill>
                <a:srgbClr val="000000"/>
              </a:solidFill>
              <a:latin typeface="Arial" panose="020B0604020202020204" pitchFamily="34" charset="0"/>
              <a:ea typeface="Microsoft YaHei" panose="020B0503020204020204" pitchFamily="34" charset="-122"/>
              <a:cs typeface="Arial" panose="020B0604020202020204" pitchFamily="34" charset="0"/>
            </a:endParaRPr>
          </a:p>
          <a:p>
            <a:pPr algn="ctr" defTabSz="457200">
              <a:spcBef>
                <a:spcPct val="0"/>
              </a:spcBef>
              <a:spcAft>
                <a:spcPct val="0"/>
              </a:spcAft>
            </a:pPr>
            <a:endParaRPr lang="en-US" sz="2400" b="1" dirty="0">
              <a:solidFill>
                <a:srgbClr val="000000"/>
              </a:solidFill>
              <a:latin typeface="Arial" panose="020B0604020202020204" pitchFamily="34" charset="0"/>
              <a:ea typeface="Microsoft YaHei" panose="020B0503020204020204" pitchFamily="34" charset="-122"/>
              <a:cs typeface="Arial" panose="020B0604020202020204" pitchFamily="34" charset="0"/>
            </a:endParaRPr>
          </a:p>
          <a:p>
            <a:pPr algn="ctr" defTabSz="457200">
              <a:spcBef>
                <a:spcPct val="0"/>
              </a:spcBef>
              <a:spcAft>
                <a:spcPct val="0"/>
              </a:spcAft>
            </a:pPr>
            <a:r>
              <a:rPr lang="en-US" b="1" dirty="0">
                <a:solidFill>
                  <a:srgbClr val="000000"/>
                </a:solidFill>
                <a:latin typeface="Arial"/>
                <a:ea typeface="Microsoft YaHei"/>
                <a:cs typeface="Arial"/>
              </a:rPr>
              <a:t>Width</a:t>
            </a:r>
            <a:endParaRPr lang="en-US" sz="2400" b="1" dirty="0">
              <a:solidFill>
                <a:srgbClr val="000000"/>
              </a:solidFill>
              <a:latin typeface="Arial" panose="020B0604020202020204" pitchFamily="34" charset="0"/>
              <a:ea typeface="Microsoft YaHei" panose="020B0503020204020204" pitchFamily="34" charset="-122"/>
              <a:cs typeface="Arial" panose="020B0604020202020204" pitchFamily="34" charset="0"/>
            </a:endParaRPr>
          </a:p>
        </p:txBody>
      </p:sp>
      <p:sp>
        <p:nvSpPr>
          <p:cNvPr id="7" name="Rectangle 6">
            <a:extLst>
              <a:ext uri="{FF2B5EF4-FFF2-40B4-BE49-F238E27FC236}">
                <a16:creationId xmlns:a16="http://schemas.microsoft.com/office/drawing/2014/main" id="{0BFDD3EE-73A7-4FBA-C82E-75675BEC86A4}"/>
              </a:ext>
            </a:extLst>
          </p:cNvPr>
          <p:cNvSpPr/>
          <p:nvPr/>
        </p:nvSpPr>
        <p:spPr bwMode="auto">
          <a:xfrm>
            <a:off x="4342899" y="3280109"/>
            <a:ext cx="3110162" cy="884322"/>
          </a:xfrm>
          <a:prstGeom prst="rect">
            <a:avLst/>
          </a:prstGeom>
          <a:solidFill>
            <a:srgbClr val="FFFF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r>
              <a:rPr lang="en-US" sz="2800" b="1" dirty="0">
                <a:latin typeface="Arial"/>
                <a:ea typeface="Microsoft YaHei"/>
                <a:cs typeface="Arial"/>
              </a:rPr>
              <a:t>CONTENT</a:t>
            </a:r>
            <a:endParaRPr lang="en-US" sz="1800" b="0" i="0" u="none" strike="noStrike" cap="none" normalizeH="0" baseline="0" dirty="0">
              <a:ln>
                <a:noFill/>
              </a:ln>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p:txBody>
      </p:sp>
      <p:cxnSp>
        <p:nvCxnSpPr>
          <p:cNvPr id="8" name="Straight Arrow Connector 7">
            <a:extLst>
              <a:ext uri="{FF2B5EF4-FFF2-40B4-BE49-F238E27FC236}">
                <a16:creationId xmlns:a16="http://schemas.microsoft.com/office/drawing/2014/main" id="{54ED6E2C-B88C-F21B-C9BF-19E4AD95545F}"/>
              </a:ext>
            </a:extLst>
          </p:cNvPr>
          <p:cNvCxnSpPr/>
          <p:nvPr/>
        </p:nvCxnSpPr>
        <p:spPr bwMode="auto">
          <a:xfrm>
            <a:off x="6260431" y="4555957"/>
            <a:ext cx="2538663" cy="12032"/>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3AF52A57-FCE0-2F55-71B7-BADBE5BD0B99}"/>
              </a:ext>
            </a:extLst>
          </p:cNvPr>
          <p:cNvCxnSpPr/>
          <p:nvPr/>
        </p:nvCxnSpPr>
        <p:spPr bwMode="auto">
          <a:xfrm flipH="1" flipV="1">
            <a:off x="3036470" y="4540417"/>
            <a:ext cx="2494546" cy="8021"/>
          </a:xfrm>
          <a:prstGeom prst="straightConnector1">
            <a:avLst/>
          </a:prstGeom>
          <a:solidFill>
            <a:srgbClr val="00B8FF"/>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9">
            <a:extLst>
              <a:ext uri="{FF2B5EF4-FFF2-40B4-BE49-F238E27FC236}">
                <a16:creationId xmlns:a16="http://schemas.microsoft.com/office/drawing/2014/main" id="{06ABEFB3-30C7-B70A-FD9C-5DD44817D081}"/>
              </a:ext>
            </a:extLst>
          </p:cNvPr>
          <p:cNvCxnSpPr/>
          <p:nvPr/>
        </p:nvCxnSpPr>
        <p:spPr bwMode="auto">
          <a:xfrm>
            <a:off x="3578392" y="2595812"/>
            <a:ext cx="12032" cy="2217820"/>
          </a:xfrm>
          <a:prstGeom prst="straightConnector1">
            <a:avLst/>
          </a:prstGeom>
          <a:solidFill>
            <a:srgbClr val="00B8FF"/>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56231632"/>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61872" y="2139469"/>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rgbClr val="000000"/>
                </a:solidFill>
                <a:latin typeface="Verdana"/>
                <a:ea typeface="Microsoft YaHei"/>
                <a:cs typeface="Arial"/>
              </a:rPr>
              <a:t>CSS Box Model</a:t>
            </a:r>
          </a:p>
          <a:p>
            <a:pPr marL="2316480" indent="-457200">
              <a:spcBef>
                <a:spcPts val="550"/>
              </a:spcBef>
              <a:buClrTx/>
              <a:buFont typeface="Arial" panose="02020603050405020304" pitchFamily="18" charset="0"/>
              <a:buChar char="•"/>
            </a:pPr>
            <a:r>
              <a:rPr lang="en-US" altLang="en-US" sz="2000" noProof="1">
                <a:solidFill>
                  <a:schemeClr val="tx1"/>
                </a:solidFill>
                <a:latin typeface="Verdana"/>
                <a:ea typeface="Microsoft YaHei"/>
                <a:cs typeface="Arial"/>
              </a:rPr>
              <a:t>It is a container that contains multiple properties including borders, margins, paddings and content itself. It is used the design and layout of web pages.</a:t>
            </a:r>
          </a:p>
          <a:p>
            <a:pPr marL="2316480" indent="-457200">
              <a:spcBef>
                <a:spcPts val="550"/>
              </a:spcBef>
              <a:buClrTx/>
              <a:buFont typeface="Arial" panose="02020603050405020304" pitchFamily="18" charset="0"/>
              <a:buChar char="•"/>
            </a:pPr>
            <a:r>
              <a:rPr lang="en-US" altLang="en-US" sz="2000" noProof="1">
                <a:solidFill>
                  <a:schemeClr val="tx1"/>
                </a:solidFill>
                <a:latin typeface="Verdana"/>
                <a:ea typeface="Microsoft YaHei"/>
                <a:cs typeface="Arial"/>
              </a:rPr>
              <a:t>The web browser renders every element as a rectangular box according to CSS box model.</a:t>
            </a:r>
          </a:p>
          <a:p>
            <a:pPr marL="2316480" indent="-457200">
              <a:spcBef>
                <a:spcPts val="550"/>
              </a:spcBef>
              <a:buClrTx/>
              <a:buFont typeface="Arial" panose="02020603050405020304" pitchFamily="18" charset="0"/>
              <a:buChar char="•"/>
            </a:pPr>
            <a:r>
              <a:rPr lang="en-US" altLang="en-US" sz="2000" noProof="1">
                <a:solidFill>
                  <a:schemeClr val="tx1"/>
                </a:solidFill>
                <a:latin typeface="Verdana"/>
                <a:ea typeface="Microsoft YaHei"/>
                <a:cs typeface="Arial"/>
              </a:rPr>
              <a:t>While setting the width and height properties of an element with CSS, we have only set the width and height of the content area. We need padding, borders, margins in order to calculate the full size of the element.</a:t>
            </a:r>
          </a:p>
          <a:p>
            <a:pPr marL="1859280" indent="0">
              <a:spcBef>
                <a:spcPts val="550"/>
              </a:spcBef>
            </a:pPr>
            <a:r>
              <a:rPr lang="en-US" sz="2400" b="1" noProof="1">
                <a:solidFill>
                  <a:schemeClr val="tx1"/>
                </a:solidFill>
                <a:latin typeface="Verdana"/>
                <a:ea typeface="Verdana"/>
                <a:cs typeface="Arial"/>
              </a:rPr>
              <a:t>Total Width can be calculated as</a:t>
            </a:r>
          </a:p>
          <a:p>
            <a:pPr marL="1859280" indent="0">
              <a:spcBef>
                <a:spcPts val="550"/>
              </a:spcBef>
            </a:pPr>
            <a:r>
              <a:rPr lang="en-US" sz="2000" noProof="1">
                <a:solidFill>
                  <a:schemeClr val="tx1"/>
                </a:solidFill>
                <a:latin typeface="Verdana"/>
                <a:ea typeface="Verdana"/>
                <a:cs typeface="Arial"/>
              </a:rPr>
              <a:t>Total Element Width = width + left padding + right padding + left border + right  border  + left margin + right margin</a:t>
            </a:r>
          </a:p>
          <a:p>
            <a:pPr marL="1859280" indent="0">
              <a:spcBef>
                <a:spcPts val="550"/>
              </a:spcBef>
            </a:pPr>
            <a:r>
              <a:rPr lang="en-US" sz="2400" b="1" noProof="1">
                <a:solidFill>
                  <a:schemeClr val="tx1"/>
                </a:solidFill>
                <a:latin typeface="Verdana"/>
                <a:ea typeface="Verdana"/>
                <a:cs typeface="Arial"/>
              </a:rPr>
              <a:t>Total Height can be calculated as</a:t>
            </a:r>
            <a:endParaRPr lang="en-US" sz="2400" noProof="1">
              <a:solidFill>
                <a:schemeClr val="tx1"/>
              </a:solidFill>
              <a:latin typeface="Verdana"/>
              <a:ea typeface="Verdana"/>
              <a:cs typeface="Arial"/>
            </a:endParaRPr>
          </a:p>
          <a:p>
            <a:pPr marL="1859280" indent="0">
              <a:spcBef>
                <a:spcPts val="550"/>
              </a:spcBef>
            </a:pPr>
            <a:r>
              <a:rPr lang="en-US" sz="2000" noProof="1">
                <a:solidFill>
                  <a:schemeClr val="tx1"/>
                </a:solidFill>
                <a:latin typeface="Verdana"/>
                <a:ea typeface="Verdana"/>
                <a:cs typeface="Arial"/>
              </a:rPr>
              <a:t>Total Element Height= height + top padding + bottom padding + top border +</a:t>
            </a:r>
            <a:endParaRPr lang="en-US" dirty="0">
              <a:solidFill>
                <a:schemeClr val="tx1"/>
              </a:solidFill>
              <a:cs typeface="Arial" panose="020B0604020202020204" pitchFamily="34" charset="0"/>
            </a:endParaRPr>
          </a:p>
          <a:p>
            <a:pPr marL="1859280" indent="0">
              <a:spcBef>
                <a:spcPts val="550"/>
              </a:spcBef>
            </a:pPr>
            <a:r>
              <a:rPr lang="en-US" sz="2000" noProof="1">
                <a:solidFill>
                  <a:schemeClr val="tx1"/>
                </a:solidFill>
                <a:latin typeface="Verdana"/>
                <a:ea typeface="Verdana"/>
                <a:cs typeface="Arial"/>
              </a:rPr>
              <a:t> bottom border  + top margin + bottom margin</a:t>
            </a:r>
            <a:endParaRPr lang="en-US" dirty="0">
              <a:solidFill>
                <a:schemeClr val="tx1"/>
              </a:solidFill>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315423276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33117" y="2513280"/>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rgbClr val="000000"/>
                </a:solidFill>
                <a:latin typeface="Verdana"/>
                <a:ea typeface="Microsoft YaHei"/>
                <a:cs typeface="Arial"/>
              </a:rPr>
              <a:t>CSS </a:t>
            </a:r>
            <a:r>
              <a:rPr lang="en-US" altLang="en-US" sz="2400" b="1" noProof="1">
                <a:solidFill>
                  <a:schemeClr val="tx1"/>
                </a:solidFill>
                <a:latin typeface="Verdana"/>
                <a:ea typeface="Microsoft YaHei"/>
                <a:cs typeface="Arial"/>
              </a:rPr>
              <a:t>Overflow Property</a:t>
            </a:r>
            <a:endParaRPr lang="en-US" dirty="0">
              <a:solidFill>
                <a:schemeClr val="tx1"/>
              </a:solidFill>
              <a:cs typeface="Arial" panose="020B0604020202020204" pitchFamily="34" charset="0"/>
            </a:endParaRPr>
          </a:p>
          <a:p>
            <a:pPr marL="2202180" indent="-342900">
              <a:spcBef>
                <a:spcPts val="550"/>
              </a:spcBef>
              <a:buClrTx/>
              <a:buFont typeface="Arial" panose="02020603050405020304" pitchFamily="18" charset="0"/>
              <a:buChar char="•"/>
            </a:pPr>
            <a:r>
              <a:rPr lang="en-US" altLang="en-US" sz="2000" noProof="1">
                <a:solidFill>
                  <a:schemeClr val="tx1"/>
                </a:solidFill>
                <a:latin typeface="Verdana"/>
                <a:ea typeface="Microsoft YaHei"/>
                <a:cs typeface="Arial"/>
              </a:rPr>
              <a:t>The CSS Overflow property controls the big content. It tells whether to clip content or to add scroll bars. The overflow contains the following values:</a:t>
            </a:r>
          </a:p>
          <a:p>
            <a:pPr marL="2316480" indent="-457200">
              <a:spcBef>
                <a:spcPts val="550"/>
              </a:spcBef>
              <a:buAutoNum type="arabicPeriod"/>
            </a:pPr>
            <a:r>
              <a:rPr lang="en-US" sz="2400" b="1" noProof="1">
                <a:solidFill>
                  <a:schemeClr val="tx1"/>
                </a:solidFill>
                <a:latin typeface="Verdana"/>
                <a:ea typeface="Verdana"/>
                <a:cs typeface="Arial"/>
              </a:rPr>
              <a:t>Visible</a:t>
            </a:r>
          </a:p>
          <a:p>
            <a:pPr marL="2316480" indent="-457200">
              <a:spcBef>
                <a:spcPts val="550"/>
              </a:spcBef>
              <a:buAutoNum type="arabicPeriod"/>
            </a:pPr>
            <a:r>
              <a:rPr lang="en-US" sz="2400" b="1" noProof="1">
                <a:solidFill>
                  <a:schemeClr val="tx1"/>
                </a:solidFill>
                <a:latin typeface="Verdana"/>
                <a:ea typeface="Verdana"/>
                <a:cs typeface="Arial"/>
              </a:rPr>
              <a:t>Hidden</a:t>
            </a:r>
          </a:p>
          <a:p>
            <a:pPr marL="2316480" indent="-457200">
              <a:spcBef>
                <a:spcPts val="550"/>
              </a:spcBef>
              <a:buAutoNum type="arabicPeriod"/>
            </a:pPr>
            <a:r>
              <a:rPr lang="en-US" sz="2400" b="1" noProof="1">
                <a:solidFill>
                  <a:schemeClr val="tx1"/>
                </a:solidFill>
                <a:latin typeface="Verdana"/>
                <a:ea typeface="Verdana"/>
                <a:cs typeface="Arial"/>
              </a:rPr>
              <a:t>Scroll</a:t>
            </a:r>
          </a:p>
          <a:p>
            <a:pPr marL="2316480" indent="-457200">
              <a:spcBef>
                <a:spcPts val="550"/>
              </a:spcBef>
              <a:buAutoNum type="arabicPeriod"/>
            </a:pPr>
            <a:r>
              <a:rPr lang="en-US" sz="2400" b="1" noProof="1">
                <a:solidFill>
                  <a:schemeClr val="tx1"/>
                </a:solidFill>
                <a:latin typeface="Verdana"/>
                <a:ea typeface="Verdana"/>
                <a:cs typeface="Arial"/>
              </a:rPr>
              <a:t>Auto</a:t>
            </a:r>
          </a:p>
          <a:p>
            <a:pPr marL="2202180" indent="-342900">
              <a:spcBef>
                <a:spcPts val="550"/>
              </a:spcBef>
              <a:buFont typeface="Arial" panose="02020603050405020304" pitchFamily="18" charset="0"/>
              <a:buChar char="•"/>
            </a:pPr>
            <a:r>
              <a:rPr lang="en-US" sz="2400" b="1" noProof="1">
                <a:solidFill>
                  <a:schemeClr val="tx1"/>
                </a:solidFill>
                <a:latin typeface="Verdana"/>
                <a:ea typeface="Verdana"/>
                <a:cs typeface="Arial"/>
              </a:rPr>
              <a:t>Visible : </a:t>
            </a:r>
            <a:r>
              <a:rPr lang="en-US" sz="2400" noProof="1">
                <a:solidFill>
                  <a:schemeClr val="tx1"/>
                </a:solidFill>
                <a:latin typeface="Verdana"/>
                <a:ea typeface="Verdana"/>
                <a:cs typeface="Arial"/>
              </a:rPr>
              <a:t>The content is not clipped and visible outside the element box.</a:t>
            </a:r>
          </a:p>
          <a:p>
            <a:pPr marL="2202180" indent="-342900">
              <a:spcBef>
                <a:spcPts val="550"/>
              </a:spcBef>
              <a:buFont typeface="Arial" panose="02020603050405020304" pitchFamily="18" charset="0"/>
              <a:buChar char="•"/>
            </a:pPr>
            <a:r>
              <a:rPr lang="en-US" sz="2400" b="1" noProof="1">
                <a:solidFill>
                  <a:schemeClr val="tx1"/>
                </a:solidFill>
                <a:latin typeface="Verdana"/>
                <a:ea typeface="Verdana"/>
                <a:cs typeface="Arial"/>
              </a:rPr>
              <a:t>Hidden </a:t>
            </a:r>
            <a:r>
              <a:rPr lang="en-US" sz="2400" noProof="1">
                <a:solidFill>
                  <a:schemeClr val="tx1"/>
                </a:solidFill>
                <a:latin typeface="Verdana"/>
                <a:ea typeface="Verdana"/>
                <a:cs typeface="Arial"/>
              </a:rPr>
              <a:t>: The overflow is clipped and the rest of the content is invisible.</a:t>
            </a:r>
          </a:p>
          <a:p>
            <a:pPr marL="2202180" indent="-342900">
              <a:spcBef>
                <a:spcPts val="550"/>
              </a:spcBef>
              <a:buFont typeface="Arial" panose="02020603050405020304" pitchFamily="18" charset="0"/>
              <a:buChar char="•"/>
            </a:pPr>
            <a:r>
              <a:rPr lang="en-US" sz="2400" b="1" noProof="1">
                <a:solidFill>
                  <a:schemeClr val="tx1"/>
                </a:solidFill>
                <a:latin typeface="Verdana"/>
                <a:ea typeface="Verdana"/>
                <a:cs typeface="Arial"/>
              </a:rPr>
              <a:t>Scroll </a:t>
            </a:r>
            <a:r>
              <a:rPr lang="en-US" sz="2400" noProof="1">
                <a:solidFill>
                  <a:schemeClr val="tx1"/>
                </a:solidFill>
                <a:latin typeface="Verdana"/>
                <a:ea typeface="Verdana"/>
                <a:cs typeface="Arial"/>
              </a:rPr>
              <a:t>: The Overflow is clipped but a scroll bar is added to see rest of the content. The scrollbar can be horizontal or vertical.</a:t>
            </a:r>
          </a:p>
          <a:p>
            <a:pPr marL="2202180" indent="-342900">
              <a:spcBef>
                <a:spcPts val="550"/>
              </a:spcBef>
              <a:buFont typeface="Arial" panose="02020603050405020304" pitchFamily="18" charset="0"/>
              <a:buChar char="•"/>
            </a:pPr>
            <a:r>
              <a:rPr lang="en-US" sz="2400" b="1" noProof="1">
                <a:solidFill>
                  <a:schemeClr val="tx1"/>
                </a:solidFill>
                <a:latin typeface="Verdana"/>
                <a:ea typeface="Verdana"/>
                <a:cs typeface="Arial"/>
              </a:rPr>
              <a:t>Auto </a:t>
            </a:r>
            <a:r>
              <a:rPr lang="en-US" sz="2400" noProof="1">
                <a:solidFill>
                  <a:schemeClr val="tx1"/>
                </a:solidFill>
                <a:latin typeface="Verdana"/>
                <a:ea typeface="Verdana"/>
                <a:cs typeface="Arial"/>
              </a:rPr>
              <a:t>: It automatically add a scrollbar whenever it is required.</a:t>
            </a:r>
          </a:p>
          <a:p>
            <a:pPr marL="2202180" indent="-342900">
              <a:spcBef>
                <a:spcPts val="550"/>
              </a:spcBef>
              <a:buFont typeface="Arial" panose="02020603050405020304" pitchFamily="18" charset="0"/>
              <a:buChar char="•"/>
            </a:pPr>
            <a:r>
              <a:rPr lang="en-US" sz="2400" b="1" noProof="1">
                <a:solidFill>
                  <a:schemeClr val="tx1"/>
                </a:solidFill>
                <a:latin typeface="Verdana"/>
                <a:ea typeface="Verdana"/>
                <a:cs typeface="Arial"/>
              </a:rPr>
              <a:t>Overflow-x and Overflow-y</a:t>
            </a:r>
            <a:r>
              <a:rPr lang="en-US" sz="2400" noProof="1">
                <a:solidFill>
                  <a:schemeClr val="tx1"/>
                </a:solidFill>
                <a:latin typeface="Verdana"/>
                <a:ea typeface="Verdana"/>
                <a:cs typeface="Arial"/>
              </a:rPr>
              <a:t> : x = horizontal and y = vertical</a:t>
            </a:r>
          </a:p>
          <a:p>
            <a:pPr marL="2202180" indent="-342900">
              <a:spcBef>
                <a:spcPts val="550"/>
              </a:spcBef>
              <a:buFont typeface="Arial" panose="02020603050405020304" pitchFamily="18" charset="0"/>
              <a:buChar char="•"/>
            </a:pPr>
            <a:endParaRPr lang="en-US" sz="2400" noProof="1">
              <a:solidFill>
                <a:schemeClr val="tx1"/>
              </a:solidFill>
              <a:latin typeface="Verdana"/>
              <a:ea typeface="Verdana"/>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1003293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33117" y="2513280"/>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rgbClr val="000000"/>
                </a:solidFill>
                <a:latin typeface="Verdana"/>
                <a:ea typeface="Microsoft YaHei"/>
                <a:cs typeface="Arial"/>
              </a:rPr>
              <a:t>CSS </a:t>
            </a:r>
            <a:r>
              <a:rPr lang="en-US" altLang="en-US" sz="2400" b="1" noProof="1">
                <a:solidFill>
                  <a:schemeClr val="tx1"/>
                </a:solidFill>
                <a:latin typeface="Verdana"/>
                <a:ea typeface="Microsoft YaHei"/>
                <a:cs typeface="Arial"/>
              </a:rPr>
              <a:t>float Property</a:t>
            </a:r>
            <a:endParaRPr lang="en-US" dirty="0">
              <a:solidFill>
                <a:schemeClr val="tx1"/>
              </a:solidFill>
              <a:cs typeface="Arial" panose="020B0604020202020204" pitchFamily="34" charset="0"/>
            </a:endParaRPr>
          </a:p>
          <a:p>
            <a:pPr marL="2202180" indent="-342900">
              <a:spcBef>
                <a:spcPts val="550"/>
              </a:spcBef>
              <a:buClrTx/>
              <a:buFont typeface="Arial" panose="02020603050405020304" pitchFamily="18" charset="0"/>
              <a:buChar char="•"/>
            </a:pPr>
            <a:r>
              <a:rPr lang="en-US" altLang="en-US" sz="2000" noProof="1">
                <a:solidFill>
                  <a:schemeClr val="tx1"/>
                </a:solidFill>
                <a:latin typeface="Verdana"/>
                <a:ea typeface="Microsoft YaHei"/>
                <a:cs typeface="Arial"/>
              </a:rPr>
              <a:t>The float property is used to position the elements to the left, right, of its container along with permitting the text and inline elements to wrap around it.</a:t>
            </a:r>
            <a:endParaRPr lang="en-US" altLang="en-US" sz="2000" noProof="1">
              <a:solidFill>
                <a:schemeClr val="tx1"/>
              </a:solidFill>
              <a:latin typeface="Microsoft YaHei"/>
              <a:ea typeface="Microsoft YaHei"/>
              <a:cs typeface="Arial"/>
            </a:endParaRPr>
          </a:p>
          <a:p>
            <a:pPr marL="2202180" indent="-342900">
              <a:spcBef>
                <a:spcPts val="550"/>
              </a:spcBef>
              <a:buClrTx/>
              <a:buFont typeface="Arial" panose="02020603050405020304" pitchFamily="18" charset="0"/>
              <a:buChar char="•"/>
            </a:pPr>
            <a:r>
              <a:rPr lang="en-US" altLang="en-US" sz="2000" noProof="1">
                <a:solidFill>
                  <a:schemeClr val="tx1"/>
                </a:solidFill>
                <a:latin typeface="Verdana"/>
                <a:ea typeface="Microsoft YaHei"/>
                <a:cs typeface="Arial"/>
              </a:rPr>
              <a:t>The float property defines the flow of content in the page. The remaining elements will be part of the flow if the element is removed from the normal flow of the content.</a:t>
            </a:r>
            <a:endParaRPr lang="en-US" altLang="en-US" sz="2000" noProof="1">
              <a:solidFill>
                <a:schemeClr val="tx1"/>
              </a:solidFill>
              <a:latin typeface="Microsoft YaHei"/>
              <a:ea typeface="Microsoft YaHei"/>
              <a:cs typeface="Arial"/>
            </a:endParaRPr>
          </a:p>
          <a:p>
            <a:pPr marL="2202180" indent="-342900">
              <a:spcBef>
                <a:spcPts val="550"/>
              </a:spcBef>
              <a:buClrTx/>
              <a:buFont typeface="Arial" panose="02020603050405020304" pitchFamily="18" charset="0"/>
              <a:buChar char="•"/>
            </a:pPr>
            <a:r>
              <a:rPr lang="en-US" altLang="en-US" sz="2000" noProof="1">
                <a:solidFill>
                  <a:schemeClr val="tx1"/>
                </a:solidFill>
                <a:latin typeface="Microsoft YaHei"/>
                <a:ea typeface="Microsoft YaHei"/>
                <a:cs typeface="Arial"/>
              </a:rPr>
              <a:t>This property is ignored by the absolutely positioned elements.</a:t>
            </a:r>
          </a:p>
          <a:p>
            <a:pPr marL="2202180" indent="-342900">
              <a:spcBef>
                <a:spcPts val="550"/>
              </a:spcBef>
              <a:buClrTx/>
              <a:buFont typeface="Arial" panose="02020603050405020304" pitchFamily="18" charset="0"/>
              <a:buChar char="•"/>
            </a:pPr>
            <a:r>
              <a:rPr lang="en-US" altLang="en-US" sz="2000" noProof="1">
                <a:solidFill>
                  <a:schemeClr val="tx1"/>
                </a:solidFill>
                <a:latin typeface="Microsoft YaHei"/>
                <a:ea typeface="Microsoft YaHei"/>
                <a:cs typeface="Arial"/>
              </a:rPr>
              <a:t>It can be written in a CSS file or can be directly specified in the style of the element.</a:t>
            </a:r>
          </a:p>
          <a:p>
            <a:pPr marL="2202180" indent="-342900">
              <a:spcBef>
                <a:spcPts val="550"/>
              </a:spcBef>
              <a:buClrTx/>
              <a:buFont typeface="Arial" panose="02020603050405020304" pitchFamily="18" charset="0"/>
              <a:buChar char="•"/>
            </a:pPr>
            <a:r>
              <a:rPr lang="en-US" altLang="en-US" sz="2000" noProof="1">
                <a:solidFill>
                  <a:schemeClr val="tx1"/>
                </a:solidFill>
                <a:latin typeface="Microsoft YaHei"/>
                <a:ea typeface="Microsoft YaHei"/>
                <a:cs typeface="Arial"/>
              </a:rPr>
              <a:t>Values are:</a:t>
            </a:r>
          </a:p>
          <a:p>
            <a:pPr marL="2316480" indent="-457200">
              <a:spcBef>
                <a:spcPts val="550"/>
              </a:spcBef>
              <a:buClrTx/>
              <a:buAutoNum type="arabicPeriod"/>
            </a:pPr>
            <a:r>
              <a:rPr lang="en-US" altLang="en-US" sz="2000" b="1" noProof="1">
                <a:solidFill>
                  <a:schemeClr val="tx1"/>
                </a:solidFill>
                <a:latin typeface="Microsoft YaHei"/>
                <a:ea typeface="Microsoft YaHei"/>
                <a:cs typeface="Arial"/>
              </a:rPr>
              <a:t>None: </a:t>
            </a:r>
            <a:r>
              <a:rPr lang="en-US" altLang="en-US" sz="2000" noProof="1">
                <a:solidFill>
                  <a:schemeClr val="tx1"/>
                </a:solidFill>
                <a:latin typeface="Microsoft YaHei"/>
                <a:ea typeface="Microsoft YaHei"/>
                <a:cs typeface="Arial"/>
              </a:rPr>
              <a:t>This is default value and element does not float.</a:t>
            </a:r>
          </a:p>
          <a:p>
            <a:pPr marL="2316480" indent="-457200">
              <a:spcBef>
                <a:spcPts val="550"/>
              </a:spcBef>
              <a:buClrTx/>
              <a:buAutoNum type="arabicPeriod"/>
            </a:pPr>
            <a:r>
              <a:rPr lang="en-US" altLang="en-US" sz="2000" b="1" noProof="1">
                <a:solidFill>
                  <a:schemeClr val="tx1"/>
                </a:solidFill>
                <a:latin typeface="Microsoft YaHei"/>
                <a:ea typeface="Microsoft YaHei"/>
                <a:cs typeface="Arial"/>
              </a:rPr>
              <a:t>Left: </a:t>
            </a:r>
            <a:r>
              <a:rPr lang="en-US" altLang="en-US" sz="2000" noProof="1">
                <a:solidFill>
                  <a:schemeClr val="tx1"/>
                </a:solidFill>
                <a:latin typeface="Microsoft YaHei"/>
                <a:ea typeface="Microsoft YaHei"/>
                <a:cs typeface="Arial"/>
              </a:rPr>
              <a:t>Element floats on the left side of the container</a:t>
            </a:r>
          </a:p>
          <a:p>
            <a:pPr marL="2316480" indent="-457200">
              <a:spcBef>
                <a:spcPts val="550"/>
              </a:spcBef>
              <a:buClrTx/>
              <a:buAutoNum type="arabicPeriod"/>
            </a:pPr>
            <a:r>
              <a:rPr lang="en-US" sz="2000" b="1" noProof="1">
                <a:solidFill>
                  <a:schemeClr val="tx1"/>
                </a:solidFill>
                <a:latin typeface="Microsoft YaHei"/>
                <a:ea typeface="Microsoft YaHei"/>
                <a:cs typeface="Arial"/>
              </a:rPr>
              <a:t>right: </a:t>
            </a:r>
            <a:r>
              <a:rPr lang="en-US" sz="2000" noProof="1">
                <a:solidFill>
                  <a:schemeClr val="tx1"/>
                </a:solidFill>
                <a:latin typeface="Microsoft YaHei"/>
                <a:ea typeface="Microsoft YaHei"/>
                <a:cs typeface="Arial"/>
              </a:rPr>
              <a:t>Element floats on the right side of the container</a:t>
            </a:r>
            <a:endParaRPr lang="en-US" altLang="en-US" sz="2000" noProof="1">
              <a:solidFill>
                <a:schemeClr val="tx1"/>
              </a:solidFill>
              <a:latin typeface="Microsoft YaHei"/>
              <a:ea typeface="Microsoft YaHei"/>
              <a:cs typeface="Arial"/>
            </a:endParaRPr>
          </a:p>
          <a:p>
            <a:pPr marL="2316480" indent="-457200">
              <a:spcBef>
                <a:spcPts val="550"/>
              </a:spcBef>
              <a:buClrTx/>
              <a:buAutoNum type="arabicPeriod"/>
            </a:pPr>
            <a:r>
              <a:rPr lang="en-US" sz="2000" b="1" noProof="1">
                <a:solidFill>
                  <a:schemeClr val="tx1"/>
                </a:solidFill>
                <a:latin typeface="Microsoft YaHei"/>
                <a:ea typeface="Microsoft YaHei"/>
                <a:cs typeface="Arial"/>
              </a:rPr>
              <a:t>Initial: </a:t>
            </a:r>
            <a:r>
              <a:rPr lang="en-US" sz="2000" noProof="1">
                <a:solidFill>
                  <a:schemeClr val="tx1"/>
                </a:solidFill>
                <a:latin typeface="Microsoft YaHei"/>
                <a:ea typeface="Microsoft YaHei"/>
                <a:cs typeface="Arial"/>
              </a:rPr>
              <a:t>Element will be set to its default value.</a:t>
            </a:r>
          </a:p>
          <a:p>
            <a:pPr marL="2316480" indent="-457200">
              <a:spcBef>
                <a:spcPts val="550"/>
              </a:spcBef>
              <a:buClrTx/>
              <a:buAutoNum type="arabicPeriod"/>
            </a:pPr>
            <a:r>
              <a:rPr lang="en-US" sz="2000" b="1" noProof="1">
                <a:solidFill>
                  <a:schemeClr val="tx1"/>
                </a:solidFill>
                <a:latin typeface="Microsoft YaHei"/>
                <a:ea typeface="Microsoft YaHei"/>
                <a:cs typeface="Arial"/>
              </a:rPr>
              <a:t>Inherit: </a:t>
            </a:r>
            <a:r>
              <a:rPr lang="en-US" sz="2000" noProof="1">
                <a:solidFill>
                  <a:schemeClr val="tx1"/>
                </a:solidFill>
                <a:latin typeface="Microsoft YaHei"/>
                <a:ea typeface="Microsoft YaHei"/>
                <a:cs typeface="Arial"/>
              </a:rPr>
              <a:t>Element inherits floating property of its parent property</a:t>
            </a:r>
            <a:r>
              <a:rPr lang="en-US" sz="2000" b="1" noProof="1">
                <a:solidFill>
                  <a:schemeClr val="tx1"/>
                </a:solidFill>
                <a:latin typeface="Microsoft YaHei"/>
                <a:ea typeface="Microsoft YaHei"/>
                <a:cs typeface="Arial"/>
              </a:rPr>
              <a:t>.</a:t>
            </a:r>
          </a:p>
          <a:p>
            <a:pPr marL="2202180" indent="-342900">
              <a:spcBef>
                <a:spcPts val="550"/>
              </a:spcBef>
              <a:buFont typeface="Arial" panose="02020603050405020304" pitchFamily="18" charset="0"/>
              <a:buChar char="•"/>
            </a:pPr>
            <a:endParaRPr lang="en-US" sz="2400" noProof="1">
              <a:solidFill>
                <a:schemeClr val="tx1"/>
              </a:solidFill>
              <a:latin typeface="Verdana"/>
              <a:ea typeface="Verdana"/>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236662318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533758" y="2110714"/>
            <a:ext cx="13423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rgbClr val="000000"/>
                </a:solidFill>
                <a:latin typeface="Verdana"/>
                <a:ea typeface="Microsoft YaHei"/>
                <a:cs typeface="Arial"/>
              </a:rPr>
              <a:t>CSS Pseudo-classes</a:t>
            </a:r>
            <a:endParaRPr lang="en-US" altLang="en-US" sz="2000" noProof="1">
              <a:solidFill>
                <a:srgbClr val="000000"/>
              </a:solidFill>
              <a:latin typeface="Microsoft YaHei"/>
              <a:ea typeface="Microsoft YaHei"/>
              <a:cs typeface="Arial"/>
            </a:endParaRPr>
          </a:p>
          <a:p>
            <a:pPr marL="2202180" indent="-342900">
              <a:spcBef>
                <a:spcPts val="550"/>
              </a:spcBef>
              <a:buFont typeface="Arial" panose="02020603050405020304" pitchFamily="18" charset="0"/>
              <a:buChar char="•"/>
            </a:pPr>
            <a:r>
              <a:rPr lang="en-US" sz="2400" noProof="1">
                <a:solidFill>
                  <a:schemeClr val="tx1"/>
                </a:solidFill>
                <a:latin typeface="Verdana"/>
                <a:ea typeface="Verdana"/>
                <a:cs typeface="Arial"/>
              </a:rPr>
              <a:t>A Pseudo class in CSS is used to define the special state of an element. It can be combined with a CSS selector to add an effect to existing elements based on their states.</a:t>
            </a:r>
          </a:p>
          <a:p>
            <a:pPr marL="2202180" indent="-342900">
              <a:spcBef>
                <a:spcPts val="550"/>
              </a:spcBef>
              <a:buFont typeface="Arial" panose="02020603050405020304" pitchFamily="18" charset="0"/>
              <a:buChar char="•"/>
            </a:pPr>
            <a:r>
              <a:rPr lang="en-US" sz="2400" noProof="1">
                <a:solidFill>
                  <a:schemeClr val="tx1"/>
                </a:solidFill>
                <a:latin typeface="Verdana"/>
                <a:ea typeface="Verdana"/>
                <a:cs typeface="Arial"/>
              </a:rPr>
              <a:t>For example, changing the style of an element when the user hovers over it, or when a link is visited. All of these can be done using Pseudo Classes in CSS.</a:t>
            </a:r>
          </a:p>
          <a:p>
            <a:pPr marL="2202180" indent="-342900">
              <a:spcBef>
                <a:spcPts val="550"/>
              </a:spcBef>
              <a:buFont typeface="Arial" panose="02020603050405020304" pitchFamily="18" charset="0"/>
              <a:buChar char="•"/>
            </a:pPr>
            <a:r>
              <a:rPr lang="en-US" sz="2400" noProof="1">
                <a:solidFill>
                  <a:schemeClr val="tx1"/>
                </a:solidFill>
                <a:latin typeface="Verdana"/>
                <a:ea typeface="Verdana"/>
                <a:cs typeface="Arial"/>
              </a:rPr>
              <a:t>Pseduo-classes are not case sensitive</a:t>
            </a:r>
          </a:p>
          <a:p>
            <a:pPr marL="1859280" indent="0">
              <a:spcBef>
                <a:spcPts val="550"/>
              </a:spcBef>
            </a:pPr>
            <a:r>
              <a:rPr lang="en-US" sz="2400" b="1" noProof="1">
                <a:solidFill>
                  <a:schemeClr val="tx1"/>
                </a:solidFill>
                <a:latin typeface="Verdana"/>
                <a:ea typeface="Verdana"/>
                <a:cs typeface="Arial"/>
              </a:rPr>
              <a:t>Syntax : selector: pseudo-class{</a:t>
            </a:r>
          </a:p>
          <a:p>
            <a:pPr marL="1859280" indent="0">
              <a:spcBef>
                <a:spcPts val="550"/>
              </a:spcBef>
            </a:pPr>
            <a:r>
              <a:rPr lang="en-US" sz="2400" b="1" noProof="1">
                <a:solidFill>
                  <a:schemeClr val="tx1"/>
                </a:solidFill>
                <a:latin typeface="Verdana"/>
                <a:ea typeface="Verdana"/>
                <a:cs typeface="Arial"/>
              </a:rPr>
              <a:t>                  property: value;</a:t>
            </a:r>
            <a:endParaRPr lang="en-US" dirty="0">
              <a:solidFill>
                <a:schemeClr val="tx1"/>
              </a:solidFill>
            </a:endParaRPr>
          </a:p>
          <a:p>
            <a:pPr marL="1859280" indent="0">
              <a:spcBef>
                <a:spcPts val="550"/>
              </a:spcBef>
            </a:pPr>
            <a:r>
              <a:rPr lang="en-US" sz="2400" b="1" noProof="1">
                <a:solidFill>
                  <a:schemeClr val="tx1"/>
                </a:solidFill>
                <a:latin typeface="Verdana"/>
                <a:ea typeface="Verdana"/>
                <a:cs typeface="Arial"/>
              </a:rPr>
              <a:t>              }</a:t>
            </a:r>
            <a:endParaRPr lang="en-US" b="1" dirty="0">
              <a:solidFill>
                <a:schemeClr val="tx1"/>
              </a:solidFill>
              <a:latin typeface="Arial"/>
              <a:ea typeface="Microsoft YaHei"/>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65893645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E16A9224-E966-79C5-5E7D-14F8F51B7652}"/>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E867D967-CBF4-F38B-ACAE-DB3BD484F982}"/>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2F68B64F-5551-8427-93BA-594C1915DB7E}"/>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
        <p:nvSpPr>
          <p:cNvPr id="3" name="TextBox 2">
            <a:extLst>
              <a:ext uri="{FF2B5EF4-FFF2-40B4-BE49-F238E27FC236}">
                <a16:creationId xmlns:a16="http://schemas.microsoft.com/office/drawing/2014/main" id="{BA749444-EC3F-E94F-F0A6-B188534FA369}"/>
              </a:ext>
            </a:extLst>
          </p:cNvPr>
          <p:cNvSpPr txBox="1"/>
          <p:nvPr/>
        </p:nvSpPr>
        <p:spPr>
          <a:xfrm>
            <a:off x="339667" y="991839"/>
            <a:ext cx="11255338"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CSS Flexbox (Flexible box layout)</a:t>
            </a:r>
          </a:p>
          <a:p>
            <a:endParaRPr lang="en-US" dirty="0"/>
          </a:p>
          <a:p>
            <a:pPr marL="285750" indent="-285750">
              <a:buFont typeface="Arial"/>
              <a:buChar char="•"/>
            </a:pPr>
            <a:r>
              <a:rPr lang="en-US" dirty="0"/>
              <a:t>Flexbox is a </a:t>
            </a:r>
            <a:r>
              <a:rPr lang="en-US" b="1" i="1" dirty="0"/>
              <a:t>one-dimensional</a:t>
            </a:r>
            <a:r>
              <a:rPr lang="en-US" dirty="0"/>
              <a:t> layout model in CSS used to arrange items in a row or column efficiently.</a:t>
            </a:r>
          </a:p>
          <a:p>
            <a:pPr marL="285750" indent="-285750">
              <a:buFont typeface="Arial"/>
              <a:buChar char="•"/>
            </a:pPr>
            <a:endParaRPr lang="en-US" dirty="0"/>
          </a:p>
          <a:p>
            <a:pPr marL="285750" indent="-285750">
              <a:buFont typeface="Arial"/>
              <a:buChar char="•"/>
            </a:pPr>
            <a:r>
              <a:rPr lang="en-US" dirty="0"/>
              <a:t>It makes it easy to align, distribute, and reorder elements without using floats or positioning tricks.</a:t>
            </a:r>
          </a:p>
          <a:p>
            <a:endParaRPr lang="en-US" dirty="0"/>
          </a:p>
          <a:p>
            <a:pPr marL="285750" indent="-285750">
              <a:buFont typeface="Arial"/>
              <a:buChar char="•"/>
            </a:pPr>
            <a:endParaRPr lang="en-US" dirty="0"/>
          </a:p>
        </p:txBody>
      </p:sp>
      <p:graphicFrame>
        <p:nvGraphicFramePr>
          <p:cNvPr id="5" name="Table 3">
            <a:extLst>
              <a:ext uri="{FF2B5EF4-FFF2-40B4-BE49-F238E27FC236}">
                <a16:creationId xmlns:a16="http://schemas.microsoft.com/office/drawing/2014/main" id="{02675818-7DFA-EEC4-C169-4C4D055F2A31}"/>
              </a:ext>
            </a:extLst>
          </p:cNvPr>
          <p:cNvGraphicFramePr>
            <a:graphicFrameLocks noGrp="1"/>
          </p:cNvGraphicFramePr>
          <p:nvPr>
            <p:extLst>
              <p:ext uri="{D42A27DB-BD31-4B8C-83A1-F6EECF244321}">
                <p14:modId xmlns:p14="http://schemas.microsoft.com/office/powerpoint/2010/main" val="1405252279"/>
              </p:ext>
            </p:extLst>
          </p:nvPr>
        </p:nvGraphicFramePr>
        <p:xfrm>
          <a:off x="1628663" y="3171429"/>
          <a:ext cx="9061404" cy="3026180"/>
        </p:xfrm>
        <a:graphic>
          <a:graphicData uri="http://schemas.openxmlformats.org/drawingml/2006/table">
            <a:tbl>
              <a:tblPr firstRow="1" bandRow="1">
                <a:tableStyleId>{5C22544A-7EE6-4342-B048-85BDC9FD1C3A}</a:tableStyleId>
              </a:tblPr>
              <a:tblGrid>
                <a:gridCol w="2641256">
                  <a:extLst>
                    <a:ext uri="{9D8B030D-6E8A-4147-A177-3AD203B41FA5}">
                      <a16:colId xmlns:a16="http://schemas.microsoft.com/office/drawing/2014/main" val="3232426388"/>
                    </a:ext>
                  </a:extLst>
                </a:gridCol>
                <a:gridCol w="6420148">
                  <a:extLst>
                    <a:ext uri="{9D8B030D-6E8A-4147-A177-3AD203B41FA5}">
                      <a16:colId xmlns:a16="http://schemas.microsoft.com/office/drawing/2014/main" val="4197912981"/>
                    </a:ext>
                  </a:extLst>
                </a:gridCol>
              </a:tblGrid>
              <a:tr h="430305">
                <a:tc>
                  <a:txBody>
                    <a:bodyPr/>
                    <a:lstStyle/>
                    <a:p>
                      <a:pPr algn="ctr"/>
                      <a:r>
                        <a:rPr lang="en-US" dirty="0"/>
                        <a:t>Property</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display: flex;</a:t>
                      </a:r>
                    </a:p>
                  </a:txBody>
                  <a:tcPr/>
                </a:tc>
                <a:tc>
                  <a:txBody>
                    <a:bodyPr/>
                    <a:lstStyle/>
                    <a:p>
                      <a:r>
                        <a:rPr lang="en-US" dirty="0"/>
                        <a:t>Enables flexbox on a container.</a:t>
                      </a:r>
                    </a:p>
                  </a:txBody>
                  <a:tcPr/>
                </a:tc>
                <a:extLst>
                  <a:ext uri="{0D108BD9-81ED-4DB2-BD59-A6C34878D82A}">
                    <a16:rowId xmlns:a16="http://schemas.microsoft.com/office/drawing/2014/main" val="1534733952"/>
                  </a:ext>
                </a:extLst>
              </a:tr>
              <a:tr h="370840">
                <a:tc>
                  <a:txBody>
                    <a:bodyPr/>
                    <a:lstStyle/>
                    <a:p>
                      <a:r>
                        <a:rPr lang="en-US" dirty="0"/>
                        <a:t>flex-direction</a:t>
                      </a:r>
                    </a:p>
                  </a:txBody>
                  <a:tcPr/>
                </a:tc>
                <a:tc>
                  <a:txBody>
                    <a:bodyPr/>
                    <a:lstStyle/>
                    <a:p>
                      <a:r>
                        <a:rPr lang="en-US" dirty="0"/>
                        <a:t>Defines the direction (row/column) of items.</a:t>
                      </a:r>
                    </a:p>
                  </a:txBody>
                  <a:tcPr/>
                </a:tc>
                <a:extLst>
                  <a:ext uri="{0D108BD9-81ED-4DB2-BD59-A6C34878D82A}">
                    <a16:rowId xmlns:a16="http://schemas.microsoft.com/office/drawing/2014/main" val="3671367115"/>
                  </a:ext>
                </a:extLst>
              </a:tr>
              <a:tr h="370840">
                <a:tc>
                  <a:txBody>
                    <a:bodyPr/>
                    <a:lstStyle/>
                    <a:p>
                      <a:r>
                        <a:rPr lang="en-US" dirty="0"/>
                        <a:t>justify-content</a:t>
                      </a:r>
                    </a:p>
                  </a:txBody>
                  <a:tcPr/>
                </a:tc>
                <a:tc>
                  <a:txBody>
                    <a:bodyPr/>
                    <a:lstStyle/>
                    <a:p>
                      <a:r>
                        <a:rPr lang="en-US" dirty="0"/>
                        <a:t>Align items horizontally.</a:t>
                      </a:r>
                    </a:p>
                  </a:txBody>
                  <a:tcPr/>
                </a:tc>
                <a:extLst>
                  <a:ext uri="{0D108BD9-81ED-4DB2-BD59-A6C34878D82A}">
                    <a16:rowId xmlns:a16="http://schemas.microsoft.com/office/drawing/2014/main" val="3618890050"/>
                  </a:ext>
                </a:extLst>
              </a:tr>
              <a:tr h="370840">
                <a:tc>
                  <a:txBody>
                    <a:bodyPr/>
                    <a:lstStyle/>
                    <a:p>
                      <a:r>
                        <a:rPr lang="en-US" dirty="0"/>
                        <a:t>align-items</a:t>
                      </a:r>
                    </a:p>
                  </a:txBody>
                  <a:tcPr/>
                </a:tc>
                <a:tc>
                  <a:txBody>
                    <a:bodyPr/>
                    <a:lstStyle/>
                    <a:p>
                      <a:pPr lvl="0">
                        <a:buNone/>
                      </a:pPr>
                      <a:r>
                        <a:rPr lang="en-US" dirty="0"/>
                        <a:t>Align items vertically.</a:t>
                      </a:r>
                    </a:p>
                  </a:txBody>
                  <a:tcPr/>
                </a:tc>
                <a:extLst>
                  <a:ext uri="{0D108BD9-81ED-4DB2-BD59-A6C34878D82A}">
                    <a16:rowId xmlns:a16="http://schemas.microsoft.com/office/drawing/2014/main" val="3095820679"/>
                  </a:ext>
                </a:extLst>
              </a:tr>
              <a:tr h="370839">
                <a:tc>
                  <a:txBody>
                    <a:bodyPr/>
                    <a:lstStyle/>
                    <a:p>
                      <a:pPr lvl="0">
                        <a:buNone/>
                      </a:pPr>
                      <a:r>
                        <a:rPr lang="en-US" dirty="0"/>
                        <a:t>flex-wrap</a:t>
                      </a:r>
                    </a:p>
                  </a:txBody>
                  <a:tcPr/>
                </a:tc>
                <a:tc>
                  <a:txBody>
                    <a:bodyPr/>
                    <a:lstStyle/>
                    <a:p>
                      <a:pPr lvl="0">
                        <a:buNone/>
                      </a:pPr>
                      <a:r>
                        <a:rPr lang="en-US" dirty="0"/>
                        <a:t>Controls whether items wrap to a new row if needed.</a:t>
                      </a:r>
                    </a:p>
                  </a:txBody>
                  <a:tcPr/>
                </a:tc>
                <a:extLst>
                  <a:ext uri="{0D108BD9-81ED-4DB2-BD59-A6C34878D82A}">
                    <a16:rowId xmlns:a16="http://schemas.microsoft.com/office/drawing/2014/main" val="910275672"/>
                  </a:ext>
                </a:extLst>
              </a:tr>
              <a:tr h="370838">
                <a:tc>
                  <a:txBody>
                    <a:bodyPr/>
                    <a:lstStyle/>
                    <a:p>
                      <a:pPr lvl="0">
                        <a:buNone/>
                      </a:pPr>
                      <a:r>
                        <a:rPr lang="en-US" dirty="0"/>
                        <a:t>align-self</a:t>
                      </a:r>
                    </a:p>
                  </a:txBody>
                  <a:tcPr/>
                </a:tc>
                <a:tc>
                  <a:txBody>
                    <a:bodyPr/>
                    <a:lstStyle/>
                    <a:p>
                      <a:pPr lvl="0">
                        <a:buNone/>
                      </a:pPr>
                      <a:r>
                        <a:rPr lang="en-US" dirty="0"/>
                        <a:t>Aligns an individual item inside a flex container.</a:t>
                      </a:r>
                    </a:p>
                  </a:txBody>
                  <a:tcPr/>
                </a:tc>
                <a:extLst>
                  <a:ext uri="{0D108BD9-81ED-4DB2-BD59-A6C34878D82A}">
                    <a16:rowId xmlns:a16="http://schemas.microsoft.com/office/drawing/2014/main" val="4081346982"/>
                  </a:ext>
                </a:extLst>
              </a:tr>
              <a:tr h="370838">
                <a:tc>
                  <a:txBody>
                    <a:bodyPr/>
                    <a:lstStyle/>
                    <a:p>
                      <a:pPr lvl="0">
                        <a:buNone/>
                      </a:pPr>
                      <a:r>
                        <a:rPr lang="en-US" dirty="0"/>
                        <a:t>Order</a:t>
                      </a:r>
                    </a:p>
                  </a:txBody>
                  <a:tcPr/>
                </a:tc>
                <a:tc>
                  <a:txBody>
                    <a:bodyPr/>
                    <a:lstStyle/>
                    <a:p>
                      <a:pPr lvl="0">
                        <a:buNone/>
                      </a:pPr>
                      <a:r>
                        <a:rPr lang="en-US" dirty="0"/>
                        <a:t>Changes the order of items.</a:t>
                      </a:r>
                    </a:p>
                  </a:txBody>
                  <a:tcPr/>
                </a:tc>
                <a:extLst>
                  <a:ext uri="{0D108BD9-81ED-4DB2-BD59-A6C34878D82A}">
                    <a16:rowId xmlns:a16="http://schemas.microsoft.com/office/drawing/2014/main" val="295505143"/>
                  </a:ext>
                </a:extLst>
              </a:tr>
            </a:tbl>
          </a:graphicData>
        </a:graphic>
      </p:graphicFrame>
    </p:spTree>
    <p:extLst>
      <p:ext uri="{BB962C8B-B14F-4D97-AF65-F5344CB8AC3E}">
        <p14:creationId xmlns:p14="http://schemas.microsoft.com/office/powerpoint/2010/main" val="74563031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73600" y="3113346"/>
            <a:ext cx="13804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rgbClr val="000000"/>
                </a:solidFill>
                <a:latin typeface="Verdana"/>
                <a:ea typeface="Microsoft YaHei"/>
                <a:cs typeface="Arial"/>
              </a:rPr>
              <a:t>CSS flex pr</a:t>
            </a:r>
            <a:r>
              <a:rPr lang="en-US" altLang="en-US" sz="2000" b="1" noProof="1">
                <a:solidFill>
                  <a:srgbClr val="000000"/>
                </a:solidFill>
                <a:latin typeface="Verdana"/>
                <a:ea typeface="Microsoft YaHei"/>
                <a:cs typeface="Arial"/>
              </a:rPr>
              <a:t>operty</a:t>
            </a:r>
            <a:endParaRPr lang="en-US" altLang="en-US" sz="2000" noProof="1">
              <a:solidFill>
                <a:srgbClr val="000000"/>
              </a:solidFill>
              <a:latin typeface="Microsoft YaHei"/>
              <a:ea typeface="Microsoft YaHei"/>
              <a:cs typeface="Arial"/>
            </a:endParaRPr>
          </a:p>
          <a:p>
            <a:pPr marL="2202180" indent="-342900">
              <a:spcBef>
                <a:spcPts val="550"/>
              </a:spcBef>
              <a:buFont typeface="Arial" panose="02020603050405020304" pitchFamily="18" charset="0"/>
              <a:buChar char="•"/>
            </a:pPr>
            <a:r>
              <a:rPr lang="en-US" noProof="1">
                <a:solidFill>
                  <a:schemeClr val="tx1"/>
                </a:solidFill>
                <a:latin typeface="Verdana"/>
                <a:ea typeface="Verdana"/>
                <a:cs typeface="Arial"/>
              </a:rPr>
              <a:t>The flex css property is the combination of flex-grow, flex-shrink, flex-basis property.</a:t>
            </a:r>
          </a:p>
          <a:p>
            <a:pPr marL="2202180" indent="-342900">
              <a:spcBef>
                <a:spcPts val="550"/>
              </a:spcBef>
              <a:buFont typeface="Arial" panose="02020603050405020304" pitchFamily="18" charset="0"/>
              <a:buChar char="•"/>
            </a:pPr>
            <a:r>
              <a:rPr lang="en-US" noProof="1">
                <a:solidFill>
                  <a:schemeClr val="tx1"/>
                </a:solidFill>
                <a:latin typeface="Verdana"/>
                <a:ea typeface="Verdana"/>
                <a:cs typeface="Arial"/>
              </a:rPr>
              <a:t>It is used to set the length of flexible items.</a:t>
            </a:r>
          </a:p>
          <a:p>
            <a:pPr marL="2202180" indent="-342900">
              <a:spcBef>
                <a:spcPts val="550"/>
              </a:spcBef>
              <a:buFont typeface="Arial" panose="02020603050405020304" pitchFamily="18" charset="0"/>
              <a:buChar char="•"/>
            </a:pPr>
            <a:r>
              <a:rPr lang="en-US" noProof="1">
                <a:solidFill>
                  <a:schemeClr val="tx1"/>
                </a:solidFill>
                <a:latin typeface="Verdana"/>
                <a:ea typeface="Verdana"/>
                <a:cs typeface="Arial"/>
              </a:rPr>
              <a:t>The flex property is much responsive and mobile friendly. It is easy to position child elements and container.</a:t>
            </a:r>
          </a:p>
          <a:p>
            <a:pPr marL="2202180" indent="-342900">
              <a:spcBef>
                <a:spcPts val="550"/>
              </a:spcBef>
              <a:buFont typeface="Arial" panose="02020603050405020304" pitchFamily="18" charset="0"/>
              <a:buChar char="•"/>
            </a:pPr>
            <a:r>
              <a:rPr lang="en-US" dirty="0">
                <a:solidFill>
                  <a:schemeClr val="tx1"/>
                </a:solidFill>
                <a:latin typeface="Verdana"/>
                <a:ea typeface="Microsoft YaHei"/>
                <a:cs typeface="Arial"/>
              </a:rPr>
              <a:t>The order of any element can be easily changed without editing the HTML section.</a:t>
            </a:r>
            <a:endParaRPr lang="en-US">
              <a:solidFill>
                <a:schemeClr val="tx1"/>
              </a:solidFill>
              <a:latin typeface="Verdana"/>
            </a:endParaRPr>
          </a:p>
          <a:p>
            <a:pPr marL="1859280" indent="0">
              <a:spcBef>
                <a:spcPts val="550"/>
              </a:spcBef>
            </a:pPr>
            <a:r>
              <a:rPr lang="en-US" sz="2000" b="1" noProof="1">
                <a:solidFill>
                  <a:schemeClr val="tx1"/>
                </a:solidFill>
                <a:latin typeface="Verdana"/>
                <a:ea typeface="Verdana"/>
                <a:cs typeface="Arial"/>
              </a:rPr>
              <a:t>Sy</a:t>
            </a:r>
            <a:r>
              <a:rPr lang="en-US" sz="2400" b="1" noProof="1">
                <a:solidFill>
                  <a:schemeClr val="tx1"/>
                </a:solidFill>
                <a:latin typeface="Verdana"/>
                <a:ea typeface="Verdana"/>
                <a:cs typeface="Arial"/>
              </a:rPr>
              <a:t>ntax : </a:t>
            </a:r>
            <a:r>
              <a:rPr lang="en-US" sz="2400" noProof="1">
                <a:solidFill>
                  <a:schemeClr val="tx1"/>
                </a:solidFill>
                <a:latin typeface="Verdana"/>
                <a:ea typeface="Verdana"/>
                <a:cs typeface="Arial"/>
              </a:rPr>
              <a:t>flex: flex-grow flex-shrink flex-basis | auto | initial | inherit</a:t>
            </a:r>
          </a:p>
          <a:p>
            <a:pPr indent="-537845"/>
            <a:r>
              <a:rPr lang="en-US" sz="2000" b="1" noProof="1">
                <a:solidFill>
                  <a:schemeClr val="tx1"/>
                </a:solidFill>
                <a:latin typeface="Verdana"/>
                <a:ea typeface="Verdana"/>
                <a:cs typeface="Arial"/>
              </a:rPr>
              <a:t>Flex-grow property</a:t>
            </a:r>
            <a:endParaRPr lang="en-US" sz="2000" dirty="0">
              <a:solidFill>
                <a:schemeClr val="tx1"/>
              </a:solidFill>
            </a:endParaRPr>
          </a:p>
          <a:p>
            <a:pPr indent="-537845">
              <a:buFont typeface="Arial" panose="02020603050405020304" pitchFamily="18" charset="0"/>
              <a:buChar char="•"/>
            </a:pPr>
            <a:r>
              <a:rPr lang="en-US" noProof="1">
                <a:solidFill>
                  <a:schemeClr val="tx1"/>
                </a:solidFill>
                <a:latin typeface="Verdana"/>
                <a:ea typeface="Verdana"/>
                <a:cs typeface="Arial"/>
              </a:rPr>
              <a:t>A Number that specifies, how much items will grow relative to the rest of the flexible items.</a:t>
            </a:r>
          </a:p>
          <a:p>
            <a:pPr indent="-537845"/>
            <a:r>
              <a:rPr lang="en-US" sz="2000" b="1" noProof="1">
                <a:solidFill>
                  <a:schemeClr val="tx1"/>
                </a:solidFill>
                <a:latin typeface="Verdana"/>
                <a:ea typeface="Verdana"/>
                <a:cs typeface="Arial"/>
              </a:rPr>
              <a:t>Flex-shrink property</a:t>
            </a:r>
            <a:endParaRPr lang="en-US" sz="2000" noProof="1">
              <a:solidFill>
                <a:schemeClr val="tx1"/>
              </a:solidFill>
              <a:latin typeface="Verdana"/>
              <a:ea typeface="Verdana"/>
              <a:cs typeface="Arial"/>
            </a:endParaRPr>
          </a:p>
          <a:p>
            <a:pPr indent="-537845">
              <a:buFont typeface="Arial,Sans-Serif" panose="02020603050405020304" pitchFamily="18" charset="0"/>
              <a:buChar char="•"/>
            </a:pPr>
            <a:r>
              <a:rPr lang="en-US" noProof="1">
                <a:solidFill>
                  <a:schemeClr val="tx1"/>
                </a:solidFill>
                <a:latin typeface="Verdana"/>
                <a:ea typeface="Verdana"/>
                <a:cs typeface="Arial"/>
              </a:rPr>
              <a:t>A Number that specifies, how much items will shrink relative to the rest of the flexible items.</a:t>
            </a:r>
          </a:p>
          <a:p>
            <a:pPr indent="-537845"/>
            <a:r>
              <a:rPr lang="en-US" sz="2000" b="1" noProof="1">
                <a:solidFill>
                  <a:schemeClr val="tx1"/>
                </a:solidFill>
                <a:latin typeface="Verdana"/>
                <a:ea typeface="Verdana"/>
                <a:cs typeface="Arial"/>
              </a:rPr>
              <a:t>Flex-basis property</a:t>
            </a:r>
            <a:endParaRPr lang="en-US" sz="2000" noProof="1">
              <a:solidFill>
                <a:schemeClr val="tx1"/>
              </a:solidFill>
              <a:latin typeface="Verdana"/>
              <a:ea typeface="Verdana"/>
              <a:cs typeface="Arial"/>
            </a:endParaRPr>
          </a:p>
          <a:p>
            <a:pPr indent="-537845">
              <a:buFont typeface="Arial" panose="02020603050405020304" pitchFamily="18" charset="0"/>
              <a:buChar char="•"/>
            </a:pPr>
            <a:r>
              <a:rPr lang="en-US" noProof="1">
                <a:solidFill>
                  <a:schemeClr val="tx1"/>
                </a:solidFill>
                <a:latin typeface="Verdana"/>
                <a:ea typeface="Verdana"/>
                <a:cs typeface="Arial"/>
              </a:rPr>
              <a:t>It Sets the length of items.</a:t>
            </a:r>
            <a:endParaRPr lang="en-US" sz="2000" b="1" noProof="1">
              <a:solidFill>
                <a:schemeClr val="tx1"/>
              </a:solidFill>
              <a:latin typeface="Verdana"/>
              <a:ea typeface="Verdana"/>
              <a:cs typeface="Arial"/>
            </a:endParaRPr>
          </a:p>
          <a:p>
            <a:pPr indent="-537845">
              <a:buFont typeface="Arial" panose="02020603050405020304" pitchFamily="18" charset="0"/>
              <a:buChar char="•"/>
            </a:pPr>
            <a:r>
              <a:rPr lang="en-US" noProof="1">
                <a:solidFill>
                  <a:schemeClr val="tx1"/>
                </a:solidFill>
                <a:latin typeface="Verdana"/>
                <a:ea typeface="Verdana"/>
                <a:cs typeface="Arial"/>
              </a:rPr>
              <a:t>Legal Values are : auto, inherit, or a number followed by %, em, px, or any other length unit.</a:t>
            </a:r>
          </a:p>
          <a:p>
            <a:pPr marL="1859280" indent="0"/>
            <a:r>
              <a:rPr lang="en-US" sz="2000" b="1" noProof="1">
                <a:solidFill>
                  <a:schemeClr val="tx1"/>
                </a:solidFill>
                <a:latin typeface="Verdana"/>
                <a:ea typeface="Verdana"/>
                <a:cs typeface="Arial"/>
              </a:rPr>
              <a:t>Flex-wrap property</a:t>
            </a:r>
          </a:p>
          <a:p>
            <a:pPr marL="2202180" indent="-342900">
              <a:buFont typeface="Arial" panose="02020603050405020304" pitchFamily="18" charset="0"/>
              <a:buChar char="•"/>
            </a:pPr>
            <a:r>
              <a:rPr lang="en-US" sz="2000" noProof="1">
                <a:solidFill>
                  <a:schemeClr val="tx1"/>
                </a:solidFill>
                <a:latin typeface="Verdana"/>
                <a:ea typeface="Verdana"/>
                <a:cs typeface="Arial"/>
              </a:rPr>
              <a:t>The css flex-wrap property is used to specify whether flex items are forced into a single line or wrapped into multiple lines.</a:t>
            </a:r>
          </a:p>
          <a:p>
            <a:pPr marL="2202180" indent="-342900">
              <a:buFont typeface="Arial" panose="02020603050405020304" pitchFamily="18" charset="0"/>
              <a:buChar char="•"/>
            </a:pPr>
            <a:r>
              <a:rPr lang="en-US" sz="2000" noProof="1">
                <a:solidFill>
                  <a:schemeClr val="tx1"/>
                </a:solidFill>
                <a:latin typeface="Verdana"/>
                <a:ea typeface="Verdana"/>
                <a:cs typeface="Arial"/>
              </a:rPr>
              <a:t>Flex-wrap property can be specified with the help of 1,2 or 3 values.</a:t>
            </a:r>
          </a:p>
          <a:p>
            <a:pPr marL="1859280" indent="0"/>
            <a:endParaRPr lang="en-US" noProof="1">
              <a:solidFill>
                <a:schemeClr val="tx1"/>
              </a:solidFill>
              <a:latin typeface="Verdana"/>
              <a:ea typeface="Verdana"/>
              <a:cs typeface="Arial"/>
            </a:endParaRPr>
          </a:p>
          <a:p>
            <a:pPr indent="-537845">
              <a:buFont typeface="Arial" panose="02020603050405020304" pitchFamily="18" charset="0"/>
              <a:buChar char="•"/>
            </a:pPr>
            <a:endParaRPr lang="en-US" sz="2400" b="1" noProof="1">
              <a:solidFill>
                <a:schemeClr val="tx1"/>
              </a:solidFill>
              <a:latin typeface="Verdana"/>
              <a:ea typeface="Verdana"/>
              <a:cs typeface="Arial"/>
            </a:endParaRPr>
          </a:p>
          <a:p>
            <a:pPr marL="1859280" indent="0">
              <a:buFont typeface="Arial" panose="02020603050405020304" pitchFamily="18" charset="0"/>
            </a:pPr>
            <a:endParaRPr lang="en-US" noProof="1">
              <a:solidFill>
                <a:schemeClr val="tx1"/>
              </a:solidFill>
              <a:latin typeface="Verdana"/>
              <a:ea typeface="Verdana"/>
              <a:cs typeface="Arial"/>
            </a:endParaRPr>
          </a:p>
          <a:p>
            <a:pPr marL="1859280" indent="0"/>
            <a:endParaRPr lang="en-US" noProof="1">
              <a:solidFill>
                <a:schemeClr val="tx1"/>
              </a:solidFill>
              <a:latin typeface="Verdana"/>
              <a:ea typeface="Verdana"/>
              <a:cs typeface="Arial"/>
            </a:endParaRPr>
          </a:p>
          <a:p>
            <a:pPr marL="1859280" indent="0">
              <a:spcBef>
                <a:spcPts val="550"/>
              </a:spcBef>
            </a:pPr>
            <a:endParaRPr lang="en-US" sz="2400" b="1" noProof="1">
              <a:solidFill>
                <a:schemeClr val="tx1"/>
              </a:solidFill>
              <a:latin typeface="Verdana"/>
              <a:ea typeface="Verdana"/>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92378600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453548" y="2682215"/>
            <a:ext cx="13804008" cy="24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pPr>
            <a:r>
              <a:rPr lang="en-US" sz="2400" b="1" noProof="1">
                <a:solidFill>
                  <a:schemeClr val="tx1"/>
                </a:solidFill>
                <a:latin typeface="Verdana"/>
                <a:ea typeface="Verdana"/>
                <a:cs typeface="Arial"/>
              </a:rPr>
              <a:t>CSS flex pr</a:t>
            </a:r>
            <a:r>
              <a:rPr lang="en-US" sz="2000" b="1" noProof="1">
                <a:solidFill>
                  <a:schemeClr val="tx1"/>
                </a:solidFill>
                <a:latin typeface="Verdana"/>
                <a:ea typeface="Verdana"/>
                <a:cs typeface="Arial"/>
              </a:rPr>
              <a:t>operty</a:t>
            </a:r>
            <a:endParaRPr lang="en-US" dirty="0">
              <a:solidFill>
                <a:schemeClr val="tx1"/>
              </a:solidFill>
            </a:endParaRPr>
          </a:p>
          <a:p>
            <a:pPr marL="1859280" indent="0">
              <a:spcBef>
                <a:spcPts val="550"/>
              </a:spcBef>
            </a:pPr>
            <a:endParaRPr lang="en-US" sz="2000" b="1" noProof="1">
              <a:solidFill>
                <a:schemeClr val="tx1"/>
              </a:solidFill>
              <a:latin typeface="Verdana"/>
              <a:ea typeface="Verdana"/>
              <a:cs typeface="Arial"/>
            </a:endParaRPr>
          </a:p>
          <a:p>
            <a:pPr marL="1859280" indent="0">
              <a:spcBef>
                <a:spcPts val="550"/>
              </a:spcBef>
            </a:pPr>
            <a:endParaRPr lang="en-US" sz="2000" b="1" noProof="1">
              <a:solidFill>
                <a:schemeClr val="tx1"/>
              </a:solidFill>
              <a:latin typeface="Verdana"/>
              <a:ea typeface="Verdana"/>
              <a:cs typeface="Arial"/>
            </a:endParaRPr>
          </a:p>
          <a:p>
            <a:pPr marL="1859280" indent="0">
              <a:spcBef>
                <a:spcPts val="550"/>
              </a:spcBef>
              <a:buClrTx/>
            </a:pPr>
            <a:r>
              <a:rPr lang="en-US" sz="2000" b="1" noProof="1">
                <a:solidFill>
                  <a:schemeClr val="tx1"/>
                </a:solidFill>
                <a:latin typeface="Verdana"/>
                <a:ea typeface="Verdana"/>
                <a:cs typeface="Arial"/>
              </a:rPr>
              <a:t>One-value syntax</a:t>
            </a:r>
            <a:endParaRPr lang="en-US" sz="2000" dirty="0">
              <a:solidFill>
                <a:schemeClr val="tx1"/>
              </a:solidFill>
              <a:cs typeface="Arial"/>
            </a:endParaRPr>
          </a:p>
          <a:p>
            <a:pPr indent="-537845">
              <a:buFont typeface="Arial" panose="02020603050405020304" pitchFamily="18" charset="0"/>
              <a:buChar char="•"/>
            </a:pPr>
            <a:r>
              <a:rPr lang="en-US" noProof="1">
                <a:solidFill>
                  <a:schemeClr val="tx1"/>
                </a:solidFill>
                <a:latin typeface="Verdana"/>
                <a:ea typeface="Verdana"/>
                <a:cs typeface="Arial"/>
              </a:rPr>
              <a:t>If one value, unitless number then it is flex-grow. Example -&gt; flex: 2;</a:t>
            </a:r>
          </a:p>
          <a:p>
            <a:pPr indent="-537845">
              <a:buFont typeface="Arial" panose="02020603050405020304" pitchFamily="18" charset="0"/>
              <a:buChar char="•"/>
            </a:pPr>
            <a:r>
              <a:rPr lang="en-US" noProof="1">
                <a:solidFill>
                  <a:schemeClr val="tx1"/>
                </a:solidFill>
                <a:latin typeface="Verdana"/>
                <a:ea typeface="Verdana"/>
                <a:cs typeface="Arial"/>
              </a:rPr>
              <a:t>If one value, width/height then it is flex-basis. Example -&gt; flex: 30%;</a:t>
            </a:r>
          </a:p>
          <a:p>
            <a:pPr indent="-537845"/>
            <a:r>
              <a:rPr lang="en-US" sz="2000" b="1" noProof="1">
                <a:solidFill>
                  <a:schemeClr val="tx1"/>
                </a:solidFill>
                <a:latin typeface="Verdana"/>
                <a:ea typeface="Verdana"/>
                <a:cs typeface="Arial"/>
              </a:rPr>
              <a:t>Two-value syntax</a:t>
            </a:r>
            <a:endParaRPr lang="en-US" dirty="0">
              <a:solidFill>
                <a:schemeClr val="tx1"/>
              </a:solidFill>
            </a:endParaRPr>
          </a:p>
          <a:p>
            <a:pPr indent="-537845">
              <a:buFont typeface="Arial,Sans-Serif" panose="02020603050405020304" pitchFamily="18" charset="0"/>
              <a:buChar char="•"/>
            </a:pPr>
            <a:r>
              <a:rPr lang="en-US" noProof="1">
                <a:solidFill>
                  <a:schemeClr val="tx1"/>
                </a:solidFill>
                <a:latin typeface="Verdana"/>
                <a:ea typeface="Verdana"/>
                <a:cs typeface="Arial"/>
              </a:rPr>
              <a:t>If two values, with two numbers then it is flex-grow and flex-shrink. Example -&gt; flex: 2 2;</a:t>
            </a:r>
          </a:p>
          <a:p>
            <a:pPr indent="-537845">
              <a:buFont typeface="Arial,Sans-Serif" panose="02020603050405020304" pitchFamily="18" charset="0"/>
              <a:buChar char="•"/>
            </a:pPr>
            <a:r>
              <a:rPr lang="en-US" noProof="1">
                <a:solidFill>
                  <a:schemeClr val="tx1"/>
                </a:solidFill>
                <a:latin typeface="Verdana"/>
                <a:ea typeface="Verdana"/>
                <a:cs typeface="Arial"/>
              </a:rPr>
              <a:t>If two values, with one number and one width/height then it is flex-grow and flex-basis. </a:t>
            </a:r>
            <a:endParaRPr lang="en-US" dirty="0">
              <a:solidFill>
                <a:schemeClr val="tx1"/>
              </a:solidFill>
              <a:cs typeface="Arial" panose="020B0604020202020204" pitchFamily="34" charset="0"/>
            </a:endParaRPr>
          </a:p>
          <a:p>
            <a:pPr marL="1859280" indent="0"/>
            <a:r>
              <a:rPr lang="en-US" noProof="1">
                <a:solidFill>
                  <a:schemeClr val="tx1"/>
                </a:solidFill>
                <a:latin typeface="Verdana"/>
                <a:ea typeface="Verdana"/>
                <a:cs typeface="Arial"/>
              </a:rPr>
              <a:t>      Example -&gt; flex: 2 20px;</a:t>
            </a:r>
            <a:endParaRPr lang="en-US" dirty="0">
              <a:solidFill>
                <a:schemeClr val="tx1"/>
              </a:solidFill>
              <a:cs typeface="Arial"/>
            </a:endParaRPr>
          </a:p>
          <a:p>
            <a:pPr indent="-537845"/>
            <a:r>
              <a:rPr lang="en-US" sz="2000" b="1" noProof="1">
                <a:solidFill>
                  <a:schemeClr val="tx1"/>
                </a:solidFill>
                <a:latin typeface="Verdana"/>
                <a:ea typeface="Verdana"/>
                <a:cs typeface="Arial"/>
              </a:rPr>
              <a:t>Three-value syntax</a:t>
            </a:r>
            <a:endParaRPr lang="en-US" sz="2000" noProof="1">
              <a:solidFill>
                <a:schemeClr val="tx1"/>
              </a:solidFill>
              <a:latin typeface="Verdana"/>
              <a:ea typeface="Verdana"/>
              <a:cs typeface="Arial"/>
            </a:endParaRPr>
          </a:p>
          <a:p>
            <a:pPr indent="-537845">
              <a:buFont typeface="Arial" panose="02020603050405020304" pitchFamily="18" charset="0"/>
              <a:buChar char="•"/>
            </a:pPr>
            <a:r>
              <a:rPr lang="en-US" noProof="1">
                <a:solidFill>
                  <a:schemeClr val="tx1"/>
                </a:solidFill>
                <a:latin typeface="Verdana"/>
                <a:ea typeface="Verdana"/>
                <a:cs typeface="Arial"/>
              </a:rPr>
              <a:t>If three values, then it is flex-grow | flex-shrink | flex-basis. Example -&gt; flex: 2, 1, 30px;</a:t>
            </a:r>
            <a:endParaRPr lang="en-US" sz="2000" b="1" noProof="1">
              <a:solidFill>
                <a:schemeClr val="tx1"/>
              </a:solidFill>
              <a:latin typeface="Verdana"/>
              <a:ea typeface="Verdana"/>
              <a:cs typeface="Arial"/>
            </a:endParaRPr>
          </a:p>
          <a:p>
            <a:pPr marL="1859280" indent="0"/>
            <a:endParaRPr lang="en-US" noProof="1">
              <a:solidFill>
                <a:schemeClr val="tx1"/>
              </a:solidFill>
              <a:latin typeface="Verdana"/>
              <a:ea typeface="Verdana"/>
              <a:cs typeface="Arial"/>
            </a:endParaRPr>
          </a:p>
          <a:p>
            <a:pPr indent="-537845">
              <a:buFont typeface="Arial" panose="02020603050405020304" pitchFamily="18" charset="0"/>
              <a:buChar char="•"/>
            </a:pPr>
            <a:endParaRPr lang="en-US" sz="2400" b="1" noProof="1">
              <a:solidFill>
                <a:schemeClr val="tx1"/>
              </a:solidFill>
              <a:latin typeface="Verdana"/>
              <a:ea typeface="Verdana"/>
              <a:cs typeface="Arial"/>
            </a:endParaRPr>
          </a:p>
          <a:p>
            <a:pPr marL="1859280" indent="0"/>
            <a:endParaRPr lang="en-US" noProof="1">
              <a:solidFill>
                <a:schemeClr val="tx1"/>
              </a:solidFill>
              <a:latin typeface="Verdana"/>
              <a:ea typeface="Verdana"/>
              <a:cs typeface="Arial"/>
            </a:endParaRPr>
          </a:p>
          <a:p>
            <a:pPr marL="1859280" indent="0"/>
            <a:endParaRPr lang="en-US" noProof="1">
              <a:solidFill>
                <a:schemeClr val="tx1"/>
              </a:solidFill>
              <a:latin typeface="Verdana"/>
              <a:ea typeface="Verdana"/>
              <a:cs typeface="Arial"/>
            </a:endParaRPr>
          </a:p>
          <a:p>
            <a:pPr marL="1859280" indent="0">
              <a:spcBef>
                <a:spcPts val="550"/>
              </a:spcBef>
            </a:pPr>
            <a:endParaRPr lang="en-US" sz="2400" b="1" noProof="1">
              <a:solidFill>
                <a:schemeClr val="tx1"/>
              </a:solidFill>
              <a:latin typeface="Verdana"/>
              <a:ea typeface="Verdana"/>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Tree>
    <p:extLst>
      <p:ext uri="{BB962C8B-B14F-4D97-AF65-F5344CB8AC3E}">
        <p14:creationId xmlns:p14="http://schemas.microsoft.com/office/powerpoint/2010/main" val="3998621459"/>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449C1FC6-8498-C0A2-EE30-576EE46857DB}"/>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BA950085-011B-0755-EAD0-F03A21559E51}"/>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AE0093B8-22AC-B42E-1FE8-7CA36F995977}"/>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
        <p:nvSpPr>
          <p:cNvPr id="3" name="TextBox 2">
            <a:extLst>
              <a:ext uri="{FF2B5EF4-FFF2-40B4-BE49-F238E27FC236}">
                <a16:creationId xmlns:a16="http://schemas.microsoft.com/office/drawing/2014/main" id="{53FB4F9E-536C-FEF5-2643-0313592DF2E2}"/>
              </a:ext>
            </a:extLst>
          </p:cNvPr>
          <p:cNvSpPr txBox="1"/>
          <p:nvPr/>
        </p:nvSpPr>
        <p:spPr>
          <a:xfrm>
            <a:off x="466899" y="861738"/>
            <a:ext cx="11255338"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Media Queries (@media)</a:t>
            </a:r>
          </a:p>
          <a:p>
            <a:endParaRPr lang="en-US" sz="2400" b="1" dirty="0"/>
          </a:p>
          <a:p>
            <a:pPr marL="285750" indent="-285750">
              <a:buFont typeface="Arial"/>
              <a:buChar char="•"/>
            </a:pPr>
            <a:r>
              <a:rPr lang="en-US" dirty="0"/>
              <a:t>Media queries in CSS allow you to apply different styles based on the screen size, device type, or resolution.</a:t>
            </a:r>
          </a:p>
          <a:p>
            <a:pPr marL="285750" indent="-285750">
              <a:buFont typeface="Arial"/>
              <a:buChar char="•"/>
            </a:pPr>
            <a:endParaRPr lang="en-US" dirty="0"/>
          </a:p>
          <a:p>
            <a:pPr marL="285750" indent="-285750">
              <a:buFont typeface="Arial"/>
              <a:buChar char="•"/>
            </a:pPr>
            <a:r>
              <a:rPr lang="en-US" dirty="0"/>
              <a:t>This helps create responsive designs that adjust for desktops, tablets, and mobile phones.</a:t>
            </a:r>
          </a:p>
          <a:p>
            <a:endParaRPr lang="en-US" dirty="0"/>
          </a:p>
          <a:p>
            <a:endParaRPr lang="en-US" dirty="0"/>
          </a:p>
        </p:txBody>
      </p:sp>
      <p:sp>
        <p:nvSpPr>
          <p:cNvPr id="4" name="TextBox 3">
            <a:extLst>
              <a:ext uri="{FF2B5EF4-FFF2-40B4-BE49-F238E27FC236}">
                <a16:creationId xmlns:a16="http://schemas.microsoft.com/office/drawing/2014/main" id="{527F21DD-65F3-2090-CEDE-F07ED3C2EF8D}"/>
              </a:ext>
            </a:extLst>
          </p:cNvPr>
          <p:cNvSpPr txBox="1"/>
          <p:nvPr/>
        </p:nvSpPr>
        <p:spPr>
          <a:xfrm>
            <a:off x="468893" y="3077006"/>
            <a:ext cx="341211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a:cs typeface="Segoe UI"/>
              </a:rPr>
              <a:t>Basic Syntax</a:t>
            </a:r>
            <a:endParaRPr lang="en-US" dirty="0">
              <a:latin typeface="Segoe UI"/>
              <a:cs typeface="Segoe UI"/>
            </a:endParaRPr>
          </a:p>
          <a:p>
            <a:endParaRPr lang="en-US" dirty="0">
              <a:latin typeface="Segoe UI"/>
              <a:cs typeface="Segoe UI"/>
            </a:endParaRPr>
          </a:p>
          <a:p>
            <a:r>
              <a:rPr lang="en-US">
                <a:latin typeface="Segoe UI"/>
                <a:cs typeface="Segoe UI"/>
              </a:rPr>
              <a:t>@media (condition)</a:t>
            </a:r>
            <a:endParaRPr lang="en-US" dirty="0">
              <a:latin typeface="Segoe UI"/>
              <a:cs typeface="Segoe UI"/>
            </a:endParaRPr>
          </a:p>
          <a:p>
            <a:r>
              <a:rPr lang="en-US">
                <a:latin typeface="Segoe UI"/>
                <a:cs typeface="Segoe UI"/>
              </a:rPr>
              <a:t>{</a:t>
            </a:r>
            <a:endParaRPr lang="en-US" dirty="0">
              <a:latin typeface="Segoe UI"/>
              <a:cs typeface="Segoe UI"/>
            </a:endParaRPr>
          </a:p>
          <a:p>
            <a:r>
              <a:rPr lang="en-US">
                <a:latin typeface="Segoe UI"/>
                <a:cs typeface="Segoe UI"/>
              </a:rPr>
              <a:t> /* CSS rules*/</a:t>
            </a:r>
            <a:endParaRPr lang="en-US" dirty="0">
              <a:latin typeface="Segoe UI"/>
              <a:cs typeface="Segoe UI"/>
            </a:endParaRPr>
          </a:p>
          <a:p>
            <a:r>
              <a:rPr lang="en-US" dirty="0">
                <a:latin typeface="Segoe UI"/>
                <a:cs typeface="Segoe UI"/>
              </a:rPr>
              <a:t>}</a:t>
            </a:r>
            <a:endParaRPr lang="en-US" dirty="0"/>
          </a:p>
        </p:txBody>
      </p:sp>
      <p:sp>
        <p:nvSpPr>
          <p:cNvPr id="5" name="TextBox 4">
            <a:extLst>
              <a:ext uri="{FF2B5EF4-FFF2-40B4-BE49-F238E27FC236}">
                <a16:creationId xmlns:a16="http://schemas.microsoft.com/office/drawing/2014/main" id="{7EECA479-1BA1-71CD-BCB1-30C6ABE8BBCA}"/>
              </a:ext>
            </a:extLst>
          </p:cNvPr>
          <p:cNvSpPr txBox="1"/>
          <p:nvPr/>
        </p:nvSpPr>
        <p:spPr>
          <a:xfrm>
            <a:off x="5369138" y="3077005"/>
            <a:ext cx="635460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a:cs typeface="Segoe UI"/>
              </a:rPr>
              <a:t>Example</a:t>
            </a:r>
          </a:p>
          <a:p>
            <a:endParaRPr lang="en-US" dirty="0">
              <a:latin typeface="Segoe UI"/>
              <a:cs typeface="Segoe UI"/>
            </a:endParaRPr>
          </a:p>
          <a:p>
            <a:r>
              <a:rPr lang="en-US" dirty="0">
                <a:latin typeface="Segoe UI"/>
                <a:cs typeface="Segoe UI"/>
              </a:rPr>
              <a:t>@media (max-width: 600px)</a:t>
            </a:r>
          </a:p>
          <a:p>
            <a:r>
              <a:rPr lang="en-US" dirty="0">
                <a:latin typeface="Segoe UI"/>
                <a:cs typeface="Segoe UI"/>
              </a:rPr>
              <a:t>{</a:t>
            </a:r>
          </a:p>
          <a:p>
            <a:r>
              <a:rPr lang="en-US" dirty="0">
                <a:latin typeface="Segoe UI"/>
                <a:cs typeface="Segoe UI"/>
              </a:rPr>
              <a:t> body{</a:t>
            </a:r>
          </a:p>
          <a:p>
            <a:r>
              <a:rPr lang="en-US" dirty="0">
                <a:latin typeface="Segoe UI"/>
                <a:cs typeface="Segoe UI"/>
              </a:rPr>
              <a:t>  background-color: </a:t>
            </a:r>
            <a:r>
              <a:rPr lang="en-US" dirty="0" err="1">
                <a:latin typeface="Segoe UI"/>
                <a:cs typeface="Segoe UI"/>
              </a:rPr>
              <a:t>lightblue</a:t>
            </a:r>
            <a:r>
              <a:rPr lang="en-US" dirty="0">
                <a:latin typeface="Segoe UI"/>
                <a:cs typeface="Segoe UI"/>
              </a:rPr>
              <a:t>;</a:t>
            </a:r>
          </a:p>
          <a:p>
            <a:r>
              <a:rPr lang="en-US" dirty="0">
                <a:latin typeface="Segoe UI"/>
                <a:cs typeface="Segoe UI"/>
              </a:rPr>
              <a:t> }</a:t>
            </a:r>
          </a:p>
          <a:p>
            <a:r>
              <a:rPr lang="en-US" dirty="0">
                <a:latin typeface="Segoe UI"/>
                <a:cs typeface="Segoe UI"/>
              </a:rPr>
              <a:t>}</a:t>
            </a:r>
          </a:p>
          <a:p>
            <a:endParaRPr lang="en-US" dirty="0">
              <a:latin typeface="Segoe UI"/>
              <a:cs typeface="Segoe UI"/>
            </a:endParaRPr>
          </a:p>
          <a:p>
            <a:r>
              <a:rPr lang="en-US" b="1" dirty="0">
                <a:latin typeface="Segoe UI"/>
                <a:cs typeface="Segoe UI"/>
              </a:rPr>
              <a:t>Effect:</a:t>
            </a:r>
            <a:r>
              <a:rPr lang="en-US" dirty="0">
                <a:latin typeface="Segoe UI"/>
                <a:cs typeface="Segoe UI"/>
              </a:rPr>
              <a:t> Changes the background to light blue if the screen size width is </a:t>
            </a:r>
            <a:r>
              <a:rPr lang="en-US" b="1" dirty="0">
                <a:latin typeface="Segoe UI"/>
                <a:cs typeface="Segoe UI"/>
              </a:rPr>
              <a:t>600px</a:t>
            </a:r>
            <a:r>
              <a:rPr lang="en-US" dirty="0">
                <a:latin typeface="Segoe UI"/>
                <a:cs typeface="Segoe UI"/>
              </a:rPr>
              <a:t> or smaller.</a:t>
            </a:r>
          </a:p>
        </p:txBody>
      </p:sp>
    </p:spTree>
    <p:extLst>
      <p:ext uri="{BB962C8B-B14F-4D97-AF65-F5344CB8AC3E}">
        <p14:creationId xmlns:p14="http://schemas.microsoft.com/office/powerpoint/2010/main" val="2990223386"/>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32892D5F-6C97-2CF8-E789-1959FF23168C}"/>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E582AD18-8B0E-CF65-04B6-7DEC2284340A}"/>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F927E5C9-B471-8782-9B59-7692F2C4C32A}"/>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
        <p:nvSpPr>
          <p:cNvPr id="3" name="TextBox 2">
            <a:extLst>
              <a:ext uri="{FF2B5EF4-FFF2-40B4-BE49-F238E27FC236}">
                <a16:creationId xmlns:a16="http://schemas.microsoft.com/office/drawing/2014/main" id="{05AF5295-F99D-975D-F230-30A516CA94CB}"/>
              </a:ext>
            </a:extLst>
          </p:cNvPr>
          <p:cNvSpPr txBox="1"/>
          <p:nvPr/>
        </p:nvSpPr>
        <p:spPr>
          <a:xfrm>
            <a:off x="466899" y="861738"/>
            <a:ext cx="1125533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Common Media Query Conditions</a:t>
            </a:r>
          </a:p>
        </p:txBody>
      </p:sp>
      <p:graphicFrame>
        <p:nvGraphicFramePr>
          <p:cNvPr id="7" name="Table 3">
            <a:extLst>
              <a:ext uri="{FF2B5EF4-FFF2-40B4-BE49-F238E27FC236}">
                <a16:creationId xmlns:a16="http://schemas.microsoft.com/office/drawing/2014/main" id="{3D60CD56-C13E-010B-B72C-55F835566FD8}"/>
              </a:ext>
            </a:extLst>
          </p:cNvPr>
          <p:cNvGraphicFramePr>
            <a:graphicFrameLocks noGrp="1"/>
          </p:cNvGraphicFramePr>
          <p:nvPr>
            <p:extLst>
              <p:ext uri="{D42A27DB-BD31-4B8C-83A1-F6EECF244321}">
                <p14:modId xmlns:p14="http://schemas.microsoft.com/office/powerpoint/2010/main" val="4102301527"/>
              </p:ext>
            </p:extLst>
          </p:nvPr>
        </p:nvGraphicFramePr>
        <p:xfrm>
          <a:off x="1628663" y="1471582"/>
          <a:ext cx="9061403" cy="2822984"/>
        </p:xfrm>
        <a:graphic>
          <a:graphicData uri="http://schemas.openxmlformats.org/drawingml/2006/table">
            <a:tbl>
              <a:tblPr firstRow="1" bandRow="1">
                <a:tableStyleId>{5C22544A-7EE6-4342-B048-85BDC9FD1C3A}</a:tableStyleId>
              </a:tblPr>
              <a:tblGrid>
                <a:gridCol w="2641256">
                  <a:extLst>
                    <a:ext uri="{9D8B030D-6E8A-4147-A177-3AD203B41FA5}">
                      <a16:colId xmlns:a16="http://schemas.microsoft.com/office/drawing/2014/main" val="3232426388"/>
                    </a:ext>
                  </a:extLst>
                </a:gridCol>
                <a:gridCol w="6420147">
                  <a:extLst>
                    <a:ext uri="{9D8B030D-6E8A-4147-A177-3AD203B41FA5}">
                      <a16:colId xmlns:a16="http://schemas.microsoft.com/office/drawing/2014/main" val="4197912981"/>
                    </a:ext>
                  </a:extLst>
                </a:gridCol>
              </a:tblGrid>
              <a:tr h="430305">
                <a:tc>
                  <a:txBody>
                    <a:bodyPr/>
                    <a:lstStyle/>
                    <a:p>
                      <a:pPr algn="ctr"/>
                      <a:r>
                        <a:rPr lang="en-US" dirty="0"/>
                        <a:t>Condition</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max-width</a:t>
                      </a:r>
                    </a:p>
                  </a:txBody>
                  <a:tcPr/>
                </a:tc>
                <a:tc>
                  <a:txBody>
                    <a:bodyPr/>
                    <a:lstStyle/>
                    <a:p>
                      <a:r>
                        <a:rPr lang="en-US" dirty="0"/>
                        <a:t>Applies styles if the screen width is less than or equal to a value.</a:t>
                      </a:r>
                    </a:p>
                  </a:txBody>
                  <a:tcPr/>
                </a:tc>
                <a:extLst>
                  <a:ext uri="{0D108BD9-81ED-4DB2-BD59-A6C34878D82A}">
                    <a16:rowId xmlns:a16="http://schemas.microsoft.com/office/drawing/2014/main" val="1534733952"/>
                  </a:ext>
                </a:extLst>
              </a:tr>
              <a:tr h="370840">
                <a:tc>
                  <a:txBody>
                    <a:bodyPr/>
                    <a:lstStyle/>
                    <a:p>
                      <a:r>
                        <a:rPr lang="en-US" dirty="0"/>
                        <a:t>min-width</a:t>
                      </a:r>
                    </a:p>
                  </a:txBody>
                  <a:tcPr/>
                </a:tc>
                <a:tc>
                  <a:txBody>
                    <a:bodyPr/>
                    <a:lstStyle/>
                    <a:p>
                      <a:pPr lvl="0">
                        <a:buNone/>
                      </a:pPr>
                      <a:r>
                        <a:rPr lang="en-US" dirty="0"/>
                        <a:t>Applies styles if the screen width is greater than or equal to a value.</a:t>
                      </a:r>
                    </a:p>
                  </a:txBody>
                  <a:tcPr/>
                </a:tc>
                <a:extLst>
                  <a:ext uri="{0D108BD9-81ED-4DB2-BD59-A6C34878D82A}">
                    <a16:rowId xmlns:a16="http://schemas.microsoft.com/office/drawing/2014/main" val="3671367115"/>
                  </a:ext>
                </a:extLst>
              </a:tr>
              <a:tr h="370840">
                <a:tc>
                  <a:txBody>
                    <a:bodyPr/>
                    <a:lstStyle/>
                    <a:p>
                      <a:r>
                        <a:rPr lang="en-US" dirty="0"/>
                        <a:t>min-height/max-height</a:t>
                      </a:r>
                    </a:p>
                  </a:txBody>
                  <a:tcPr/>
                </a:tc>
                <a:tc>
                  <a:txBody>
                    <a:bodyPr/>
                    <a:lstStyle/>
                    <a:p>
                      <a:pPr lvl="0">
                        <a:buNone/>
                      </a:pPr>
                      <a:r>
                        <a:rPr lang="en-US" dirty="0"/>
                        <a:t>Applies styles based on the screen height.</a:t>
                      </a:r>
                    </a:p>
                  </a:txBody>
                  <a:tcPr/>
                </a:tc>
                <a:extLst>
                  <a:ext uri="{0D108BD9-81ED-4DB2-BD59-A6C34878D82A}">
                    <a16:rowId xmlns:a16="http://schemas.microsoft.com/office/drawing/2014/main" val="3618890050"/>
                  </a:ext>
                </a:extLst>
              </a:tr>
              <a:tr h="370840">
                <a:tc>
                  <a:txBody>
                    <a:bodyPr/>
                    <a:lstStyle/>
                    <a:p>
                      <a:r>
                        <a:rPr lang="en-US" dirty="0"/>
                        <a:t>Orientation: portrait</a:t>
                      </a:r>
                    </a:p>
                  </a:txBody>
                  <a:tcPr/>
                </a:tc>
                <a:tc>
                  <a:txBody>
                    <a:bodyPr/>
                    <a:lstStyle/>
                    <a:p>
                      <a:pPr lvl="0">
                        <a:buNone/>
                      </a:pPr>
                      <a:r>
                        <a:rPr lang="en-US" dirty="0"/>
                        <a:t>Applies styles if the device is in portrait mode.</a:t>
                      </a:r>
                    </a:p>
                  </a:txBody>
                  <a:tcPr/>
                </a:tc>
                <a:extLst>
                  <a:ext uri="{0D108BD9-81ED-4DB2-BD59-A6C34878D82A}">
                    <a16:rowId xmlns:a16="http://schemas.microsoft.com/office/drawing/2014/main" val="3095820679"/>
                  </a:ext>
                </a:extLst>
              </a:tr>
              <a:tr h="370839">
                <a:tc>
                  <a:txBody>
                    <a:bodyPr/>
                    <a:lstStyle/>
                    <a:p>
                      <a:pPr lvl="0">
                        <a:buNone/>
                      </a:pPr>
                      <a:r>
                        <a:rPr lang="en-US" dirty="0"/>
                        <a:t>Orientation: landscape</a:t>
                      </a:r>
                    </a:p>
                  </a:txBody>
                  <a:tcPr/>
                </a:tc>
                <a:tc>
                  <a:txBody>
                    <a:bodyPr/>
                    <a:lstStyle/>
                    <a:p>
                      <a:pPr lvl="0">
                        <a:buNone/>
                      </a:pPr>
                      <a:r>
                        <a:rPr lang="en-US" dirty="0"/>
                        <a:t>Applies styles if the device is in landscape mode.</a:t>
                      </a:r>
                    </a:p>
                  </a:txBody>
                  <a:tcPr/>
                </a:tc>
                <a:extLst>
                  <a:ext uri="{0D108BD9-81ED-4DB2-BD59-A6C34878D82A}">
                    <a16:rowId xmlns:a16="http://schemas.microsoft.com/office/drawing/2014/main" val="910275672"/>
                  </a:ext>
                </a:extLst>
              </a:tr>
            </a:tbl>
          </a:graphicData>
        </a:graphic>
      </p:graphicFrame>
      <p:sp>
        <p:nvSpPr>
          <p:cNvPr id="8" name="TextBox 7">
            <a:extLst>
              <a:ext uri="{FF2B5EF4-FFF2-40B4-BE49-F238E27FC236}">
                <a16:creationId xmlns:a16="http://schemas.microsoft.com/office/drawing/2014/main" id="{E39855F3-5AE2-7E42-733A-3361D6E1D4F1}"/>
              </a:ext>
            </a:extLst>
          </p:cNvPr>
          <p:cNvSpPr txBox="1"/>
          <p:nvPr/>
        </p:nvSpPr>
        <p:spPr>
          <a:xfrm>
            <a:off x="466898" y="3944906"/>
            <a:ext cx="1125533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Common Breakpoints for Responsive Design</a:t>
            </a:r>
          </a:p>
        </p:txBody>
      </p:sp>
      <p:graphicFrame>
        <p:nvGraphicFramePr>
          <p:cNvPr id="9" name="Table 3">
            <a:extLst>
              <a:ext uri="{FF2B5EF4-FFF2-40B4-BE49-F238E27FC236}">
                <a16:creationId xmlns:a16="http://schemas.microsoft.com/office/drawing/2014/main" id="{8754538E-B94B-FB49-AA34-38B3DF96F876}"/>
              </a:ext>
            </a:extLst>
          </p:cNvPr>
          <p:cNvGraphicFramePr>
            <a:graphicFrameLocks noGrp="1"/>
          </p:cNvGraphicFramePr>
          <p:nvPr>
            <p:extLst>
              <p:ext uri="{D42A27DB-BD31-4B8C-83A1-F6EECF244321}">
                <p14:modId xmlns:p14="http://schemas.microsoft.com/office/powerpoint/2010/main" val="4209461438"/>
              </p:ext>
            </p:extLst>
          </p:nvPr>
        </p:nvGraphicFramePr>
        <p:xfrm>
          <a:off x="1605216" y="4402350"/>
          <a:ext cx="9061403" cy="1854062"/>
        </p:xfrm>
        <a:graphic>
          <a:graphicData uri="http://schemas.openxmlformats.org/drawingml/2006/table">
            <a:tbl>
              <a:tblPr firstRow="1" bandRow="1">
                <a:tableStyleId>{5C22544A-7EE6-4342-B048-85BDC9FD1C3A}</a:tableStyleId>
              </a:tblPr>
              <a:tblGrid>
                <a:gridCol w="2641256">
                  <a:extLst>
                    <a:ext uri="{9D8B030D-6E8A-4147-A177-3AD203B41FA5}">
                      <a16:colId xmlns:a16="http://schemas.microsoft.com/office/drawing/2014/main" val="3232426388"/>
                    </a:ext>
                  </a:extLst>
                </a:gridCol>
                <a:gridCol w="6420147">
                  <a:extLst>
                    <a:ext uri="{9D8B030D-6E8A-4147-A177-3AD203B41FA5}">
                      <a16:colId xmlns:a16="http://schemas.microsoft.com/office/drawing/2014/main" val="4197912981"/>
                    </a:ext>
                  </a:extLst>
                </a:gridCol>
              </a:tblGrid>
              <a:tr h="370702">
                <a:tc>
                  <a:txBody>
                    <a:bodyPr/>
                    <a:lstStyle/>
                    <a:p>
                      <a:pPr algn="ctr"/>
                      <a:r>
                        <a:rPr lang="en-US" dirty="0"/>
                        <a:t>Device Type</a:t>
                      </a:r>
                    </a:p>
                  </a:txBody>
                  <a:tcPr anchor="ctr"/>
                </a:tc>
                <a:tc>
                  <a:txBody>
                    <a:bodyPr/>
                    <a:lstStyle/>
                    <a:p>
                      <a:pPr lvl="0" algn="ctr">
                        <a:buNone/>
                      </a:pPr>
                      <a:r>
                        <a:rPr lang="en-US" dirty="0"/>
                        <a:t>Max-width</a:t>
                      </a:r>
                    </a:p>
                  </a:txBody>
                  <a:tcPr anchor="ctr"/>
                </a:tc>
                <a:extLst>
                  <a:ext uri="{0D108BD9-81ED-4DB2-BD59-A6C34878D82A}">
                    <a16:rowId xmlns:a16="http://schemas.microsoft.com/office/drawing/2014/main" val="2888526143"/>
                  </a:ext>
                </a:extLst>
              </a:tr>
              <a:tr h="370840">
                <a:tc>
                  <a:txBody>
                    <a:bodyPr/>
                    <a:lstStyle/>
                    <a:p>
                      <a:r>
                        <a:rPr lang="en-US" dirty="0"/>
                        <a:t>Mobile</a:t>
                      </a:r>
                    </a:p>
                  </a:txBody>
                  <a:tcPr/>
                </a:tc>
                <a:tc>
                  <a:txBody>
                    <a:bodyPr/>
                    <a:lstStyle/>
                    <a:p>
                      <a:pPr lvl="0">
                        <a:buNone/>
                      </a:pPr>
                      <a:r>
                        <a:rPr lang="en-US" dirty="0"/>
                        <a:t>max-width: 600px</a:t>
                      </a:r>
                    </a:p>
                  </a:txBody>
                  <a:tcPr/>
                </a:tc>
                <a:extLst>
                  <a:ext uri="{0D108BD9-81ED-4DB2-BD59-A6C34878D82A}">
                    <a16:rowId xmlns:a16="http://schemas.microsoft.com/office/drawing/2014/main" val="1534733952"/>
                  </a:ext>
                </a:extLst>
              </a:tr>
              <a:tr h="370840">
                <a:tc>
                  <a:txBody>
                    <a:bodyPr/>
                    <a:lstStyle/>
                    <a:p>
                      <a:r>
                        <a:rPr lang="en-US" dirty="0"/>
                        <a:t>Tablet</a:t>
                      </a:r>
                    </a:p>
                  </a:txBody>
                  <a:tcPr/>
                </a:tc>
                <a:tc>
                  <a:txBody>
                    <a:bodyPr/>
                    <a:lstStyle/>
                    <a:p>
                      <a:pPr lvl="0">
                        <a:buNone/>
                      </a:pPr>
                      <a:r>
                        <a:rPr lang="en-US" sz="1800" b="0" i="0" u="none" strike="noStrike" noProof="0" dirty="0">
                          <a:solidFill>
                            <a:srgbClr val="000000"/>
                          </a:solidFill>
                          <a:latin typeface="Myriad Pro"/>
                        </a:rPr>
                        <a:t>max-width: 1024px</a:t>
                      </a:r>
                      <a:endParaRPr lang="en-US" dirty="0"/>
                    </a:p>
                  </a:txBody>
                  <a:tcPr/>
                </a:tc>
                <a:extLst>
                  <a:ext uri="{0D108BD9-81ED-4DB2-BD59-A6C34878D82A}">
                    <a16:rowId xmlns:a16="http://schemas.microsoft.com/office/drawing/2014/main" val="3671367115"/>
                  </a:ext>
                </a:extLst>
              </a:tr>
              <a:tr h="370840">
                <a:tc>
                  <a:txBody>
                    <a:bodyPr/>
                    <a:lstStyle/>
                    <a:p>
                      <a:pPr lvl="0">
                        <a:buNone/>
                      </a:pPr>
                      <a:r>
                        <a:rPr lang="en-US" dirty="0"/>
                        <a:t>Laptop</a:t>
                      </a:r>
                    </a:p>
                  </a:txBody>
                  <a:tcPr/>
                </a:tc>
                <a:tc>
                  <a:txBody>
                    <a:bodyPr/>
                    <a:lstStyle/>
                    <a:p>
                      <a:pPr lvl="0">
                        <a:buNone/>
                      </a:pPr>
                      <a:r>
                        <a:rPr lang="en-US" sz="1800" b="0" i="0" u="none" strike="noStrike" noProof="0" dirty="0">
                          <a:solidFill>
                            <a:srgbClr val="000000"/>
                          </a:solidFill>
                          <a:latin typeface="Myriad Pro"/>
                        </a:rPr>
                        <a:t>max-width: 1440px</a:t>
                      </a:r>
                      <a:endParaRPr lang="en-US" dirty="0"/>
                    </a:p>
                  </a:txBody>
                  <a:tcPr/>
                </a:tc>
                <a:extLst>
                  <a:ext uri="{0D108BD9-81ED-4DB2-BD59-A6C34878D82A}">
                    <a16:rowId xmlns:a16="http://schemas.microsoft.com/office/drawing/2014/main" val="3618890050"/>
                  </a:ext>
                </a:extLst>
              </a:tr>
              <a:tr h="370840">
                <a:tc>
                  <a:txBody>
                    <a:bodyPr/>
                    <a:lstStyle/>
                    <a:p>
                      <a:pPr lvl="0">
                        <a:buNone/>
                      </a:pPr>
                      <a:r>
                        <a:rPr lang="en-US" dirty="0"/>
                        <a:t>Large Screen</a:t>
                      </a:r>
                    </a:p>
                  </a:txBody>
                  <a:tcPr/>
                </a:tc>
                <a:tc>
                  <a:txBody>
                    <a:bodyPr/>
                    <a:lstStyle/>
                    <a:p>
                      <a:pPr lvl="0">
                        <a:buNone/>
                      </a:pPr>
                      <a:r>
                        <a:rPr lang="en-US" sz="1800" b="0" i="0" u="none" strike="noStrike" noProof="0" dirty="0">
                          <a:solidFill>
                            <a:srgbClr val="000000"/>
                          </a:solidFill>
                          <a:latin typeface="Myriad Pro"/>
                        </a:rPr>
                        <a:t>min-width: 1441px</a:t>
                      </a:r>
                      <a:endParaRPr lang="en-US" dirty="0"/>
                    </a:p>
                  </a:txBody>
                  <a:tcPr/>
                </a:tc>
                <a:extLst>
                  <a:ext uri="{0D108BD9-81ED-4DB2-BD59-A6C34878D82A}">
                    <a16:rowId xmlns:a16="http://schemas.microsoft.com/office/drawing/2014/main" val="3095820679"/>
                  </a:ext>
                </a:extLst>
              </a:tr>
            </a:tbl>
          </a:graphicData>
        </a:graphic>
      </p:graphicFrame>
    </p:spTree>
    <p:extLst>
      <p:ext uri="{BB962C8B-B14F-4D97-AF65-F5344CB8AC3E}">
        <p14:creationId xmlns:p14="http://schemas.microsoft.com/office/powerpoint/2010/main" val="8269800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CE0DA8AC-3590-B8E0-86B7-204CEB78D053}"/>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84451F4B-7E5E-F1EF-9159-807F5FD207AF}"/>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30717B22-82B5-B7F7-931D-2B6A406AD10E}"/>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
        <p:nvSpPr>
          <p:cNvPr id="3" name="TextBox 2">
            <a:extLst>
              <a:ext uri="{FF2B5EF4-FFF2-40B4-BE49-F238E27FC236}">
                <a16:creationId xmlns:a16="http://schemas.microsoft.com/office/drawing/2014/main" id="{19604B9B-BE04-64CB-FF34-54FE6052A0AD}"/>
              </a:ext>
            </a:extLst>
          </p:cNvPr>
          <p:cNvSpPr txBox="1"/>
          <p:nvPr/>
        </p:nvSpPr>
        <p:spPr>
          <a:xfrm>
            <a:off x="466899" y="861738"/>
            <a:ext cx="11255338"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Media Queries (@media)</a:t>
            </a:r>
          </a:p>
          <a:p>
            <a:endParaRPr lang="en-US" sz="2400" b="1" dirty="0"/>
          </a:p>
          <a:p>
            <a:pPr marL="285750" indent="-285750">
              <a:buFont typeface="Arial"/>
              <a:buChar char="•"/>
            </a:pPr>
            <a:r>
              <a:rPr lang="en-US" dirty="0"/>
              <a:t>Media queries in CSS allow you to apply different styles based on the screen size, device type, or resolution.</a:t>
            </a:r>
          </a:p>
          <a:p>
            <a:pPr marL="285750" indent="-285750">
              <a:buFont typeface="Arial"/>
              <a:buChar char="•"/>
            </a:pPr>
            <a:endParaRPr lang="en-US" dirty="0"/>
          </a:p>
          <a:p>
            <a:pPr marL="285750" indent="-285750">
              <a:buFont typeface="Arial"/>
              <a:buChar char="•"/>
            </a:pPr>
            <a:r>
              <a:rPr lang="en-US" dirty="0"/>
              <a:t>This helps create responsive designs that adjust for desktops, tablets, and mobile phones.</a:t>
            </a:r>
          </a:p>
          <a:p>
            <a:endParaRPr lang="en-US" dirty="0"/>
          </a:p>
          <a:p>
            <a:endParaRPr lang="en-US" dirty="0"/>
          </a:p>
        </p:txBody>
      </p:sp>
      <p:sp>
        <p:nvSpPr>
          <p:cNvPr id="4" name="TextBox 3">
            <a:extLst>
              <a:ext uri="{FF2B5EF4-FFF2-40B4-BE49-F238E27FC236}">
                <a16:creationId xmlns:a16="http://schemas.microsoft.com/office/drawing/2014/main" id="{2D0B33CA-CD73-4942-FDFB-C2BCFD6541F4}"/>
              </a:ext>
            </a:extLst>
          </p:cNvPr>
          <p:cNvSpPr txBox="1"/>
          <p:nvPr/>
        </p:nvSpPr>
        <p:spPr>
          <a:xfrm>
            <a:off x="468893" y="3077006"/>
            <a:ext cx="341211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a:cs typeface="Segoe UI"/>
              </a:rPr>
              <a:t>Basic Syntax</a:t>
            </a:r>
            <a:endParaRPr lang="en-US" dirty="0">
              <a:latin typeface="Segoe UI"/>
              <a:cs typeface="Segoe UI"/>
            </a:endParaRPr>
          </a:p>
          <a:p>
            <a:endParaRPr lang="en-US" dirty="0">
              <a:latin typeface="Segoe UI"/>
              <a:cs typeface="Segoe UI"/>
            </a:endParaRPr>
          </a:p>
          <a:p>
            <a:r>
              <a:rPr lang="en-US">
                <a:latin typeface="Segoe UI"/>
                <a:cs typeface="Segoe UI"/>
              </a:rPr>
              <a:t>@media (condition)</a:t>
            </a:r>
            <a:endParaRPr lang="en-US" dirty="0">
              <a:latin typeface="Segoe UI"/>
              <a:cs typeface="Segoe UI"/>
            </a:endParaRPr>
          </a:p>
          <a:p>
            <a:r>
              <a:rPr lang="en-US">
                <a:latin typeface="Segoe UI"/>
                <a:cs typeface="Segoe UI"/>
              </a:rPr>
              <a:t>{</a:t>
            </a:r>
            <a:endParaRPr lang="en-US" dirty="0">
              <a:latin typeface="Segoe UI"/>
              <a:cs typeface="Segoe UI"/>
            </a:endParaRPr>
          </a:p>
          <a:p>
            <a:r>
              <a:rPr lang="en-US">
                <a:latin typeface="Segoe UI"/>
                <a:cs typeface="Segoe UI"/>
              </a:rPr>
              <a:t> /* CSS rules*/</a:t>
            </a:r>
            <a:endParaRPr lang="en-US" dirty="0">
              <a:latin typeface="Segoe UI"/>
              <a:cs typeface="Segoe UI"/>
            </a:endParaRPr>
          </a:p>
          <a:p>
            <a:r>
              <a:rPr lang="en-US" dirty="0">
                <a:latin typeface="Segoe UI"/>
                <a:cs typeface="Segoe UI"/>
              </a:rPr>
              <a:t>}</a:t>
            </a:r>
            <a:endParaRPr lang="en-US" dirty="0"/>
          </a:p>
        </p:txBody>
      </p:sp>
      <p:sp>
        <p:nvSpPr>
          <p:cNvPr id="5" name="TextBox 4">
            <a:extLst>
              <a:ext uri="{FF2B5EF4-FFF2-40B4-BE49-F238E27FC236}">
                <a16:creationId xmlns:a16="http://schemas.microsoft.com/office/drawing/2014/main" id="{B42D767C-26E0-F078-451D-3B8808E1F606}"/>
              </a:ext>
            </a:extLst>
          </p:cNvPr>
          <p:cNvSpPr txBox="1"/>
          <p:nvPr/>
        </p:nvSpPr>
        <p:spPr>
          <a:xfrm>
            <a:off x="5369138" y="3077005"/>
            <a:ext cx="635460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Segoe UI"/>
                <a:cs typeface="Segoe UI"/>
              </a:rPr>
              <a:t>Example</a:t>
            </a:r>
          </a:p>
          <a:p>
            <a:endParaRPr lang="en-US" dirty="0">
              <a:latin typeface="Segoe UI"/>
              <a:cs typeface="Segoe UI"/>
            </a:endParaRPr>
          </a:p>
          <a:p>
            <a:r>
              <a:rPr lang="en-US" dirty="0">
                <a:latin typeface="Segoe UI"/>
                <a:cs typeface="Segoe UI"/>
              </a:rPr>
              <a:t>@media (max-width: 600px)</a:t>
            </a:r>
          </a:p>
          <a:p>
            <a:r>
              <a:rPr lang="en-US" dirty="0">
                <a:latin typeface="Segoe UI"/>
                <a:cs typeface="Segoe UI"/>
              </a:rPr>
              <a:t>{</a:t>
            </a:r>
          </a:p>
          <a:p>
            <a:r>
              <a:rPr lang="en-US" dirty="0">
                <a:latin typeface="Segoe UI"/>
                <a:cs typeface="Segoe UI"/>
              </a:rPr>
              <a:t> body{</a:t>
            </a:r>
          </a:p>
          <a:p>
            <a:r>
              <a:rPr lang="en-US" dirty="0">
                <a:latin typeface="Segoe UI"/>
                <a:cs typeface="Segoe UI"/>
              </a:rPr>
              <a:t>  background-color: </a:t>
            </a:r>
            <a:r>
              <a:rPr lang="en-US" dirty="0" err="1">
                <a:latin typeface="Segoe UI"/>
                <a:cs typeface="Segoe UI"/>
              </a:rPr>
              <a:t>lightblue</a:t>
            </a:r>
            <a:r>
              <a:rPr lang="en-US" dirty="0">
                <a:latin typeface="Segoe UI"/>
                <a:cs typeface="Segoe UI"/>
              </a:rPr>
              <a:t>;</a:t>
            </a:r>
          </a:p>
          <a:p>
            <a:r>
              <a:rPr lang="en-US" dirty="0">
                <a:latin typeface="Segoe UI"/>
                <a:cs typeface="Segoe UI"/>
              </a:rPr>
              <a:t> }</a:t>
            </a:r>
          </a:p>
          <a:p>
            <a:r>
              <a:rPr lang="en-US" dirty="0">
                <a:latin typeface="Segoe UI"/>
                <a:cs typeface="Segoe UI"/>
              </a:rPr>
              <a:t>}</a:t>
            </a:r>
          </a:p>
          <a:p>
            <a:endParaRPr lang="en-US" dirty="0">
              <a:latin typeface="Segoe UI"/>
              <a:cs typeface="Segoe UI"/>
            </a:endParaRPr>
          </a:p>
          <a:p>
            <a:r>
              <a:rPr lang="en-US" b="1" dirty="0">
                <a:latin typeface="Segoe UI"/>
                <a:cs typeface="Segoe UI"/>
              </a:rPr>
              <a:t>Effect:</a:t>
            </a:r>
            <a:r>
              <a:rPr lang="en-US" dirty="0">
                <a:latin typeface="Segoe UI"/>
                <a:cs typeface="Segoe UI"/>
              </a:rPr>
              <a:t> Changes the background to light blue if the screen size width is </a:t>
            </a:r>
            <a:r>
              <a:rPr lang="en-US" b="1" dirty="0">
                <a:latin typeface="Segoe UI"/>
                <a:cs typeface="Segoe UI"/>
              </a:rPr>
              <a:t>600px</a:t>
            </a:r>
            <a:r>
              <a:rPr lang="en-US" dirty="0">
                <a:latin typeface="Segoe UI"/>
                <a:cs typeface="Segoe UI"/>
              </a:rPr>
              <a:t> or smaller.</a:t>
            </a:r>
          </a:p>
        </p:txBody>
      </p:sp>
    </p:spTree>
    <p:extLst>
      <p:ext uri="{BB962C8B-B14F-4D97-AF65-F5344CB8AC3E}">
        <p14:creationId xmlns:p14="http://schemas.microsoft.com/office/powerpoint/2010/main" val="90053646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14338" name="Text Box 1">
            <a:extLst>
              <a:ext uri="{FF2B5EF4-FFF2-40B4-BE49-F238E27FC236}">
                <a16:creationId xmlns:a16="http://schemas.microsoft.com/office/drawing/2014/main" id="{53129D10-6BF6-74DB-490D-BBB8CCB8C316}"/>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14339" name="Text Box 2">
            <a:extLst>
              <a:ext uri="{FF2B5EF4-FFF2-40B4-BE49-F238E27FC236}">
                <a16:creationId xmlns:a16="http://schemas.microsoft.com/office/drawing/2014/main" id="{6EC96E5F-4779-B57E-2490-E11CA429320B}"/>
              </a:ext>
            </a:extLst>
          </p:cNvPr>
          <p:cNvSpPr txBox="1">
            <a:spLocks noChangeArrowheads="1"/>
          </p:cNvSpPr>
          <p:nvPr/>
        </p:nvSpPr>
        <p:spPr bwMode="auto">
          <a:xfrm>
            <a:off x="-1217457" y="1075544"/>
            <a:ext cx="4983499" cy="109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2397125" indent="-538163">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397125" algn="l"/>
                <a:tab pos="2854325" algn="l"/>
                <a:tab pos="3311525" algn="l"/>
                <a:tab pos="3768725" algn="l"/>
                <a:tab pos="4225925" algn="l"/>
                <a:tab pos="4683125" algn="l"/>
                <a:tab pos="5140325" algn="l"/>
                <a:tab pos="5597525" algn="l"/>
                <a:tab pos="6054725" algn="l"/>
                <a:tab pos="6511925" algn="l"/>
                <a:tab pos="6969125" algn="l"/>
                <a:tab pos="7426325" algn="l"/>
                <a:tab pos="7883525" algn="l"/>
                <a:tab pos="8340725" algn="l"/>
                <a:tab pos="8797925" algn="l"/>
                <a:tab pos="9255125" algn="l"/>
                <a:tab pos="9712325" algn="l"/>
                <a:tab pos="10169525" algn="l"/>
                <a:tab pos="10626725" algn="l"/>
                <a:tab pos="11083925" algn="l"/>
                <a:tab pos="11541125" algn="l"/>
              </a:tabLst>
              <a:defRPr>
                <a:solidFill>
                  <a:schemeClr val="bg1"/>
                </a:solidFill>
                <a:latin typeface="Arial" panose="020B0604020202020204" pitchFamily="34" charset="0"/>
                <a:ea typeface="Microsoft YaHei" panose="020B0503020204020204" pitchFamily="34" charset="-122"/>
              </a:defRPr>
            </a:lvl9pPr>
          </a:lstStyle>
          <a:p>
            <a:pPr marL="1859280" indent="0">
              <a:spcBef>
                <a:spcPts val="550"/>
              </a:spcBef>
              <a:buClrTx/>
            </a:pPr>
            <a:r>
              <a:rPr lang="en-US" altLang="en-US" sz="2400" b="1" noProof="1">
                <a:solidFill>
                  <a:schemeClr val="tx1"/>
                </a:solidFill>
                <a:latin typeface="Microsoft YaHei"/>
                <a:ea typeface="Microsoft YaHei"/>
                <a:cs typeface="Arial"/>
              </a:rPr>
              <a:t>Website Layout</a:t>
            </a:r>
          </a:p>
          <a:p>
            <a:pPr marL="1859280" indent="0">
              <a:spcBef>
                <a:spcPts val="550"/>
              </a:spcBef>
            </a:pPr>
            <a:endParaRPr lang="en-US" sz="2400" noProof="1">
              <a:solidFill>
                <a:schemeClr val="tx1"/>
              </a:solidFill>
              <a:latin typeface="Verdana"/>
              <a:ea typeface="Verdana"/>
              <a:cs typeface="Arial"/>
            </a:endParaRPr>
          </a:p>
        </p:txBody>
      </p:sp>
      <p:sp>
        <p:nvSpPr>
          <p:cNvPr id="2" name="TextBox 1">
            <a:extLst>
              <a:ext uri="{FF2B5EF4-FFF2-40B4-BE49-F238E27FC236}">
                <a16:creationId xmlns:a16="http://schemas.microsoft.com/office/drawing/2014/main" id="{01C725B6-5423-CE9F-C8A2-A9F76637070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Cascading Style Sheets</a:t>
            </a:r>
          </a:p>
        </p:txBody>
      </p:sp>
      <p:sp>
        <p:nvSpPr>
          <p:cNvPr id="3" name="Rectangle 2">
            <a:extLst>
              <a:ext uri="{FF2B5EF4-FFF2-40B4-BE49-F238E27FC236}">
                <a16:creationId xmlns:a16="http://schemas.microsoft.com/office/drawing/2014/main" id="{990429F5-1BEA-15BF-94B5-204AC43DAE9F}"/>
              </a:ext>
            </a:extLst>
          </p:cNvPr>
          <p:cNvSpPr/>
          <p:nvPr/>
        </p:nvSpPr>
        <p:spPr bwMode="auto">
          <a:xfrm>
            <a:off x="2122023" y="1710944"/>
            <a:ext cx="8088701" cy="655608"/>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457200">
              <a:lnSpc>
                <a:spcPct val="100000"/>
              </a:lnSpc>
              <a:spcBef>
                <a:spcPct val="0"/>
              </a:spcBef>
              <a:spcAft>
                <a:spcPct val="0"/>
              </a:spcAft>
              <a:buNone/>
              <a:tabLst/>
            </a:pPr>
            <a:r>
              <a:rPr lang="en-US" b="1" dirty="0">
                <a:solidFill>
                  <a:schemeClr val="tx1"/>
                </a:solidFill>
                <a:latin typeface="Arial"/>
                <a:cs typeface="Arial"/>
              </a:rPr>
              <a:t>Header</a:t>
            </a:r>
            <a:endParaRPr lang="en-US" dirty="0">
              <a:solidFill>
                <a:schemeClr val="tx1"/>
              </a:solidFill>
              <a:latin typeface="Arial"/>
              <a:cs typeface="Arial"/>
            </a:endParaRPr>
          </a:p>
        </p:txBody>
      </p:sp>
      <p:sp>
        <p:nvSpPr>
          <p:cNvPr id="4" name="Rectangle 3">
            <a:extLst>
              <a:ext uri="{FF2B5EF4-FFF2-40B4-BE49-F238E27FC236}">
                <a16:creationId xmlns:a16="http://schemas.microsoft.com/office/drawing/2014/main" id="{2F00E9A5-7FB2-AE23-369D-0F5461AB82AD}"/>
              </a:ext>
            </a:extLst>
          </p:cNvPr>
          <p:cNvSpPr/>
          <p:nvPr/>
        </p:nvSpPr>
        <p:spPr bwMode="auto">
          <a:xfrm>
            <a:off x="2115449" y="2553958"/>
            <a:ext cx="8088701" cy="655608"/>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0" fontAlgn="base" hangingPunct="0">
              <a:spcBef>
                <a:spcPct val="0"/>
              </a:spcBef>
              <a:spcAft>
                <a:spcPct val="0"/>
              </a:spcAft>
              <a:buClr>
                <a:srgbClr val="000000"/>
              </a:buClr>
              <a:buSzPct val="100000"/>
            </a:pPr>
            <a:r>
              <a:rPr lang="en-US" b="1" dirty="0">
                <a:solidFill>
                  <a:srgbClr val="000000"/>
                </a:solidFill>
                <a:latin typeface="Arial"/>
                <a:ea typeface="Microsoft YaHei"/>
                <a:cs typeface="Arial"/>
              </a:rPr>
              <a:t>Navigation Menu</a:t>
            </a:r>
            <a:endParaRPr kumimoji="0" lang="en-US" sz="1800" b="1"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p:txBody>
      </p:sp>
      <p:sp>
        <p:nvSpPr>
          <p:cNvPr id="5" name="Rectangle 4">
            <a:extLst>
              <a:ext uri="{FF2B5EF4-FFF2-40B4-BE49-F238E27FC236}">
                <a16:creationId xmlns:a16="http://schemas.microsoft.com/office/drawing/2014/main" id="{38752EE0-9CFA-C0E2-3428-903E07C0D81F}"/>
              </a:ext>
            </a:extLst>
          </p:cNvPr>
          <p:cNvSpPr/>
          <p:nvPr/>
        </p:nvSpPr>
        <p:spPr bwMode="auto">
          <a:xfrm>
            <a:off x="2182069" y="3430079"/>
            <a:ext cx="1863305" cy="2021456"/>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0" fontAlgn="base" hangingPunct="0">
              <a:spcBef>
                <a:spcPct val="0"/>
              </a:spcBef>
              <a:spcAft>
                <a:spcPct val="0"/>
              </a:spcAft>
              <a:buClr>
                <a:srgbClr val="000000"/>
              </a:buClr>
              <a:buSzPct val="100000"/>
            </a:pPr>
            <a:r>
              <a:rPr lang="en-US" b="1" dirty="0">
                <a:solidFill>
                  <a:srgbClr val="000000"/>
                </a:solidFill>
                <a:latin typeface="Arial"/>
                <a:ea typeface="Microsoft YaHei"/>
                <a:cs typeface="Arial"/>
              </a:rPr>
              <a:t>Side Content</a:t>
            </a:r>
            <a:endParaRPr kumimoji="0" lang="en-US" sz="1800" b="1"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p:txBody>
      </p:sp>
      <p:sp>
        <p:nvSpPr>
          <p:cNvPr id="6" name="Rectangle 5">
            <a:extLst>
              <a:ext uri="{FF2B5EF4-FFF2-40B4-BE49-F238E27FC236}">
                <a16:creationId xmlns:a16="http://schemas.microsoft.com/office/drawing/2014/main" id="{BE92DD50-6BA9-D2C7-4E1E-CF148DFF4C0F}"/>
              </a:ext>
            </a:extLst>
          </p:cNvPr>
          <p:cNvSpPr/>
          <p:nvPr/>
        </p:nvSpPr>
        <p:spPr bwMode="auto">
          <a:xfrm>
            <a:off x="8197971" y="3417499"/>
            <a:ext cx="1992701" cy="2035833"/>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0" fontAlgn="base" hangingPunct="0">
              <a:spcBef>
                <a:spcPct val="0"/>
              </a:spcBef>
              <a:spcAft>
                <a:spcPct val="0"/>
              </a:spcAft>
              <a:buClr>
                <a:srgbClr val="000000"/>
              </a:buClr>
              <a:buSzPct val="100000"/>
            </a:pPr>
            <a:r>
              <a:rPr lang="en-US" b="1" dirty="0">
                <a:solidFill>
                  <a:srgbClr val="000000"/>
                </a:solidFill>
                <a:latin typeface="Arial"/>
                <a:ea typeface="Microsoft YaHei"/>
                <a:cs typeface="Arial"/>
              </a:rPr>
              <a:t>Side Content</a:t>
            </a:r>
            <a:endParaRPr kumimoji="0" lang="en-US" sz="1800" b="1"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p:txBody>
      </p:sp>
      <p:sp>
        <p:nvSpPr>
          <p:cNvPr id="7" name="Rectangle 6">
            <a:extLst>
              <a:ext uri="{FF2B5EF4-FFF2-40B4-BE49-F238E27FC236}">
                <a16:creationId xmlns:a16="http://schemas.microsoft.com/office/drawing/2014/main" id="{D2E4150F-2D6F-1F1C-C201-0080A82FDFB1}"/>
              </a:ext>
            </a:extLst>
          </p:cNvPr>
          <p:cNvSpPr/>
          <p:nvPr/>
        </p:nvSpPr>
        <p:spPr bwMode="auto">
          <a:xfrm>
            <a:off x="4200166" y="3416600"/>
            <a:ext cx="3789871" cy="2021456"/>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eaLnBrk="0" fontAlgn="base" hangingPunct="0">
              <a:spcBef>
                <a:spcPct val="0"/>
              </a:spcBef>
              <a:spcAft>
                <a:spcPct val="0"/>
              </a:spcAft>
              <a:buClr>
                <a:srgbClr val="000000"/>
              </a:buClr>
              <a:buSzPct val="100000"/>
            </a:pPr>
            <a:r>
              <a:rPr lang="en-US" b="1" dirty="0">
                <a:solidFill>
                  <a:srgbClr val="000000"/>
                </a:solidFill>
                <a:latin typeface="Arial"/>
                <a:ea typeface="Microsoft YaHei"/>
                <a:cs typeface="Arial"/>
              </a:rPr>
              <a:t>Main Content</a:t>
            </a:r>
            <a:endParaRPr kumimoji="0" lang="en-US" sz="1800" b="1" i="0" u="none" strike="noStrike" cap="none" normalizeH="0" baseline="0" dirty="0">
              <a:ln>
                <a:noFill/>
              </a:ln>
              <a:solidFill>
                <a:srgbClr val="000000"/>
              </a:solidFill>
              <a:effectLst/>
              <a:latin typeface="Arial" panose="020B0604020202020204" pitchFamily="34" charset="0"/>
              <a:ea typeface="Microsoft YaHei" panose="020B0503020204020204" pitchFamily="34" charset="-122"/>
            </a:endParaRPr>
          </a:p>
        </p:txBody>
      </p:sp>
      <p:sp>
        <p:nvSpPr>
          <p:cNvPr id="8" name="Rectangle 7">
            <a:extLst>
              <a:ext uri="{FF2B5EF4-FFF2-40B4-BE49-F238E27FC236}">
                <a16:creationId xmlns:a16="http://schemas.microsoft.com/office/drawing/2014/main" id="{870136D8-9B43-65DD-32B6-7B29154CDA4B}"/>
              </a:ext>
            </a:extLst>
          </p:cNvPr>
          <p:cNvSpPr/>
          <p:nvPr/>
        </p:nvSpPr>
        <p:spPr bwMode="auto">
          <a:xfrm>
            <a:off x="2114550" y="5644192"/>
            <a:ext cx="8088701" cy="756250"/>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457200">
              <a:lnSpc>
                <a:spcPct val="100000"/>
              </a:lnSpc>
              <a:spcBef>
                <a:spcPct val="0"/>
              </a:spcBef>
              <a:spcAft>
                <a:spcPct val="0"/>
              </a:spcAft>
              <a:buNone/>
              <a:tabLst/>
            </a:pPr>
            <a:r>
              <a:rPr lang="en-US" b="1" dirty="0">
                <a:solidFill>
                  <a:srgbClr val="000000"/>
                </a:solidFill>
                <a:latin typeface="Arial"/>
                <a:ea typeface="Microsoft YaHei"/>
                <a:cs typeface="Arial"/>
              </a:rPr>
              <a:t>Footer</a:t>
            </a:r>
            <a:endParaRPr lang="en-US" dirty="0"/>
          </a:p>
        </p:txBody>
      </p:sp>
    </p:spTree>
    <p:extLst>
      <p:ext uri="{BB962C8B-B14F-4D97-AF65-F5344CB8AC3E}">
        <p14:creationId xmlns:p14="http://schemas.microsoft.com/office/powerpoint/2010/main" val="383409999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E509D572-621B-7EAB-C83E-C8471845F728}"/>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4CE1EF8D-586A-3917-3690-48B95F18E00A}"/>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F9C629BE-93B8-5B20-991D-B2973DA80DD7}"/>
              </a:ext>
            </a:extLst>
          </p:cNvPr>
          <p:cNvSpPr txBox="1"/>
          <p:nvPr/>
        </p:nvSpPr>
        <p:spPr>
          <a:xfrm>
            <a:off x="4303096" y="3072771"/>
            <a:ext cx="358048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t>JavaScript</a:t>
            </a:r>
            <a:endParaRPr lang="en-US" sz="4000" b="1"/>
          </a:p>
        </p:txBody>
      </p:sp>
    </p:spTree>
    <p:extLst>
      <p:ext uri="{BB962C8B-B14F-4D97-AF65-F5344CB8AC3E}">
        <p14:creationId xmlns:p14="http://schemas.microsoft.com/office/powerpoint/2010/main" val="1929127574"/>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EE1B9B05-494E-3A77-D414-CDC787ED4AD5}"/>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3BCDA622-6382-AB1F-5A4C-688D4BCA7034}"/>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5A80098C-95AE-5FA9-B71B-0AEE1B51E729}"/>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Introduction to JavaScript</a:t>
            </a:r>
          </a:p>
        </p:txBody>
      </p:sp>
      <p:sp>
        <p:nvSpPr>
          <p:cNvPr id="9" name="TextBox 8">
            <a:extLst>
              <a:ext uri="{FF2B5EF4-FFF2-40B4-BE49-F238E27FC236}">
                <a16:creationId xmlns:a16="http://schemas.microsoft.com/office/drawing/2014/main" id="{C7F5D506-A488-A97E-1B75-F32117C66482}"/>
              </a:ext>
            </a:extLst>
          </p:cNvPr>
          <p:cNvSpPr txBox="1"/>
          <p:nvPr/>
        </p:nvSpPr>
        <p:spPr>
          <a:xfrm>
            <a:off x="844285" y="936637"/>
            <a:ext cx="10903089"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t>JavaScript</a:t>
            </a:r>
          </a:p>
          <a:p>
            <a:endParaRPr lang="en-US" sz="2400" b="1" dirty="0"/>
          </a:p>
          <a:p>
            <a:pPr marL="285750" indent="-285750">
              <a:buFont typeface="Arial"/>
              <a:buChar char="•"/>
            </a:pPr>
            <a:r>
              <a:rPr lang="en-US" dirty="0"/>
              <a:t>JavaScript is a </a:t>
            </a:r>
            <a:r>
              <a:rPr lang="en-US" b="1" i="1" dirty="0"/>
              <a:t>programming language</a:t>
            </a:r>
            <a:r>
              <a:rPr lang="en-US" dirty="0"/>
              <a:t> used to create dynamic content for websites.</a:t>
            </a:r>
          </a:p>
          <a:p>
            <a:endParaRPr lang="en-US" dirty="0"/>
          </a:p>
          <a:p>
            <a:pPr marL="285750" indent="-285750">
              <a:buFont typeface="Arial"/>
              <a:buChar char="•"/>
            </a:pPr>
            <a:r>
              <a:rPr lang="en-US" dirty="0"/>
              <a:t>It is a </a:t>
            </a:r>
            <a:r>
              <a:rPr lang="en-US" b="1" i="1" dirty="0"/>
              <a:t>lightweight, cross platform</a:t>
            </a:r>
            <a:r>
              <a:rPr lang="en-US" dirty="0"/>
              <a:t> and </a:t>
            </a:r>
            <a:r>
              <a:rPr lang="en-US" b="1" i="1" dirty="0"/>
              <a:t>single threaded</a:t>
            </a:r>
            <a:r>
              <a:rPr lang="en-US" dirty="0"/>
              <a:t> programming language.</a:t>
            </a:r>
          </a:p>
          <a:p>
            <a:endParaRPr lang="en-US" dirty="0"/>
          </a:p>
          <a:p>
            <a:pPr marL="285750" indent="-285750">
              <a:buFont typeface="Arial"/>
              <a:buChar char="•"/>
            </a:pPr>
            <a:r>
              <a:rPr lang="en-US" dirty="0"/>
              <a:t>JavaScript is an </a:t>
            </a:r>
            <a:r>
              <a:rPr lang="en-US" b="1" i="1" dirty="0"/>
              <a:t>interpreted programming</a:t>
            </a:r>
            <a:r>
              <a:rPr lang="en-US" dirty="0"/>
              <a:t> language that executes code line by line providing more flexibility.</a:t>
            </a:r>
          </a:p>
        </p:txBody>
      </p:sp>
      <p:pic>
        <p:nvPicPr>
          <p:cNvPr id="10" name="Picture 9" descr="A diagram of a webpage&#10;&#10;AI-generated content may be incorrect.">
            <a:extLst>
              <a:ext uri="{FF2B5EF4-FFF2-40B4-BE49-F238E27FC236}">
                <a16:creationId xmlns:a16="http://schemas.microsoft.com/office/drawing/2014/main" id="{24CB0841-F105-FF37-D4A0-E06B1442D472}"/>
              </a:ext>
            </a:extLst>
          </p:cNvPr>
          <p:cNvPicPr>
            <a:picLocks noChangeAspect="1"/>
          </p:cNvPicPr>
          <p:nvPr/>
        </p:nvPicPr>
        <p:blipFill>
          <a:blip r:embed="rId3"/>
          <a:stretch>
            <a:fillRect/>
          </a:stretch>
        </p:blipFill>
        <p:spPr>
          <a:xfrm>
            <a:off x="2922500" y="3197568"/>
            <a:ext cx="6223430" cy="3181350"/>
          </a:xfrm>
          <a:prstGeom prst="rect">
            <a:avLst/>
          </a:prstGeom>
        </p:spPr>
      </p:pic>
    </p:spTree>
    <p:extLst>
      <p:ext uri="{BB962C8B-B14F-4D97-AF65-F5344CB8AC3E}">
        <p14:creationId xmlns:p14="http://schemas.microsoft.com/office/powerpoint/2010/main" val="56989611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1D0417F9-30BC-2677-713B-AD7658762C58}"/>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00E40812-50CC-623E-6E63-4EB101E4EE97}"/>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B5C3FA8D-4E7C-9653-47B3-A1D69D7A3695}"/>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Add JavaScript in HTML Document</a:t>
            </a:r>
            <a:endParaRPr lang="en-US" dirty="0"/>
          </a:p>
        </p:txBody>
      </p:sp>
      <p:sp>
        <p:nvSpPr>
          <p:cNvPr id="9" name="TextBox 8">
            <a:extLst>
              <a:ext uri="{FF2B5EF4-FFF2-40B4-BE49-F238E27FC236}">
                <a16:creationId xmlns:a16="http://schemas.microsoft.com/office/drawing/2014/main" id="{2AA3D92C-7770-DC5B-68AD-A56DF9A7C0CF}"/>
              </a:ext>
            </a:extLst>
          </p:cNvPr>
          <p:cNvSpPr txBox="1"/>
          <p:nvPr/>
        </p:nvSpPr>
        <p:spPr>
          <a:xfrm>
            <a:off x="844285" y="936637"/>
            <a:ext cx="1090308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To add </a:t>
            </a:r>
            <a:r>
              <a:rPr lang="en-US" b="1" i="1" err="1"/>
              <a:t>javascript</a:t>
            </a:r>
            <a:r>
              <a:rPr lang="en-US" b="1" i="1" dirty="0"/>
              <a:t> </a:t>
            </a:r>
            <a:r>
              <a:rPr lang="en-US" dirty="0"/>
              <a:t>in HTML document, several methods can be used.</a:t>
            </a:r>
            <a:endParaRPr lang="en-US"/>
          </a:p>
          <a:p>
            <a:pPr marL="285750" indent="-285750">
              <a:buFont typeface="Arial"/>
              <a:buChar char="•"/>
            </a:pPr>
            <a:endParaRPr lang="en-US" dirty="0"/>
          </a:p>
          <a:p>
            <a:pPr marL="285750" indent="-285750">
              <a:buFont typeface="Arial"/>
              <a:buChar char="•"/>
            </a:pPr>
            <a:r>
              <a:rPr lang="en-US" dirty="0"/>
              <a:t>These methods include embedding </a:t>
            </a:r>
            <a:r>
              <a:rPr lang="en-US" b="1" i="1" dirty="0"/>
              <a:t>JavaScript </a:t>
            </a:r>
            <a:r>
              <a:rPr lang="en-US" dirty="0"/>
              <a:t>directly within in HTML file.</a:t>
            </a:r>
          </a:p>
        </p:txBody>
      </p:sp>
      <p:sp>
        <p:nvSpPr>
          <p:cNvPr id="3" name="TextBox 2">
            <a:extLst>
              <a:ext uri="{FF2B5EF4-FFF2-40B4-BE49-F238E27FC236}">
                <a16:creationId xmlns:a16="http://schemas.microsoft.com/office/drawing/2014/main" id="{06656011-D72A-88AE-58D0-014E031603DA}"/>
              </a:ext>
            </a:extLst>
          </p:cNvPr>
          <p:cNvSpPr txBox="1"/>
          <p:nvPr/>
        </p:nvSpPr>
        <p:spPr>
          <a:xfrm>
            <a:off x="849024" y="2058324"/>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Inline JavaScript</a:t>
            </a:r>
          </a:p>
        </p:txBody>
      </p:sp>
      <p:pic>
        <p:nvPicPr>
          <p:cNvPr id="4" name="Picture 3" descr="A close-up of a sign&#10;&#10;AI-generated content may be incorrect.">
            <a:extLst>
              <a:ext uri="{FF2B5EF4-FFF2-40B4-BE49-F238E27FC236}">
                <a16:creationId xmlns:a16="http://schemas.microsoft.com/office/drawing/2014/main" id="{E77F7132-27B9-68FE-E252-69D1D063C7DD}"/>
              </a:ext>
            </a:extLst>
          </p:cNvPr>
          <p:cNvPicPr>
            <a:picLocks noChangeAspect="1"/>
          </p:cNvPicPr>
          <p:nvPr/>
        </p:nvPicPr>
        <p:blipFill>
          <a:blip r:embed="rId3"/>
          <a:stretch>
            <a:fillRect/>
          </a:stretch>
        </p:blipFill>
        <p:spPr>
          <a:xfrm>
            <a:off x="841675" y="2568148"/>
            <a:ext cx="4824541" cy="1175949"/>
          </a:xfrm>
          <a:prstGeom prst="rect">
            <a:avLst/>
          </a:prstGeom>
        </p:spPr>
      </p:pic>
      <p:sp>
        <p:nvSpPr>
          <p:cNvPr id="5" name="TextBox 4">
            <a:extLst>
              <a:ext uri="{FF2B5EF4-FFF2-40B4-BE49-F238E27FC236}">
                <a16:creationId xmlns:a16="http://schemas.microsoft.com/office/drawing/2014/main" id="{FD8BE515-368A-99F1-79FE-54783C49E8E1}"/>
              </a:ext>
            </a:extLst>
          </p:cNvPr>
          <p:cNvSpPr txBox="1"/>
          <p:nvPr/>
        </p:nvSpPr>
        <p:spPr>
          <a:xfrm>
            <a:off x="849024" y="3953027"/>
            <a:ext cx="45555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Internal JavaScript (in head section)</a:t>
            </a:r>
          </a:p>
        </p:txBody>
      </p:sp>
      <p:pic>
        <p:nvPicPr>
          <p:cNvPr id="6" name="Picture 5" descr="A computer code with text&#10;&#10;AI-generated content may be incorrect.">
            <a:extLst>
              <a:ext uri="{FF2B5EF4-FFF2-40B4-BE49-F238E27FC236}">
                <a16:creationId xmlns:a16="http://schemas.microsoft.com/office/drawing/2014/main" id="{0AF62D3D-CDB9-EE2A-EAA1-56B02FDA0489}"/>
              </a:ext>
            </a:extLst>
          </p:cNvPr>
          <p:cNvPicPr>
            <a:picLocks noChangeAspect="1"/>
          </p:cNvPicPr>
          <p:nvPr/>
        </p:nvPicPr>
        <p:blipFill>
          <a:blip r:embed="rId4"/>
          <a:stretch>
            <a:fillRect/>
          </a:stretch>
        </p:blipFill>
        <p:spPr>
          <a:xfrm>
            <a:off x="854032" y="4545742"/>
            <a:ext cx="4429125" cy="1638300"/>
          </a:xfrm>
          <a:prstGeom prst="rect">
            <a:avLst/>
          </a:prstGeom>
        </p:spPr>
      </p:pic>
      <p:sp>
        <p:nvSpPr>
          <p:cNvPr id="7" name="TextBox 6">
            <a:extLst>
              <a:ext uri="{FF2B5EF4-FFF2-40B4-BE49-F238E27FC236}">
                <a16:creationId xmlns:a16="http://schemas.microsoft.com/office/drawing/2014/main" id="{DA2A0EFF-5779-4B32-55FA-47967B760952}"/>
              </a:ext>
            </a:extLst>
          </p:cNvPr>
          <p:cNvSpPr txBox="1"/>
          <p:nvPr/>
        </p:nvSpPr>
        <p:spPr>
          <a:xfrm>
            <a:off x="6100645" y="2048027"/>
            <a:ext cx="45555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Internal JavaScript (in body section)</a:t>
            </a:r>
          </a:p>
        </p:txBody>
      </p:sp>
      <p:pic>
        <p:nvPicPr>
          <p:cNvPr id="11" name="Picture 10" descr="A screen shot of a computer code&#10;&#10;AI-generated content may be incorrect.">
            <a:extLst>
              <a:ext uri="{FF2B5EF4-FFF2-40B4-BE49-F238E27FC236}">
                <a16:creationId xmlns:a16="http://schemas.microsoft.com/office/drawing/2014/main" id="{B7E76916-A321-DA0D-FE9E-1F62E2824936}"/>
              </a:ext>
            </a:extLst>
          </p:cNvPr>
          <p:cNvPicPr>
            <a:picLocks noChangeAspect="1"/>
          </p:cNvPicPr>
          <p:nvPr/>
        </p:nvPicPr>
        <p:blipFill>
          <a:blip r:embed="rId5"/>
          <a:stretch>
            <a:fillRect/>
          </a:stretch>
        </p:blipFill>
        <p:spPr>
          <a:xfrm>
            <a:off x="6096900" y="2606246"/>
            <a:ext cx="4467225" cy="3581400"/>
          </a:xfrm>
          <a:prstGeom prst="rect">
            <a:avLst/>
          </a:prstGeom>
        </p:spPr>
      </p:pic>
    </p:spTree>
    <p:extLst>
      <p:ext uri="{BB962C8B-B14F-4D97-AF65-F5344CB8AC3E}">
        <p14:creationId xmlns:p14="http://schemas.microsoft.com/office/powerpoint/2010/main" val="1631949945"/>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C6701892-6801-D21D-05A9-F296865A54A6}"/>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3FE4C3A5-9187-31E6-278A-F13CAE572F6A}"/>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33FA97B9-31DE-6475-C608-42FF38919D84}"/>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Add JavaScript in HTML Document</a:t>
            </a:r>
            <a:endParaRPr lang="en-US" dirty="0"/>
          </a:p>
        </p:txBody>
      </p:sp>
      <p:sp>
        <p:nvSpPr>
          <p:cNvPr id="3" name="TextBox 2">
            <a:extLst>
              <a:ext uri="{FF2B5EF4-FFF2-40B4-BE49-F238E27FC236}">
                <a16:creationId xmlns:a16="http://schemas.microsoft.com/office/drawing/2014/main" id="{C3AB7594-6C35-DB53-4399-2BA4693AD0D9}"/>
              </a:ext>
            </a:extLst>
          </p:cNvPr>
          <p:cNvSpPr txBox="1"/>
          <p:nvPr/>
        </p:nvSpPr>
        <p:spPr>
          <a:xfrm>
            <a:off x="849024" y="935919"/>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External JavaScript</a:t>
            </a:r>
          </a:p>
        </p:txBody>
      </p:sp>
      <p:pic>
        <p:nvPicPr>
          <p:cNvPr id="10" name="Picture 9" descr="A screen shot of a computer code&#10;&#10;AI-generated content may be incorrect.">
            <a:extLst>
              <a:ext uri="{FF2B5EF4-FFF2-40B4-BE49-F238E27FC236}">
                <a16:creationId xmlns:a16="http://schemas.microsoft.com/office/drawing/2014/main" id="{15E2B278-52DA-9A86-499C-327395065CC3}"/>
              </a:ext>
            </a:extLst>
          </p:cNvPr>
          <p:cNvPicPr>
            <a:picLocks noChangeAspect="1"/>
          </p:cNvPicPr>
          <p:nvPr/>
        </p:nvPicPr>
        <p:blipFill>
          <a:blip r:embed="rId3"/>
          <a:stretch>
            <a:fillRect/>
          </a:stretch>
        </p:blipFill>
        <p:spPr>
          <a:xfrm>
            <a:off x="849012" y="1494910"/>
            <a:ext cx="6416245" cy="1932287"/>
          </a:xfrm>
          <a:prstGeom prst="rect">
            <a:avLst/>
          </a:prstGeom>
        </p:spPr>
      </p:pic>
      <p:sp>
        <p:nvSpPr>
          <p:cNvPr id="12" name="TextBox 11">
            <a:extLst>
              <a:ext uri="{FF2B5EF4-FFF2-40B4-BE49-F238E27FC236}">
                <a16:creationId xmlns:a16="http://schemas.microsoft.com/office/drawing/2014/main" id="{C5DCC2E7-AA53-3C64-81DC-FC84918E1851}"/>
              </a:ext>
            </a:extLst>
          </p:cNvPr>
          <p:cNvSpPr txBox="1"/>
          <p:nvPr/>
        </p:nvSpPr>
        <p:spPr>
          <a:xfrm>
            <a:off x="849024" y="3726486"/>
            <a:ext cx="55234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Advantages of external JavaScript</a:t>
            </a:r>
          </a:p>
        </p:txBody>
      </p:sp>
      <p:sp>
        <p:nvSpPr>
          <p:cNvPr id="14" name="TextBox 13">
            <a:extLst>
              <a:ext uri="{FF2B5EF4-FFF2-40B4-BE49-F238E27FC236}">
                <a16:creationId xmlns:a16="http://schemas.microsoft.com/office/drawing/2014/main" id="{FD8086C9-F4A0-5244-62F8-6A65AF833A07}"/>
              </a:ext>
            </a:extLst>
          </p:cNvPr>
          <p:cNvSpPr txBox="1"/>
          <p:nvPr/>
        </p:nvSpPr>
        <p:spPr>
          <a:xfrm>
            <a:off x="844285" y="4355340"/>
            <a:ext cx="109030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Faster page load times</a:t>
            </a:r>
          </a:p>
          <a:p>
            <a:pPr marL="285750" indent="-285750">
              <a:buFont typeface="Arial"/>
              <a:buChar char="•"/>
            </a:pPr>
            <a:endParaRPr lang="en-US" dirty="0"/>
          </a:p>
          <a:p>
            <a:pPr marL="285750" indent="-285750">
              <a:buFont typeface="Arial"/>
              <a:buChar char="•"/>
            </a:pPr>
            <a:r>
              <a:rPr lang="en-US" dirty="0"/>
              <a:t>Improved readability and maintenance</a:t>
            </a:r>
          </a:p>
          <a:p>
            <a:pPr marL="285750" indent="-285750">
              <a:buFont typeface="Arial"/>
              <a:buChar char="•"/>
            </a:pPr>
            <a:endParaRPr lang="en-US" dirty="0"/>
          </a:p>
          <a:p>
            <a:pPr marL="285750" indent="-285750">
              <a:buFont typeface="Arial"/>
              <a:buChar char="•"/>
            </a:pPr>
            <a:r>
              <a:rPr lang="en-US" dirty="0"/>
              <a:t>Code reusability</a:t>
            </a:r>
          </a:p>
        </p:txBody>
      </p:sp>
    </p:spTree>
    <p:extLst>
      <p:ext uri="{BB962C8B-B14F-4D97-AF65-F5344CB8AC3E}">
        <p14:creationId xmlns:p14="http://schemas.microsoft.com/office/powerpoint/2010/main" val="3652884933"/>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5A86DD78-6052-B952-EF2B-D4DEA6F52178}"/>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8F781AC7-14D5-DD6B-F4F1-2FF075036DCC}"/>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7C928033-7749-7694-71EB-A273EAF05E6D}"/>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JavaScript Output</a:t>
            </a:r>
            <a:endParaRPr lang="en-US" dirty="0"/>
          </a:p>
        </p:txBody>
      </p:sp>
      <p:sp>
        <p:nvSpPr>
          <p:cNvPr id="14" name="TextBox 13">
            <a:extLst>
              <a:ext uri="{FF2B5EF4-FFF2-40B4-BE49-F238E27FC236}">
                <a16:creationId xmlns:a16="http://schemas.microsoft.com/office/drawing/2014/main" id="{DD9CA17C-E6DC-AF4F-7677-1196991EF4EF}"/>
              </a:ext>
            </a:extLst>
          </p:cNvPr>
          <p:cNvSpPr txBox="1"/>
          <p:nvPr/>
        </p:nvSpPr>
        <p:spPr>
          <a:xfrm>
            <a:off x="648636" y="977827"/>
            <a:ext cx="109030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JavaScript provides different  methods to display output, such as console.log(), alert(), </a:t>
            </a:r>
            <a:r>
              <a:rPr lang="en-US" dirty="0" err="1"/>
              <a:t>document.write</a:t>
            </a:r>
            <a:r>
              <a:rPr lang="en-US" dirty="0"/>
              <a:t>(), and manipulating HTML </a:t>
            </a:r>
            <a:r>
              <a:rPr lang="en-US" dirty="0" err="1"/>
              <a:t>elments</a:t>
            </a:r>
            <a:r>
              <a:rPr lang="en-US" dirty="0"/>
              <a:t> directly.</a:t>
            </a:r>
          </a:p>
          <a:p>
            <a:pPr marL="285750" indent="-285750">
              <a:buFont typeface="Arial"/>
              <a:buChar char="•"/>
            </a:pPr>
            <a:endParaRPr lang="en-US" dirty="0"/>
          </a:p>
          <a:p>
            <a:pPr marL="285750" indent="-285750">
              <a:buFont typeface="Arial"/>
              <a:buChar char="•"/>
            </a:pPr>
            <a:r>
              <a:rPr lang="en-US" dirty="0"/>
              <a:t>Each method has its specific </a:t>
            </a:r>
            <a:r>
              <a:rPr lang="en-US" dirty="0" err="1"/>
              <a:t>usecases</a:t>
            </a:r>
            <a:r>
              <a:rPr lang="en-US" dirty="0"/>
              <a:t> for debugging, user notifications, or dynamically updating web content.</a:t>
            </a:r>
          </a:p>
        </p:txBody>
      </p:sp>
      <p:graphicFrame>
        <p:nvGraphicFramePr>
          <p:cNvPr id="5" name="Table 3">
            <a:extLst>
              <a:ext uri="{FF2B5EF4-FFF2-40B4-BE49-F238E27FC236}">
                <a16:creationId xmlns:a16="http://schemas.microsoft.com/office/drawing/2014/main" id="{B53BD942-73E0-1D76-5C5E-7FCD81687EBD}"/>
              </a:ext>
            </a:extLst>
          </p:cNvPr>
          <p:cNvGraphicFramePr>
            <a:graphicFrameLocks noGrp="1"/>
          </p:cNvGraphicFramePr>
          <p:nvPr>
            <p:extLst>
              <p:ext uri="{D42A27DB-BD31-4B8C-83A1-F6EECF244321}">
                <p14:modId xmlns:p14="http://schemas.microsoft.com/office/powerpoint/2010/main" val="3600294825"/>
              </p:ext>
            </p:extLst>
          </p:nvPr>
        </p:nvGraphicFramePr>
        <p:xfrm>
          <a:off x="1216771" y="2727852"/>
          <a:ext cx="9880407" cy="3732303"/>
        </p:xfrm>
        <a:graphic>
          <a:graphicData uri="http://schemas.openxmlformats.org/drawingml/2006/table">
            <a:tbl>
              <a:tblPr firstRow="1" bandRow="1">
                <a:tableStyleId>{5C22544A-7EE6-4342-B048-85BDC9FD1C3A}</a:tableStyleId>
              </a:tblPr>
              <a:tblGrid>
                <a:gridCol w="2879982">
                  <a:extLst>
                    <a:ext uri="{9D8B030D-6E8A-4147-A177-3AD203B41FA5}">
                      <a16:colId xmlns:a16="http://schemas.microsoft.com/office/drawing/2014/main" val="3232426388"/>
                    </a:ext>
                  </a:extLst>
                </a:gridCol>
                <a:gridCol w="7000425">
                  <a:extLst>
                    <a:ext uri="{9D8B030D-6E8A-4147-A177-3AD203B41FA5}">
                      <a16:colId xmlns:a16="http://schemas.microsoft.com/office/drawing/2014/main" val="4197912981"/>
                    </a:ext>
                  </a:extLst>
                </a:gridCol>
              </a:tblGrid>
              <a:tr h="430305">
                <a:tc>
                  <a:txBody>
                    <a:bodyPr/>
                    <a:lstStyle/>
                    <a:p>
                      <a:pPr algn="ctr"/>
                      <a:r>
                        <a:rPr lang="en-US" dirty="0"/>
                        <a:t>Method</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err="1"/>
                        <a:t>innerHTML</a:t>
                      </a:r>
                      <a:r>
                        <a:rPr lang="en-US" dirty="0"/>
                        <a:t> property</a:t>
                      </a:r>
                    </a:p>
                  </a:txBody>
                  <a:tcPr/>
                </a:tc>
                <a:tc>
                  <a:txBody>
                    <a:bodyPr/>
                    <a:lstStyle/>
                    <a:p>
                      <a:r>
                        <a:rPr lang="en-US" dirty="0"/>
                        <a:t>This property is used to display the output on the specified element.</a:t>
                      </a:r>
                    </a:p>
                  </a:txBody>
                  <a:tcPr/>
                </a:tc>
                <a:extLst>
                  <a:ext uri="{0D108BD9-81ED-4DB2-BD59-A6C34878D82A}">
                    <a16:rowId xmlns:a16="http://schemas.microsoft.com/office/drawing/2014/main" val="1534733952"/>
                  </a:ext>
                </a:extLst>
              </a:tr>
              <a:tr h="370840">
                <a:tc>
                  <a:txBody>
                    <a:bodyPr/>
                    <a:lstStyle/>
                    <a:p>
                      <a:r>
                        <a:rPr lang="en-US" dirty="0"/>
                        <a:t>console.log()</a:t>
                      </a:r>
                    </a:p>
                  </a:txBody>
                  <a:tcPr/>
                </a:tc>
                <a:tc>
                  <a:txBody>
                    <a:bodyPr/>
                    <a:lstStyle/>
                    <a:p>
                      <a:pPr lvl="0">
                        <a:buNone/>
                      </a:pPr>
                      <a:r>
                        <a:rPr lang="en-US" dirty="0"/>
                        <a:t>This is used for logging messages to the console.</a:t>
                      </a:r>
                    </a:p>
                  </a:txBody>
                  <a:tcPr/>
                </a:tc>
                <a:extLst>
                  <a:ext uri="{0D108BD9-81ED-4DB2-BD59-A6C34878D82A}">
                    <a16:rowId xmlns:a16="http://schemas.microsoft.com/office/drawing/2014/main" val="3671367115"/>
                  </a:ext>
                </a:extLst>
              </a:tr>
              <a:tr h="370840">
                <a:tc>
                  <a:txBody>
                    <a:bodyPr/>
                    <a:lstStyle/>
                    <a:p>
                      <a:r>
                        <a:rPr lang="en-US" dirty="0" err="1"/>
                        <a:t>document.write</a:t>
                      </a:r>
                      <a:r>
                        <a:rPr lang="en-US" dirty="0"/>
                        <a:t>()</a:t>
                      </a:r>
                    </a:p>
                  </a:txBody>
                  <a:tcPr/>
                </a:tc>
                <a:tc>
                  <a:txBody>
                    <a:bodyPr/>
                    <a:lstStyle/>
                    <a:p>
                      <a:pPr lvl="0">
                        <a:buNone/>
                      </a:pPr>
                      <a:r>
                        <a:rPr lang="en-US" dirty="0"/>
                        <a:t>This is used for directly adding content to HTML document while  it is being parsed.</a:t>
                      </a:r>
                    </a:p>
                  </a:txBody>
                  <a:tcPr/>
                </a:tc>
                <a:extLst>
                  <a:ext uri="{0D108BD9-81ED-4DB2-BD59-A6C34878D82A}">
                    <a16:rowId xmlns:a16="http://schemas.microsoft.com/office/drawing/2014/main" val="3618890050"/>
                  </a:ext>
                </a:extLst>
              </a:tr>
              <a:tr h="370840">
                <a:tc>
                  <a:txBody>
                    <a:bodyPr/>
                    <a:lstStyle/>
                    <a:p>
                      <a:r>
                        <a:rPr lang="en-US" dirty="0" err="1"/>
                        <a:t>window.alert</a:t>
                      </a:r>
                      <a:r>
                        <a:rPr lang="en-US" dirty="0"/>
                        <a:t>()</a:t>
                      </a:r>
                    </a:p>
                  </a:txBody>
                  <a:tcPr/>
                </a:tc>
                <a:tc>
                  <a:txBody>
                    <a:bodyPr/>
                    <a:lstStyle/>
                    <a:p>
                      <a:pPr lvl="0">
                        <a:buNone/>
                      </a:pPr>
                      <a:r>
                        <a:rPr lang="en-US" dirty="0"/>
                        <a:t>This is used to display an alert box with a specified output and Ok button.</a:t>
                      </a:r>
                    </a:p>
                  </a:txBody>
                  <a:tcPr/>
                </a:tc>
                <a:extLst>
                  <a:ext uri="{0D108BD9-81ED-4DB2-BD59-A6C34878D82A}">
                    <a16:rowId xmlns:a16="http://schemas.microsoft.com/office/drawing/2014/main" val="3095820679"/>
                  </a:ext>
                </a:extLst>
              </a:tr>
              <a:tr h="370839">
                <a:tc>
                  <a:txBody>
                    <a:bodyPr/>
                    <a:lstStyle/>
                    <a:p>
                      <a:pPr lvl="0">
                        <a:buNone/>
                      </a:pPr>
                      <a:r>
                        <a:rPr lang="en-US" dirty="0" err="1"/>
                        <a:t>window.print</a:t>
                      </a:r>
                      <a:r>
                        <a:rPr lang="en-US" dirty="0"/>
                        <a:t>()</a:t>
                      </a:r>
                    </a:p>
                  </a:txBody>
                  <a:tcPr/>
                </a:tc>
                <a:tc>
                  <a:txBody>
                    <a:bodyPr/>
                    <a:lstStyle/>
                    <a:p>
                      <a:pPr lvl="0">
                        <a:buNone/>
                      </a:pPr>
                      <a:r>
                        <a:rPr lang="en-US" dirty="0"/>
                        <a:t>This is used to open the browser's print dialog, allowing the user to print the current page.</a:t>
                      </a:r>
                    </a:p>
                  </a:txBody>
                  <a:tcPr/>
                </a:tc>
                <a:extLst>
                  <a:ext uri="{0D108BD9-81ED-4DB2-BD59-A6C34878D82A}">
                    <a16:rowId xmlns:a16="http://schemas.microsoft.com/office/drawing/2014/main" val="910275672"/>
                  </a:ext>
                </a:extLst>
              </a:tr>
              <a:tr h="370838">
                <a:tc>
                  <a:txBody>
                    <a:bodyPr/>
                    <a:lstStyle/>
                    <a:p>
                      <a:pPr lvl="0">
                        <a:buNone/>
                      </a:pPr>
                      <a:r>
                        <a:rPr lang="en-US" err="1"/>
                        <a:t>window.prompt</a:t>
                      </a:r>
                      <a:r>
                        <a:rPr lang="en-US" dirty="0"/>
                        <a:t>()</a:t>
                      </a:r>
                    </a:p>
                  </a:txBody>
                  <a:tcPr/>
                </a:tc>
                <a:tc>
                  <a:txBody>
                    <a:bodyPr/>
                    <a:lstStyle/>
                    <a:p>
                      <a:pPr lvl="0">
                        <a:buNone/>
                      </a:pPr>
                      <a:r>
                        <a:rPr lang="en-US" dirty="0"/>
                        <a:t>This is used to display a dialog that prompts the user input.</a:t>
                      </a:r>
                    </a:p>
                  </a:txBody>
                  <a:tcPr/>
                </a:tc>
                <a:extLst>
                  <a:ext uri="{0D108BD9-81ED-4DB2-BD59-A6C34878D82A}">
                    <a16:rowId xmlns:a16="http://schemas.microsoft.com/office/drawing/2014/main" val="84369492"/>
                  </a:ext>
                </a:extLst>
              </a:tr>
            </a:tbl>
          </a:graphicData>
        </a:graphic>
      </p:graphicFrame>
    </p:spTree>
    <p:extLst>
      <p:ext uri="{BB962C8B-B14F-4D97-AF65-F5344CB8AC3E}">
        <p14:creationId xmlns:p14="http://schemas.microsoft.com/office/powerpoint/2010/main" val="913312620"/>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091B978B-528D-501A-0E05-C466A6FE7A19}"/>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3D3A11B0-FB45-B91F-8EE8-411D2806D952}"/>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90FD2FDF-6B22-10CA-7036-790C56A19413}"/>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JavaScript Variables and Datatypes</a:t>
            </a:r>
            <a:endParaRPr lang="en-US" dirty="0"/>
          </a:p>
        </p:txBody>
      </p:sp>
      <p:sp>
        <p:nvSpPr>
          <p:cNvPr id="14" name="TextBox 13">
            <a:extLst>
              <a:ext uri="{FF2B5EF4-FFF2-40B4-BE49-F238E27FC236}">
                <a16:creationId xmlns:a16="http://schemas.microsoft.com/office/drawing/2014/main" id="{2CC7CF96-34EC-C202-5354-339007234565}"/>
              </a:ext>
            </a:extLst>
          </p:cNvPr>
          <p:cNvSpPr txBox="1"/>
          <p:nvPr/>
        </p:nvSpPr>
        <p:spPr>
          <a:xfrm>
            <a:off x="648636" y="977827"/>
            <a:ext cx="1090308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JavaScript variables and data types are foundational concepts of programming language, which serving as the building blocks for storing and manipulating information within program.</a:t>
            </a:r>
          </a:p>
          <a:p>
            <a:pPr marL="285750" indent="-285750">
              <a:buFont typeface="Arial"/>
              <a:buChar char="•"/>
            </a:pPr>
            <a:endParaRPr lang="en-US" dirty="0"/>
          </a:p>
          <a:p>
            <a:r>
              <a:rPr lang="en-US" b="1" dirty="0"/>
              <a:t>Variables</a:t>
            </a:r>
          </a:p>
          <a:p>
            <a:endParaRPr lang="en-US" b="1" dirty="0"/>
          </a:p>
          <a:p>
            <a:pPr marL="285750" indent="-285750">
              <a:buFont typeface="Arial"/>
              <a:buChar char="•"/>
            </a:pPr>
            <a:r>
              <a:rPr lang="en-US" dirty="0"/>
              <a:t>Variables is like a container that holds data that can be reused or updated later in the program.</a:t>
            </a:r>
          </a:p>
          <a:p>
            <a:pPr marL="285750" indent="-285750">
              <a:buFont typeface="Arial"/>
              <a:buChar char="•"/>
            </a:pPr>
            <a:endParaRPr lang="en-US" dirty="0"/>
          </a:p>
          <a:p>
            <a:pPr marL="285750" indent="-285750">
              <a:buFont typeface="Arial"/>
              <a:buChar char="•"/>
            </a:pPr>
            <a:r>
              <a:rPr lang="en-US" dirty="0"/>
              <a:t>In JavaScript, variables are declared using the keywords </a:t>
            </a:r>
            <a:r>
              <a:rPr lang="en-US" b="1" i="1" dirty="0"/>
              <a:t>var, let</a:t>
            </a:r>
            <a:r>
              <a:rPr lang="en-US" dirty="0"/>
              <a:t> and </a:t>
            </a:r>
            <a:r>
              <a:rPr lang="en-US" b="1" i="1" dirty="0"/>
              <a:t>const</a:t>
            </a:r>
            <a:r>
              <a:rPr lang="en-US" dirty="0"/>
              <a:t>.</a:t>
            </a:r>
          </a:p>
        </p:txBody>
      </p:sp>
      <p:graphicFrame>
        <p:nvGraphicFramePr>
          <p:cNvPr id="4" name="Table 3">
            <a:extLst>
              <a:ext uri="{FF2B5EF4-FFF2-40B4-BE49-F238E27FC236}">
                <a16:creationId xmlns:a16="http://schemas.microsoft.com/office/drawing/2014/main" id="{994FD9B6-B59F-31AE-295F-A0E9E07D00E2}"/>
              </a:ext>
            </a:extLst>
          </p:cNvPr>
          <p:cNvGraphicFramePr>
            <a:graphicFrameLocks noGrp="1"/>
          </p:cNvGraphicFramePr>
          <p:nvPr>
            <p:extLst>
              <p:ext uri="{D42A27DB-BD31-4B8C-83A1-F6EECF244321}">
                <p14:modId xmlns:p14="http://schemas.microsoft.com/office/powerpoint/2010/main" val="2241846971"/>
              </p:ext>
            </p:extLst>
          </p:nvPr>
        </p:nvGraphicFramePr>
        <p:xfrm>
          <a:off x="1144690" y="3685501"/>
          <a:ext cx="9880406" cy="1812065"/>
        </p:xfrm>
        <a:graphic>
          <a:graphicData uri="http://schemas.openxmlformats.org/drawingml/2006/table">
            <a:tbl>
              <a:tblPr firstRow="1" bandRow="1">
                <a:tableStyleId>{5C22544A-7EE6-4342-B048-85BDC9FD1C3A}</a:tableStyleId>
              </a:tblPr>
              <a:tblGrid>
                <a:gridCol w="2116094">
                  <a:extLst>
                    <a:ext uri="{9D8B030D-6E8A-4147-A177-3AD203B41FA5}">
                      <a16:colId xmlns:a16="http://schemas.microsoft.com/office/drawing/2014/main" val="3232426388"/>
                    </a:ext>
                  </a:extLst>
                </a:gridCol>
                <a:gridCol w="7764312">
                  <a:extLst>
                    <a:ext uri="{9D8B030D-6E8A-4147-A177-3AD203B41FA5}">
                      <a16:colId xmlns:a16="http://schemas.microsoft.com/office/drawing/2014/main" val="4197912981"/>
                    </a:ext>
                  </a:extLst>
                </a:gridCol>
              </a:tblGrid>
              <a:tr h="430305">
                <a:tc>
                  <a:txBody>
                    <a:bodyPr/>
                    <a:lstStyle/>
                    <a:p>
                      <a:pPr algn="ctr"/>
                      <a:r>
                        <a:rPr lang="en-US" dirty="0"/>
                        <a:t>Keywords</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var</a:t>
                      </a:r>
                    </a:p>
                  </a:txBody>
                  <a:tcPr/>
                </a:tc>
                <a:tc>
                  <a:txBody>
                    <a:bodyPr/>
                    <a:lstStyle/>
                    <a:p>
                      <a:pPr lvl="0">
                        <a:buNone/>
                      </a:pPr>
                      <a:r>
                        <a:rPr lang="en-US" dirty="0"/>
                        <a:t>Used to declare a variable. It has function-scoped or globally-scoped.</a:t>
                      </a:r>
                    </a:p>
                  </a:txBody>
                  <a:tcPr/>
                </a:tc>
                <a:extLst>
                  <a:ext uri="{0D108BD9-81ED-4DB2-BD59-A6C34878D82A}">
                    <a16:rowId xmlns:a16="http://schemas.microsoft.com/office/drawing/2014/main" val="1534733952"/>
                  </a:ext>
                </a:extLst>
              </a:tr>
              <a:tr h="370840">
                <a:tc>
                  <a:txBody>
                    <a:bodyPr/>
                    <a:lstStyle/>
                    <a:p>
                      <a:r>
                        <a:rPr lang="en-US" dirty="0"/>
                        <a:t>let</a:t>
                      </a:r>
                    </a:p>
                  </a:txBody>
                  <a:tcPr/>
                </a:tc>
                <a:tc>
                  <a:txBody>
                    <a:bodyPr/>
                    <a:lstStyle/>
                    <a:p>
                      <a:pPr lvl="0">
                        <a:buNone/>
                      </a:pPr>
                      <a:r>
                        <a:rPr lang="en-US" dirty="0"/>
                        <a:t>Introduced in ES6, has a block scope and cannot be re-declared in the same scope.</a:t>
                      </a:r>
                    </a:p>
                  </a:txBody>
                  <a:tcPr/>
                </a:tc>
                <a:extLst>
                  <a:ext uri="{0D108BD9-81ED-4DB2-BD59-A6C34878D82A}">
                    <a16:rowId xmlns:a16="http://schemas.microsoft.com/office/drawing/2014/main" val="3671367115"/>
                  </a:ext>
                </a:extLst>
              </a:tr>
              <a:tr h="370840">
                <a:tc>
                  <a:txBody>
                    <a:bodyPr/>
                    <a:lstStyle/>
                    <a:p>
                      <a:r>
                        <a:rPr lang="en-US" dirty="0"/>
                        <a:t>const</a:t>
                      </a:r>
                    </a:p>
                  </a:txBody>
                  <a:tcPr/>
                </a:tc>
                <a:tc>
                  <a:txBody>
                    <a:bodyPr/>
                    <a:lstStyle/>
                    <a:p>
                      <a:pPr lvl="0">
                        <a:buNone/>
                      </a:pPr>
                      <a:r>
                        <a:rPr lang="en-US" dirty="0"/>
                        <a:t>Declares variables that cannot be reassigned. It's block-scoped as well.</a:t>
                      </a:r>
                    </a:p>
                  </a:txBody>
                  <a:tcPr/>
                </a:tc>
                <a:extLst>
                  <a:ext uri="{0D108BD9-81ED-4DB2-BD59-A6C34878D82A}">
                    <a16:rowId xmlns:a16="http://schemas.microsoft.com/office/drawing/2014/main" val="3618890050"/>
                  </a:ext>
                </a:extLst>
              </a:tr>
            </a:tbl>
          </a:graphicData>
        </a:graphic>
      </p:graphicFrame>
    </p:spTree>
    <p:extLst>
      <p:ext uri="{BB962C8B-B14F-4D97-AF65-F5344CB8AC3E}">
        <p14:creationId xmlns:p14="http://schemas.microsoft.com/office/powerpoint/2010/main" val="315103017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9665F22C-4F92-6A78-6AF3-0DCAA46B31F9}"/>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183CC981-850D-7871-D96C-27B87400341B}"/>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37A301B0-9FDF-E388-E326-E97ACE4F117A}"/>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JavaScript Variables and Datatypes</a:t>
            </a:r>
            <a:endParaRPr lang="en-US" dirty="0"/>
          </a:p>
        </p:txBody>
      </p:sp>
      <p:sp>
        <p:nvSpPr>
          <p:cNvPr id="14" name="TextBox 13">
            <a:extLst>
              <a:ext uri="{FF2B5EF4-FFF2-40B4-BE49-F238E27FC236}">
                <a16:creationId xmlns:a16="http://schemas.microsoft.com/office/drawing/2014/main" id="{D66B5569-0093-BD49-B39A-76F9123A09EC}"/>
              </a:ext>
            </a:extLst>
          </p:cNvPr>
          <p:cNvSpPr txBox="1"/>
          <p:nvPr/>
        </p:nvSpPr>
        <p:spPr>
          <a:xfrm>
            <a:off x="648636" y="977827"/>
            <a:ext cx="1090308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Data Types</a:t>
            </a:r>
            <a:endParaRPr lang="en-US" dirty="0"/>
          </a:p>
          <a:p>
            <a:endParaRPr lang="en-US" b="1" dirty="0"/>
          </a:p>
          <a:p>
            <a:pPr marL="285750" indent="-285750">
              <a:buFont typeface="Arial"/>
              <a:buChar char="•"/>
            </a:pPr>
            <a:r>
              <a:rPr lang="en-US" dirty="0"/>
              <a:t>JavaScript supports various datatypes, which can be broadly categorized into </a:t>
            </a:r>
            <a:r>
              <a:rPr lang="en-US" b="1" i="1" dirty="0"/>
              <a:t>primitive</a:t>
            </a:r>
            <a:r>
              <a:rPr lang="en-US" dirty="0"/>
              <a:t> and </a:t>
            </a:r>
            <a:r>
              <a:rPr lang="en-US" b="1" i="1" dirty="0"/>
              <a:t>non-primitive</a:t>
            </a:r>
            <a:r>
              <a:rPr lang="en-US" dirty="0"/>
              <a:t> types. </a:t>
            </a:r>
          </a:p>
          <a:p>
            <a:pPr marL="285750" indent="-285750">
              <a:buFont typeface="Arial"/>
              <a:buChar char="•"/>
            </a:pPr>
            <a:endParaRPr lang="en-US" dirty="0"/>
          </a:p>
          <a:p>
            <a:r>
              <a:rPr lang="en-US" b="1" dirty="0"/>
              <a:t>Primitive Types</a:t>
            </a:r>
          </a:p>
          <a:p>
            <a:pPr marL="285750" indent="-285750">
              <a:buFont typeface="Arial"/>
              <a:buChar char="•"/>
            </a:pPr>
            <a:endParaRPr lang="en-US" dirty="0"/>
          </a:p>
        </p:txBody>
      </p:sp>
      <p:graphicFrame>
        <p:nvGraphicFramePr>
          <p:cNvPr id="4" name="Table 3">
            <a:extLst>
              <a:ext uri="{FF2B5EF4-FFF2-40B4-BE49-F238E27FC236}">
                <a16:creationId xmlns:a16="http://schemas.microsoft.com/office/drawing/2014/main" id="{B61411BC-DBAC-3F24-6FD9-60F8F64A8BB5}"/>
              </a:ext>
            </a:extLst>
          </p:cNvPr>
          <p:cNvGraphicFramePr>
            <a:graphicFrameLocks noGrp="1"/>
          </p:cNvGraphicFramePr>
          <p:nvPr>
            <p:extLst>
              <p:ext uri="{D42A27DB-BD31-4B8C-83A1-F6EECF244321}">
                <p14:modId xmlns:p14="http://schemas.microsoft.com/office/powerpoint/2010/main" val="1411822000"/>
              </p:ext>
            </p:extLst>
          </p:nvPr>
        </p:nvGraphicFramePr>
        <p:xfrm>
          <a:off x="794582" y="3005879"/>
          <a:ext cx="9880406" cy="3026178"/>
        </p:xfrm>
        <a:graphic>
          <a:graphicData uri="http://schemas.openxmlformats.org/drawingml/2006/table">
            <a:tbl>
              <a:tblPr firstRow="1" bandRow="1">
                <a:tableStyleId>{5C22544A-7EE6-4342-B048-85BDC9FD1C3A}</a:tableStyleId>
              </a:tblPr>
              <a:tblGrid>
                <a:gridCol w="2116094">
                  <a:extLst>
                    <a:ext uri="{9D8B030D-6E8A-4147-A177-3AD203B41FA5}">
                      <a16:colId xmlns:a16="http://schemas.microsoft.com/office/drawing/2014/main" val="3232426388"/>
                    </a:ext>
                  </a:extLst>
                </a:gridCol>
                <a:gridCol w="7764312">
                  <a:extLst>
                    <a:ext uri="{9D8B030D-6E8A-4147-A177-3AD203B41FA5}">
                      <a16:colId xmlns:a16="http://schemas.microsoft.com/office/drawing/2014/main" val="4197912981"/>
                    </a:ext>
                  </a:extLst>
                </a:gridCol>
              </a:tblGrid>
              <a:tr h="430305">
                <a:tc>
                  <a:txBody>
                    <a:bodyPr/>
                    <a:lstStyle/>
                    <a:p>
                      <a:pPr algn="ctr"/>
                      <a:r>
                        <a:rPr lang="en-US" dirty="0"/>
                        <a:t>Type</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Number</a:t>
                      </a:r>
                    </a:p>
                  </a:txBody>
                  <a:tcPr/>
                </a:tc>
                <a:tc>
                  <a:txBody>
                    <a:bodyPr/>
                    <a:lstStyle/>
                    <a:p>
                      <a:pPr lvl="0">
                        <a:buNone/>
                      </a:pPr>
                      <a:r>
                        <a:rPr lang="en-US" dirty="0"/>
                        <a:t>Represents numeric values (integers or decimals).</a:t>
                      </a:r>
                    </a:p>
                  </a:txBody>
                  <a:tcPr/>
                </a:tc>
                <a:extLst>
                  <a:ext uri="{0D108BD9-81ED-4DB2-BD59-A6C34878D82A}">
                    <a16:rowId xmlns:a16="http://schemas.microsoft.com/office/drawing/2014/main" val="1534733952"/>
                  </a:ext>
                </a:extLst>
              </a:tr>
              <a:tr h="370840">
                <a:tc>
                  <a:txBody>
                    <a:bodyPr/>
                    <a:lstStyle/>
                    <a:p>
                      <a:pPr lvl="0">
                        <a:buNone/>
                      </a:pPr>
                      <a:r>
                        <a:rPr lang="en-US" dirty="0"/>
                        <a:t>String</a:t>
                      </a:r>
                    </a:p>
                  </a:txBody>
                  <a:tcPr/>
                </a:tc>
                <a:tc>
                  <a:txBody>
                    <a:bodyPr/>
                    <a:lstStyle/>
                    <a:p>
                      <a:pPr lvl="0">
                        <a:buNone/>
                      </a:pPr>
                      <a:r>
                        <a:rPr lang="en-US" dirty="0"/>
                        <a:t>Represents text enclosed in single or double quotes.</a:t>
                      </a:r>
                    </a:p>
                  </a:txBody>
                  <a:tcPr/>
                </a:tc>
                <a:extLst>
                  <a:ext uri="{0D108BD9-81ED-4DB2-BD59-A6C34878D82A}">
                    <a16:rowId xmlns:a16="http://schemas.microsoft.com/office/drawing/2014/main" val="3671367115"/>
                  </a:ext>
                </a:extLst>
              </a:tr>
              <a:tr h="370840">
                <a:tc>
                  <a:txBody>
                    <a:bodyPr/>
                    <a:lstStyle/>
                    <a:p>
                      <a:pPr lvl="0">
                        <a:buNone/>
                      </a:pPr>
                      <a:r>
                        <a:rPr lang="en-US" dirty="0"/>
                        <a:t>Boolean</a:t>
                      </a:r>
                    </a:p>
                  </a:txBody>
                  <a:tcPr/>
                </a:tc>
                <a:tc>
                  <a:txBody>
                    <a:bodyPr/>
                    <a:lstStyle/>
                    <a:p>
                      <a:pPr lvl="0">
                        <a:buNone/>
                      </a:pPr>
                      <a:r>
                        <a:rPr lang="en-US" dirty="0"/>
                        <a:t>Represents a logical value.</a:t>
                      </a:r>
                    </a:p>
                  </a:txBody>
                  <a:tcPr/>
                </a:tc>
                <a:extLst>
                  <a:ext uri="{0D108BD9-81ED-4DB2-BD59-A6C34878D82A}">
                    <a16:rowId xmlns:a16="http://schemas.microsoft.com/office/drawing/2014/main" val="3618890050"/>
                  </a:ext>
                </a:extLst>
              </a:tr>
              <a:tr h="370839">
                <a:tc>
                  <a:txBody>
                    <a:bodyPr/>
                    <a:lstStyle/>
                    <a:p>
                      <a:pPr lvl="0">
                        <a:buNone/>
                      </a:pPr>
                      <a:r>
                        <a:rPr lang="en-US" dirty="0"/>
                        <a:t>Undefined</a:t>
                      </a:r>
                    </a:p>
                  </a:txBody>
                  <a:tcPr/>
                </a:tc>
                <a:tc>
                  <a:txBody>
                    <a:bodyPr/>
                    <a:lstStyle/>
                    <a:p>
                      <a:pPr lvl="0">
                        <a:buNone/>
                      </a:pPr>
                      <a:r>
                        <a:rPr lang="en-US" dirty="0"/>
                        <a:t>A variable that has been declared but not assigned a value.</a:t>
                      </a:r>
                    </a:p>
                  </a:txBody>
                  <a:tcPr/>
                </a:tc>
                <a:extLst>
                  <a:ext uri="{0D108BD9-81ED-4DB2-BD59-A6C34878D82A}">
                    <a16:rowId xmlns:a16="http://schemas.microsoft.com/office/drawing/2014/main" val="1452888249"/>
                  </a:ext>
                </a:extLst>
              </a:tr>
              <a:tr h="370838">
                <a:tc>
                  <a:txBody>
                    <a:bodyPr/>
                    <a:lstStyle/>
                    <a:p>
                      <a:pPr lvl="0">
                        <a:buNone/>
                      </a:pPr>
                      <a:r>
                        <a:rPr lang="en-US" dirty="0"/>
                        <a:t>Null</a:t>
                      </a:r>
                    </a:p>
                  </a:txBody>
                  <a:tcPr/>
                </a:tc>
                <a:tc>
                  <a:txBody>
                    <a:bodyPr/>
                    <a:lstStyle/>
                    <a:p>
                      <a:pPr lvl="0">
                        <a:buNone/>
                      </a:pPr>
                      <a:r>
                        <a:rPr lang="en-US" dirty="0"/>
                        <a:t>Represents an intentional absence of any value.</a:t>
                      </a:r>
                    </a:p>
                  </a:txBody>
                  <a:tcPr/>
                </a:tc>
                <a:extLst>
                  <a:ext uri="{0D108BD9-81ED-4DB2-BD59-A6C34878D82A}">
                    <a16:rowId xmlns:a16="http://schemas.microsoft.com/office/drawing/2014/main" val="2202079437"/>
                  </a:ext>
                </a:extLst>
              </a:tr>
              <a:tr h="370838">
                <a:tc>
                  <a:txBody>
                    <a:bodyPr/>
                    <a:lstStyle/>
                    <a:p>
                      <a:pPr lvl="0">
                        <a:buNone/>
                      </a:pPr>
                      <a:r>
                        <a:rPr lang="en-US" dirty="0"/>
                        <a:t>Symbol</a:t>
                      </a:r>
                    </a:p>
                  </a:txBody>
                  <a:tcPr/>
                </a:tc>
                <a:tc>
                  <a:txBody>
                    <a:bodyPr/>
                    <a:lstStyle/>
                    <a:p>
                      <a:pPr lvl="0">
                        <a:buNone/>
                      </a:pPr>
                      <a:r>
                        <a:rPr lang="en-US" dirty="0"/>
                        <a:t>Represents unique and immutable values, often used as object keys.</a:t>
                      </a:r>
                    </a:p>
                  </a:txBody>
                  <a:tcPr/>
                </a:tc>
                <a:extLst>
                  <a:ext uri="{0D108BD9-81ED-4DB2-BD59-A6C34878D82A}">
                    <a16:rowId xmlns:a16="http://schemas.microsoft.com/office/drawing/2014/main" val="933275637"/>
                  </a:ext>
                </a:extLst>
              </a:tr>
              <a:tr h="370838">
                <a:tc>
                  <a:txBody>
                    <a:bodyPr/>
                    <a:lstStyle/>
                    <a:p>
                      <a:pPr lvl="0">
                        <a:buNone/>
                      </a:pPr>
                      <a:r>
                        <a:rPr lang="en-US" dirty="0" err="1"/>
                        <a:t>BigInt</a:t>
                      </a:r>
                    </a:p>
                  </a:txBody>
                  <a:tcPr/>
                </a:tc>
                <a:tc>
                  <a:txBody>
                    <a:bodyPr/>
                    <a:lstStyle/>
                    <a:p>
                      <a:pPr lvl="0">
                        <a:buNone/>
                      </a:pPr>
                      <a:r>
                        <a:rPr lang="en-US" dirty="0"/>
                        <a:t>Represent integers larger than </a:t>
                      </a:r>
                      <a:r>
                        <a:rPr lang="en-US" dirty="0" err="1"/>
                        <a:t>Number.MAX_SAFE_INTEGER</a:t>
                      </a:r>
                      <a:r>
                        <a:rPr lang="en-US" dirty="0"/>
                        <a:t>.</a:t>
                      </a:r>
                    </a:p>
                  </a:txBody>
                  <a:tcPr/>
                </a:tc>
                <a:extLst>
                  <a:ext uri="{0D108BD9-81ED-4DB2-BD59-A6C34878D82A}">
                    <a16:rowId xmlns:a16="http://schemas.microsoft.com/office/drawing/2014/main" val="4198035555"/>
                  </a:ext>
                </a:extLst>
              </a:tr>
            </a:tbl>
          </a:graphicData>
        </a:graphic>
      </p:graphicFrame>
    </p:spTree>
    <p:extLst>
      <p:ext uri="{BB962C8B-B14F-4D97-AF65-F5344CB8AC3E}">
        <p14:creationId xmlns:p14="http://schemas.microsoft.com/office/powerpoint/2010/main" val="3108719198"/>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a:extLst>
            <a:ext uri="{FF2B5EF4-FFF2-40B4-BE49-F238E27FC236}">
              <a16:creationId xmlns:a16="http://schemas.microsoft.com/office/drawing/2014/main" id="{832B877E-F71C-4EFB-6BB4-F480BFC5EF01}"/>
            </a:ext>
          </a:extLst>
        </p:cNvPr>
        <p:cNvGrpSpPr/>
        <p:nvPr/>
      </p:nvGrpSpPr>
      <p:grpSpPr>
        <a:xfrm>
          <a:off x="0" y="0"/>
          <a:ext cx="0" cy="0"/>
          <a:chOff x="0" y="0"/>
          <a:chExt cx="0" cy="0"/>
        </a:xfrm>
      </p:grpSpPr>
      <p:sp>
        <p:nvSpPr>
          <p:cNvPr id="14338" name="Text Box 1">
            <a:extLst>
              <a:ext uri="{FF2B5EF4-FFF2-40B4-BE49-F238E27FC236}">
                <a16:creationId xmlns:a16="http://schemas.microsoft.com/office/drawing/2014/main" id="{E111184D-4976-48F6-69BB-AA2A3CCE953E}"/>
              </a:ext>
            </a:extLst>
          </p:cNvPr>
          <p:cNvSpPr txBox="1">
            <a:spLocks noChangeArrowheads="1"/>
          </p:cNvSpPr>
          <p:nvPr/>
        </p:nvSpPr>
        <p:spPr bwMode="auto">
          <a:xfrm>
            <a:off x="9144000" y="6553200"/>
            <a:ext cx="1524000"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100">
                <a:solidFill>
                  <a:srgbClr val="00B0F0"/>
                </a:solidFill>
                <a:latin typeface="Tahoma" panose="020B0604030504040204" pitchFamily="34" charset="0"/>
                <a:cs typeface="Tahoma" panose="020B0604030504040204" pitchFamily="34" charset="0"/>
              </a:rPr>
              <a:t>TCS Internal</a:t>
            </a:r>
          </a:p>
        </p:txBody>
      </p:sp>
      <p:sp>
        <p:nvSpPr>
          <p:cNvPr id="2" name="TextBox 1">
            <a:extLst>
              <a:ext uri="{FF2B5EF4-FFF2-40B4-BE49-F238E27FC236}">
                <a16:creationId xmlns:a16="http://schemas.microsoft.com/office/drawing/2014/main" id="{50A20565-944D-326B-0449-2246345D59EA}"/>
              </a:ext>
            </a:extLst>
          </p:cNvPr>
          <p:cNvSpPr txBox="1"/>
          <p:nvPr/>
        </p:nvSpPr>
        <p:spPr>
          <a:xfrm>
            <a:off x="1282424" y="53080"/>
            <a:ext cx="9745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chemeClr val="bg1"/>
                </a:solidFill>
                <a:latin typeface="Tahoma"/>
                <a:cs typeface="Arial"/>
              </a:rPr>
              <a:t>JavaScript Variables and Datatypes</a:t>
            </a:r>
            <a:endParaRPr lang="en-US" dirty="0"/>
          </a:p>
        </p:txBody>
      </p:sp>
      <p:sp>
        <p:nvSpPr>
          <p:cNvPr id="14" name="TextBox 13">
            <a:extLst>
              <a:ext uri="{FF2B5EF4-FFF2-40B4-BE49-F238E27FC236}">
                <a16:creationId xmlns:a16="http://schemas.microsoft.com/office/drawing/2014/main" id="{47E62F26-EBC4-72A7-832C-03BF7A96BA73}"/>
              </a:ext>
            </a:extLst>
          </p:cNvPr>
          <p:cNvSpPr txBox="1"/>
          <p:nvPr/>
        </p:nvSpPr>
        <p:spPr>
          <a:xfrm>
            <a:off x="792798" y="1842800"/>
            <a:ext cx="109030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Non-Primitive Types</a:t>
            </a:r>
            <a:endParaRPr lang="en-US" dirty="0"/>
          </a:p>
        </p:txBody>
      </p:sp>
      <p:graphicFrame>
        <p:nvGraphicFramePr>
          <p:cNvPr id="4" name="Table 3">
            <a:extLst>
              <a:ext uri="{FF2B5EF4-FFF2-40B4-BE49-F238E27FC236}">
                <a16:creationId xmlns:a16="http://schemas.microsoft.com/office/drawing/2014/main" id="{3296C85C-3F9C-2FC9-E46A-F12BBC3ABA73}"/>
              </a:ext>
            </a:extLst>
          </p:cNvPr>
          <p:cNvGraphicFramePr>
            <a:graphicFrameLocks noGrp="1"/>
          </p:cNvGraphicFramePr>
          <p:nvPr>
            <p:extLst>
              <p:ext uri="{D42A27DB-BD31-4B8C-83A1-F6EECF244321}">
                <p14:modId xmlns:p14="http://schemas.microsoft.com/office/powerpoint/2010/main" val="574256231"/>
              </p:ext>
            </p:extLst>
          </p:nvPr>
        </p:nvGraphicFramePr>
        <p:xfrm>
          <a:off x="794582" y="2655771"/>
          <a:ext cx="9880406" cy="1542825"/>
        </p:xfrm>
        <a:graphic>
          <a:graphicData uri="http://schemas.openxmlformats.org/drawingml/2006/table">
            <a:tbl>
              <a:tblPr firstRow="1" bandRow="1">
                <a:tableStyleId>{5C22544A-7EE6-4342-B048-85BDC9FD1C3A}</a:tableStyleId>
              </a:tblPr>
              <a:tblGrid>
                <a:gridCol w="2116094">
                  <a:extLst>
                    <a:ext uri="{9D8B030D-6E8A-4147-A177-3AD203B41FA5}">
                      <a16:colId xmlns:a16="http://schemas.microsoft.com/office/drawing/2014/main" val="3232426388"/>
                    </a:ext>
                  </a:extLst>
                </a:gridCol>
                <a:gridCol w="7764312">
                  <a:extLst>
                    <a:ext uri="{9D8B030D-6E8A-4147-A177-3AD203B41FA5}">
                      <a16:colId xmlns:a16="http://schemas.microsoft.com/office/drawing/2014/main" val="4197912981"/>
                    </a:ext>
                  </a:extLst>
                </a:gridCol>
              </a:tblGrid>
              <a:tr h="430305">
                <a:tc>
                  <a:txBody>
                    <a:bodyPr/>
                    <a:lstStyle/>
                    <a:p>
                      <a:pPr algn="ctr"/>
                      <a:r>
                        <a:rPr lang="en-US" dirty="0"/>
                        <a:t>Type</a:t>
                      </a:r>
                    </a:p>
                  </a:txBody>
                  <a:tcPr anchor="ctr"/>
                </a:tc>
                <a:tc>
                  <a:txBody>
                    <a:bodyPr/>
                    <a:lstStyle/>
                    <a:p>
                      <a:pPr algn="ctr"/>
                      <a:r>
                        <a:rPr lang="en-US" dirty="0"/>
                        <a:t>Description</a:t>
                      </a:r>
                    </a:p>
                  </a:txBody>
                  <a:tcPr anchor="ctr"/>
                </a:tc>
                <a:extLst>
                  <a:ext uri="{0D108BD9-81ED-4DB2-BD59-A6C34878D82A}">
                    <a16:rowId xmlns:a16="http://schemas.microsoft.com/office/drawing/2014/main" val="2888526143"/>
                  </a:ext>
                </a:extLst>
              </a:tr>
              <a:tr h="370840">
                <a:tc>
                  <a:txBody>
                    <a:bodyPr/>
                    <a:lstStyle/>
                    <a:p>
                      <a:r>
                        <a:rPr lang="en-US" dirty="0"/>
                        <a:t>Object</a:t>
                      </a:r>
                    </a:p>
                  </a:txBody>
                  <a:tcPr/>
                </a:tc>
                <a:tc>
                  <a:txBody>
                    <a:bodyPr/>
                    <a:lstStyle/>
                    <a:p>
                      <a:pPr lvl="0">
                        <a:buNone/>
                      </a:pPr>
                      <a:r>
                        <a:rPr lang="en-US" dirty="0"/>
                        <a:t>Represents collection of data or more complex entities.</a:t>
                      </a:r>
                    </a:p>
                  </a:txBody>
                  <a:tcPr/>
                </a:tc>
                <a:extLst>
                  <a:ext uri="{0D108BD9-81ED-4DB2-BD59-A6C34878D82A}">
                    <a16:rowId xmlns:a16="http://schemas.microsoft.com/office/drawing/2014/main" val="1534733952"/>
                  </a:ext>
                </a:extLst>
              </a:tr>
              <a:tr h="370840">
                <a:tc>
                  <a:txBody>
                    <a:bodyPr/>
                    <a:lstStyle/>
                    <a:p>
                      <a:pPr lvl="0">
                        <a:buNone/>
                      </a:pPr>
                      <a:r>
                        <a:rPr lang="en-US" dirty="0"/>
                        <a:t>Array</a:t>
                      </a:r>
                    </a:p>
                  </a:txBody>
                  <a:tcPr/>
                </a:tc>
                <a:tc>
                  <a:txBody>
                    <a:bodyPr/>
                    <a:lstStyle/>
                    <a:p>
                      <a:pPr lvl="0">
                        <a:buNone/>
                      </a:pPr>
                      <a:r>
                        <a:rPr lang="en-US" dirty="0"/>
                        <a:t>Represents an ordered list of values.</a:t>
                      </a:r>
                    </a:p>
                  </a:txBody>
                  <a:tcPr/>
                </a:tc>
                <a:extLst>
                  <a:ext uri="{0D108BD9-81ED-4DB2-BD59-A6C34878D82A}">
                    <a16:rowId xmlns:a16="http://schemas.microsoft.com/office/drawing/2014/main" val="3671367115"/>
                  </a:ext>
                </a:extLst>
              </a:tr>
              <a:tr h="370840">
                <a:tc>
                  <a:txBody>
                    <a:bodyPr/>
                    <a:lstStyle/>
                    <a:p>
                      <a:pPr lvl="0">
                        <a:buNone/>
                      </a:pPr>
                      <a:r>
                        <a:rPr lang="en-US" dirty="0"/>
                        <a:t>Function</a:t>
                      </a:r>
                    </a:p>
                  </a:txBody>
                  <a:tcPr/>
                </a:tc>
                <a:tc>
                  <a:txBody>
                    <a:bodyPr/>
                    <a:lstStyle/>
                    <a:p>
                      <a:pPr lvl="0">
                        <a:buNone/>
                      </a:pPr>
                      <a:r>
                        <a:rPr lang="en-US" dirty="0"/>
                        <a:t>Represents reusable block of code.</a:t>
                      </a:r>
                    </a:p>
                  </a:txBody>
                  <a:tcPr/>
                </a:tc>
                <a:extLst>
                  <a:ext uri="{0D108BD9-81ED-4DB2-BD59-A6C34878D82A}">
                    <a16:rowId xmlns:a16="http://schemas.microsoft.com/office/drawing/2014/main" val="3618890050"/>
                  </a:ext>
                </a:extLst>
              </a:tr>
            </a:tbl>
          </a:graphicData>
        </a:graphic>
      </p:graphicFrame>
    </p:spTree>
    <p:extLst>
      <p:ext uri="{BB962C8B-B14F-4D97-AF65-F5344CB8AC3E}">
        <p14:creationId xmlns:p14="http://schemas.microsoft.com/office/powerpoint/2010/main" val="846817981"/>
      </p:ext>
    </p:extLst>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4800" b="1">
                <a:solidFill>
                  <a:srgbClr val="FFFFFF"/>
                </a:solidFill>
                <a:latin typeface="Constantia"/>
                <a:cs typeface="Arial"/>
              </a:rPr>
              <a:t>Thank You</a:t>
            </a:r>
            <a:endParaRPr lang="en-US" sz="4800">
              <a:latin typeface="Constantia"/>
            </a:endParaRPr>
          </a:p>
        </p:txBody>
      </p:sp>
    </p:spTree>
    <p:extLst>
      <p:ext uri="{BB962C8B-B14F-4D97-AF65-F5344CB8AC3E}">
        <p14:creationId xmlns:p14="http://schemas.microsoft.com/office/powerpoint/2010/main" val="7806816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Myriad Pro"/>
        <a:ea typeface="Microsoft YaHei"/>
        <a:cs typeface=""/>
      </a:majorFont>
      <a:minorFont>
        <a:latin typeface="Myriad Pro"/>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Myriad Pro"/>
        <a:ea typeface="Microsoft YaHei"/>
        <a:cs typeface=""/>
      </a:majorFont>
      <a:minorFont>
        <a:latin typeface="Myriad Pro"/>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CS Template 2012 (Arial)">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54</Slides>
  <Notes>53</Notes>
  <HiddenSlides>0</HiddenSlides>
  <MMClips>0</MMClips>
  <ScaleCrop>false</ScaleCrop>
  <HeadingPairs>
    <vt:vector size="4" baseType="variant">
      <vt:variant>
        <vt:lpstr>Theme</vt:lpstr>
      </vt:variant>
      <vt:variant>
        <vt:i4>3</vt:i4>
      </vt:variant>
      <vt:variant>
        <vt:lpstr>Slide Titles</vt:lpstr>
      </vt:variant>
      <vt:variant>
        <vt:i4>54</vt:i4>
      </vt:variant>
    </vt:vector>
  </HeadingPairs>
  <TitlesOfParts>
    <vt:vector size="57" baseType="lpstr">
      <vt:lpstr>Office Theme</vt:lpstr>
      <vt:lpstr>Office Theme</vt:lpstr>
      <vt:lpstr>TCS Template 2012 (Arial)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2526</cp:revision>
  <dcterms:created xsi:type="dcterms:W3CDTF">2023-04-15T02:12:25Z</dcterms:created>
  <dcterms:modified xsi:type="dcterms:W3CDTF">2026-05-05T16:09:09Z</dcterms:modified>
</cp:coreProperties>
</file>