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60" r:id="rId2"/>
  </p:sldMasterIdLst>
  <p:sldIdLst>
    <p:sldId id="257" r:id="rId3"/>
    <p:sldId id="258" r:id="rId4"/>
    <p:sldId id="271" r:id="rId5"/>
    <p:sldId id="272" r:id="rId6"/>
    <p:sldId id="273" r:id="rId7"/>
    <p:sldId id="274" r:id="rId8"/>
    <p:sldId id="275" r:id="rId9"/>
    <p:sldId id="259" r:id="rId10"/>
    <p:sldId id="261" r:id="rId11"/>
    <p:sldId id="260" r:id="rId12"/>
    <p:sldId id="262" r:id="rId13"/>
    <p:sldId id="263" r:id="rId14"/>
    <p:sldId id="264" r:id="rId15"/>
    <p:sldId id="265" r:id="rId16"/>
    <p:sldId id="266" r:id="rId17"/>
    <p:sldId id="267" r:id="rId18"/>
    <p:sldId id="268" r:id="rId19"/>
    <p:sldId id="276" r:id="rId20"/>
    <p:sldId id="277" r:id="rId21"/>
    <p:sldId id="288" r:id="rId22"/>
    <p:sldId id="289" r:id="rId23"/>
    <p:sldId id="290" r:id="rId24"/>
    <p:sldId id="270" r:id="rId25"/>
    <p:sldId id="278" r:id="rId26"/>
    <p:sldId id="280" r:id="rId27"/>
    <p:sldId id="269" r:id="rId28"/>
    <p:sldId id="279" r:id="rId29"/>
    <p:sldId id="281" r:id="rId30"/>
    <p:sldId id="284" r:id="rId31"/>
    <p:sldId id="282" r:id="rId32"/>
    <p:sldId id="283" r:id="rId33"/>
    <p:sldId id="286" r:id="rId34"/>
    <p:sldId id="287" r:id="rId35"/>
    <p:sldId id="291" r:id="rId36"/>
    <p:sldId id="292" r:id="rId37"/>
    <p:sldId id="293" r:id="rId38"/>
    <p:sldId id="294" r:id="rId39"/>
    <p:sldId id="295" r:id="rId40"/>
    <p:sldId id="28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A45B8D-B1C2-90D2-B2EF-3EAAAD23CE6F}" v="16" dt="2026-04-01T04:44:21.9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6/11/relationships/changesInfo" Target="changesInfos/changesInfo1.xml"/><Relationship Id="rId20" Type="http://schemas.openxmlformats.org/officeDocument/2006/relationships/slide" Target="slides/slide18.xml"/><Relationship Id="rId41" Type="http://schemas.openxmlformats.org/officeDocument/2006/relationships/slide" Target="slides/slide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r Pooja" userId="S::2874624@tcs.com::2cd7ae8d-6b1b-4271-89ff-053fa8fc3aec" providerId="AD" clId="Web-{F6A45B8D-B1C2-90D2-B2EF-3EAAAD23CE6F}"/>
    <pc:docChg chg="modSld">
      <pc:chgData name="Vr Pooja" userId="S::2874624@tcs.com::2cd7ae8d-6b1b-4271-89ff-053fa8fc3aec" providerId="AD" clId="Web-{F6A45B8D-B1C2-90D2-B2EF-3EAAAD23CE6F}" dt="2026-04-01T04:44:21.907" v="7" actId="20577"/>
      <pc:docMkLst>
        <pc:docMk/>
      </pc:docMkLst>
      <pc:sldChg chg="modSp">
        <pc:chgData name="Vr Pooja" userId="S::2874624@tcs.com::2cd7ae8d-6b1b-4271-89ff-053fa8fc3aec" providerId="AD" clId="Web-{F6A45B8D-B1C2-90D2-B2EF-3EAAAD23CE6F}" dt="2026-04-01T04:33:40.969" v="2" actId="20577"/>
        <pc:sldMkLst>
          <pc:docMk/>
          <pc:sldMk cId="852481688" sldId="265"/>
        </pc:sldMkLst>
        <pc:spChg chg="mod">
          <ac:chgData name="Vr Pooja" userId="S::2874624@tcs.com::2cd7ae8d-6b1b-4271-89ff-053fa8fc3aec" providerId="AD" clId="Web-{F6A45B8D-B1C2-90D2-B2EF-3EAAAD23CE6F}" dt="2026-04-01T04:33:40.969" v="2" actId="20577"/>
          <ac:spMkLst>
            <pc:docMk/>
            <pc:sldMk cId="852481688" sldId="265"/>
            <ac:spMk id="6" creationId="{DF0500B9-06E1-402A-1A50-C310899C4564}"/>
          </ac:spMkLst>
        </pc:spChg>
      </pc:sldChg>
      <pc:sldChg chg="modSp">
        <pc:chgData name="Vr Pooja" userId="S::2874624@tcs.com::2cd7ae8d-6b1b-4271-89ff-053fa8fc3aec" providerId="AD" clId="Web-{F6A45B8D-B1C2-90D2-B2EF-3EAAAD23CE6F}" dt="2026-04-01T04:44:21.907" v="7" actId="20577"/>
        <pc:sldMkLst>
          <pc:docMk/>
          <pc:sldMk cId="1327526484" sldId="276"/>
        </pc:sldMkLst>
        <pc:spChg chg="mod">
          <ac:chgData name="Vr Pooja" userId="S::2874624@tcs.com::2cd7ae8d-6b1b-4271-89ff-053fa8fc3aec" providerId="AD" clId="Web-{F6A45B8D-B1C2-90D2-B2EF-3EAAAD23CE6F}" dt="2026-04-01T04:44:21.907" v="7" actId="20577"/>
          <ac:spMkLst>
            <pc:docMk/>
            <pc:sldMk cId="1327526484" sldId="276"/>
            <ac:spMk id="6" creationId="{DF0500B9-06E1-402A-1A50-C310899C456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gradFill>
          <a:gsLst>
            <a:gs pos="10000">
              <a:srgbClr val="0067AC"/>
            </a:gs>
            <a:gs pos="100000">
              <a:srgbClr val="56BBED"/>
            </a:gs>
          </a:gsLst>
          <a:lin ang="9120000" scaled="0"/>
        </a:gradFill>
        <a:effectLst/>
      </p:bgPr>
    </p:bg>
    <p:spTree>
      <p:nvGrpSpPr>
        <p:cNvPr id="1" name=""/>
        <p:cNvGrpSpPr/>
        <p:nvPr/>
      </p:nvGrpSpPr>
      <p:grpSpPr>
        <a:xfrm>
          <a:off x="0" y="0"/>
          <a:ext cx="0" cy="0"/>
          <a:chOff x="0" y="0"/>
          <a:chExt cx="0" cy="0"/>
        </a:xfrm>
      </p:grpSpPr>
      <p:sp>
        <p:nvSpPr>
          <p:cNvPr id="17" name="Rectangle 16"/>
          <p:cNvSpPr/>
          <p:nvPr/>
        </p:nvSpPr>
        <p:spPr>
          <a:xfrm>
            <a:off x="0" y="0"/>
            <a:ext cx="12192000" cy="6858000"/>
          </a:xfrm>
          <a:prstGeom prst="rect">
            <a:avLst/>
          </a:prstGeom>
          <a:gradFill flip="none" rotWithShape="1">
            <a:gsLst>
              <a:gs pos="10000">
                <a:srgbClr val="0067AC"/>
              </a:gs>
              <a:gs pos="100000">
                <a:srgbClr val="56BBED"/>
              </a:gs>
            </a:gsLst>
            <a:lin ang="912000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472683" y="3200401"/>
            <a:ext cx="10363200" cy="609600"/>
          </a:xfrm>
        </p:spPr>
        <p:txBody>
          <a:bodyPr>
            <a:noAutofit/>
          </a:bodyPr>
          <a:lstStyle>
            <a:lvl1pPr algn="l">
              <a:defRPr sz="3800">
                <a:solidFill>
                  <a:schemeClr val="bg1"/>
                </a:solidFill>
              </a:defRPr>
            </a:lvl1pPr>
          </a:lstStyle>
          <a:p>
            <a:r>
              <a:rPr lang="en-US"/>
              <a:t>Click to edit Master title style</a:t>
            </a:r>
          </a:p>
        </p:txBody>
      </p:sp>
      <p:sp>
        <p:nvSpPr>
          <p:cNvPr id="3" name="Subtitle 2"/>
          <p:cNvSpPr>
            <a:spLocks noGrp="1"/>
          </p:cNvSpPr>
          <p:nvPr>
            <p:ph type="subTitle" idx="1"/>
          </p:nvPr>
        </p:nvSpPr>
        <p:spPr>
          <a:xfrm>
            <a:off x="472683" y="3858638"/>
            <a:ext cx="10380133" cy="609600"/>
          </a:xfrm>
        </p:spPr>
        <p:txBody>
          <a:bodyPr>
            <a:noAutofit/>
          </a:bodyPr>
          <a:lstStyle>
            <a:lvl1pPr marL="0" indent="0" algn="l">
              <a:buNone/>
              <a:defRPr sz="3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Rectangle 56"/>
          <p:cNvSpPr>
            <a:spLocks noChangeArrowheads="1"/>
          </p:cNvSpPr>
          <p:nvPr/>
        </p:nvSpPr>
        <p:spPr bwMode="auto">
          <a:xfrm>
            <a:off x="0" y="1976439"/>
            <a:ext cx="12192000" cy="847725"/>
          </a:xfrm>
          <a:prstGeom prst="rect">
            <a:avLst/>
          </a:prstGeom>
          <a:solidFill>
            <a:srgbClr val="0067AC"/>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grpSp>
        <p:nvGrpSpPr>
          <p:cNvPr id="4" name="Group 5"/>
          <p:cNvGrpSpPr>
            <a:grpSpLocks noChangeAspect="1"/>
          </p:cNvGrpSpPr>
          <p:nvPr/>
        </p:nvGrpSpPr>
        <p:grpSpPr bwMode="auto">
          <a:xfrm>
            <a:off x="565151" y="428625"/>
            <a:ext cx="4349749" cy="376238"/>
            <a:chOff x="267" y="270"/>
            <a:chExt cx="2055" cy="237"/>
          </a:xfrm>
        </p:grpSpPr>
        <p:sp>
          <p:nvSpPr>
            <p:cNvPr id="1028" name="AutoShape 4"/>
            <p:cNvSpPr>
              <a:spLocks noChangeAspect="1" noChangeArrowheads="1" noTextEdit="1"/>
            </p:cNvSpPr>
            <p:nvPr userDrawn="1"/>
          </p:nvSpPr>
          <p:spPr bwMode="auto">
            <a:xfrm>
              <a:off x="267" y="270"/>
              <a:ext cx="2055" cy="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1030" name="Freeform 6"/>
            <p:cNvSpPr>
              <a:spLocks noEditPoints="1"/>
            </p:cNvSpPr>
            <p:nvPr userDrawn="1"/>
          </p:nvSpPr>
          <p:spPr bwMode="auto">
            <a:xfrm>
              <a:off x="1382" y="270"/>
              <a:ext cx="462" cy="8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031" name="Freeform 7"/>
            <p:cNvSpPr>
              <a:spLocks noEditPoints="1"/>
            </p:cNvSpPr>
            <p:nvPr userDrawn="1"/>
          </p:nvSpPr>
          <p:spPr bwMode="auto">
            <a:xfrm>
              <a:off x="617" y="270"/>
              <a:ext cx="737" cy="8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032" name="Freeform 8"/>
            <p:cNvSpPr>
              <a:spLocks noEditPoints="1"/>
            </p:cNvSpPr>
            <p:nvPr userDrawn="1"/>
          </p:nvSpPr>
          <p:spPr bwMode="auto">
            <a:xfrm>
              <a:off x="267" y="271"/>
              <a:ext cx="311" cy="78"/>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033" name="Freeform 9"/>
            <p:cNvSpPr>
              <a:spLocks noEditPoints="1"/>
            </p:cNvSpPr>
            <p:nvPr userDrawn="1"/>
          </p:nvSpPr>
          <p:spPr bwMode="auto">
            <a:xfrm>
              <a:off x="1328" y="402"/>
              <a:ext cx="994" cy="105"/>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rgbClr val="B4D7F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grpSp>
      <p:sp>
        <p:nvSpPr>
          <p:cNvPr id="20" name="Freeform 9"/>
          <p:cNvSpPr>
            <a:spLocks noEditPoints="1"/>
          </p:cNvSpPr>
          <p:nvPr/>
        </p:nvSpPr>
        <p:spPr bwMode="auto">
          <a:xfrm>
            <a:off x="10909580" y="424799"/>
            <a:ext cx="647277" cy="424339"/>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pic>
        <p:nvPicPr>
          <p:cNvPr id="19" name="Picture 4" descr="Q:\Repro 2\New guidelines 2011_12\Final 260411\PPT\OLD\050511\WMF\TATA Patter revised.wmf"/>
          <p:cNvPicPr>
            <a:picLocks noChangeAspect="1" noChangeArrowheads="1"/>
          </p:cNvPicPr>
          <p:nvPr/>
        </p:nvPicPr>
        <p:blipFill>
          <a:blip r:embed="rId2"/>
          <a:srcRect/>
          <a:stretch>
            <a:fillRect/>
          </a:stretch>
        </p:blipFill>
        <p:spPr bwMode="auto">
          <a:xfrm>
            <a:off x="1" y="1345407"/>
            <a:ext cx="3282087" cy="1260043"/>
          </a:xfrm>
          <a:prstGeom prst="rect">
            <a:avLst/>
          </a:prstGeom>
          <a:noFill/>
        </p:spPr>
      </p:pic>
      <p:sp>
        <p:nvSpPr>
          <p:cNvPr id="15" name="TextBox 14"/>
          <p:cNvSpPr txBox="1"/>
          <p:nvPr/>
        </p:nvSpPr>
        <p:spPr>
          <a:xfrm>
            <a:off x="448733" y="6334126"/>
            <a:ext cx="3251200" cy="207749"/>
          </a:xfrm>
          <a:prstGeom prst="rect">
            <a:avLst/>
          </a:prstGeom>
          <a:noFill/>
        </p:spPr>
        <p:txBody>
          <a:bodyPr wrap="square" rtlCol="0">
            <a:spAutoFit/>
          </a:bodyPr>
          <a:lstStyle/>
          <a:p>
            <a:r>
              <a:rPr lang="en-US" sz="750">
                <a:solidFill>
                  <a:schemeClr val="bg1"/>
                </a:solidFill>
                <a:latin typeface="+mn-lt"/>
              </a:rPr>
              <a:t>Copyright © 2012 Tata Consultancy Services Limited</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idx="1"/>
          </p:nvPr>
        </p:nvSpPr>
        <p:spPr/>
        <p:txBody>
          <a:bodyPr>
            <a:noAutofit/>
          </a:bodyPr>
          <a:lstStyle>
            <a:lvl3pPr>
              <a:defRPr/>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3886200"/>
            <a:ext cx="10363200" cy="622300"/>
          </a:xfrm>
        </p:spPr>
        <p:txBody>
          <a:bodyPr anchor="t">
            <a:noAutofit/>
          </a:bodyPr>
          <a:lstStyle>
            <a:lvl1pPr algn="ctr">
              <a:defRPr sz="2800" b="0" cap="all">
                <a:solidFill>
                  <a:schemeClr val="tx1"/>
                </a:solidFill>
              </a:defRPr>
            </a:lvl1pPr>
          </a:lstStyle>
          <a:p>
            <a:r>
              <a:rPr lang="en-US"/>
              <a:t>Click to edit Master title style</a:t>
            </a:r>
          </a:p>
        </p:txBody>
      </p:sp>
      <p:sp>
        <p:nvSpPr>
          <p:cNvPr id="3" name="Text Placeholder 2"/>
          <p:cNvSpPr>
            <a:spLocks noGrp="1"/>
          </p:cNvSpPr>
          <p:nvPr>
            <p:ph type="body" idx="1"/>
          </p:nvPr>
        </p:nvSpPr>
        <p:spPr>
          <a:xfrm>
            <a:off x="963084" y="2906714"/>
            <a:ext cx="10363200" cy="750887"/>
          </a:xfrm>
        </p:spPr>
        <p:txBody>
          <a:bodyPr anchor="b">
            <a:noAutofit/>
          </a:bodyPr>
          <a:lstStyle>
            <a:lvl1pPr marL="0" indent="0" algn="ct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sz="half" idx="1"/>
          </p:nvPr>
        </p:nvSpPr>
        <p:spPr>
          <a:xfrm>
            <a:off x="570896" y="1189037"/>
            <a:ext cx="5384800" cy="4525963"/>
          </a:xfrm>
        </p:spPr>
        <p:txBody>
          <a:bodyPr>
            <a:noAutofit/>
          </a:bodyPr>
          <a:lstStyle>
            <a:lvl1pPr>
              <a:defRPr sz="22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Content Placeholder 2"/>
          <p:cNvSpPr>
            <a:spLocks noGrp="1"/>
          </p:cNvSpPr>
          <p:nvPr>
            <p:ph sz="half" idx="13"/>
          </p:nvPr>
        </p:nvSpPr>
        <p:spPr>
          <a:xfrm>
            <a:off x="6371768" y="1189037"/>
            <a:ext cx="5384800" cy="4525963"/>
          </a:xfrm>
        </p:spPr>
        <p:txBody>
          <a:bodyPr>
            <a:noAutofit/>
          </a:bodyPr>
          <a:lstStyle>
            <a:lvl1pPr>
              <a:defRPr sz="22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p>
        </p:txBody>
      </p:sp>
      <p:sp>
        <p:nvSpPr>
          <p:cNvPr id="3" name="Text Placeholder 2"/>
          <p:cNvSpPr>
            <a:spLocks noGrp="1"/>
          </p:cNvSpPr>
          <p:nvPr>
            <p:ph type="body" idx="1"/>
          </p:nvPr>
        </p:nvSpPr>
        <p:spPr>
          <a:xfrm>
            <a:off x="570896" y="1187450"/>
            <a:ext cx="5386917" cy="712787"/>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70896" y="1916112"/>
            <a:ext cx="5386917" cy="3951288"/>
          </a:xfrm>
        </p:spPr>
        <p:txBody>
          <a:bodyPr>
            <a:no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3"/>
          </p:nvPr>
        </p:nvSpPr>
        <p:spPr>
          <a:xfrm>
            <a:off x="6348184" y="1187450"/>
            <a:ext cx="5389033" cy="712787"/>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48184" y="1916112"/>
            <a:ext cx="5389033" cy="3951288"/>
          </a:xfrm>
        </p:spPr>
        <p:txBody>
          <a:bodyPr>
            <a:no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0897" y="1125538"/>
            <a:ext cx="4011084" cy="787399"/>
          </a:xfrm>
        </p:spPr>
        <p:txBody>
          <a:bodyPr anchor="b">
            <a:noAutofit/>
          </a:bodyPr>
          <a:lstStyle>
            <a:lvl1pPr algn="l">
              <a:defRPr sz="2200" b="1">
                <a:solidFill>
                  <a:schemeClr val="tx1"/>
                </a:solidFill>
              </a:defRPr>
            </a:lvl1pPr>
          </a:lstStyle>
          <a:p>
            <a:r>
              <a:rPr lang="en-US"/>
              <a:t>Click to edit Master title style</a:t>
            </a:r>
          </a:p>
        </p:txBody>
      </p:sp>
      <p:sp>
        <p:nvSpPr>
          <p:cNvPr id="3" name="Content Placeholder 2"/>
          <p:cNvSpPr>
            <a:spLocks noGrp="1"/>
          </p:cNvSpPr>
          <p:nvPr>
            <p:ph idx="1"/>
          </p:nvPr>
        </p:nvSpPr>
        <p:spPr>
          <a:xfrm>
            <a:off x="4805437" y="1125538"/>
            <a:ext cx="6815667" cy="5199063"/>
          </a:xfrm>
        </p:spPr>
        <p:txBody>
          <a:bodyPr>
            <a:noAutofit/>
          </a:bodyPr>
          <a:lstStyle>
            <a:lvl1pPr>
              <a:defRPr sz="2200"/>
            </a:lvl1pPr>
            <a:lvl2pPr>
              <a:defRPr sz="2000"/>
            </a:lvl2pPr>
            <a:lvl3pPr>
              <a:defRPr sz="1800"/>
            </a:lvl3pPr>
            <a:lvl4pPr>
              <a:defRPr sz="16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570897" y="1951037"/>
            <a:ext cx="4011084" cy="4373563"/>
          </a:xfrm>
        </p:spPr>
        <p:txBody>
          <a:bodyPr>
            <a:noAutofit/>
          </a:bodyPr>
          <a:lstStyle>
            <a:lvl1pPr marL="0" indent="0">
              <a:buNone/>
              <a:defRPr sz="2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76801"/>
            <a:ext cx="7315200" cy="566738"/>
          </a:xfrm>
        </p:spPr>
        <p:txBody>
          <a:bodyPr anchor="b">
            <a:noAutofit/>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1143001"/>
            <a:ext cx="7315200" cy="3660775"/>
          </a:xfrm>
        </p:spPr>
        <p:txBody>
          <a:bodyPr>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443539"/>
            <a:ext cx="7315200" cy="804862"/>
          </a:xfrm>
        </p:spPr>
        <p:txBody>
          <a:bodyPr>
            <a:no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2800"/>
            </a:lvl1pPr>
          </a:lstStyle>
          <a:p>
            <a:r>
              <a:rPr lang="en-US"/>
              <a:t>Click to edit Master title style</a:t>
            </a:r>
          </a:p>
        </p:txBody>
      </p:sp>
      <p:sp>
        <p:nvSpPr>
          <p:cNvPr id="3" name="Table Placeholder 2"/>
          <p:cNvSpPr>
            <a:spLocks noGrp="1"/>
          </p:cNvSpPr>
          <p:nvPr>
            <p:ph type="tbl" idx="1"/>
          </p:nvPr>
        </p:nvSpPr>
        <p:spPr>
          <a:xfrm>
            <a:off x="684405" y="1190625"/>
            <a:ext cx="11161184" cy="1323975"/>
          </a:xfrm>
          <a:ln>
            <a:solidFill>
              <a:schemeClr val="bg1"/>
            </a:solidFill>
          </a:ln>
        </p:spPr>
        <p:txBody>
          <a:bodyPr/>
          <a:lstStyle>
            <a:lvl1pPr>
              <a:buNone/>
              <a:defRPr>
                <a:solidFill>
                  <a:schemeClr val="bg1"/>
                </a:solidFill>
              </a:defRPr>
            </a:lvl1pPr>
          </a:lstStyle>
          <a:p>
            <a:pPr lvl="0"/>
            <a:r>
              <a:rPr lang="en-US" noProof="0"/>
              <a:t>Click icon to add table</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Vertical Text Placeholder 2"/>
          <p:cNvSpPr>
            <a:spLocks noGrp="1"/>
          </p:cNvSpPr>
          <p:nvPr>
            <p:ph type="body" orient="vert" idx="1"/>
          </p:nvPr>
        </p:nvSpPr>
        <p:spPr>
          <a:xfrm>
            <a:off x="548192" y="1168400"/>
            <a:ext cx="11237408" cy="5156200"/>
          </a:xfrm>
        </p:spPr>
        <p:txBody>
          <a:bodyPr vert="eaVert">
            <a:noAutofit/>
          </a:bodyPr>
          <a:lstStyle>
            <a:lvl3pPr>
              <a:defRPr/>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71424" y="1189038"/>
            <a:ext cx="2743200" cy="5135563"/>
          </a:xfrm>
        </p:spPr>
        <p:txBody>
          <a:bodyPr vert="eaVert">
            <a:noAutofit/>
          </a:bodyPr>
          <a:lstStyle>
            <a:lvl1pPr>
              <a:defRPr>
                <a:solidFill>
                  <a:schemeClr val="tx1"/>
                </a:solidFill>
              </a:defRPr>
            </a:lvl1pPr>
          </a:lstStyle>
          <a:p>
            <a:r>
              <a:rPr lang="en-US"/>
              <a:t>Click to edit Master title style</a:t>
            </a:r>
          </a:p>
        </p:txBody>
      </p:sp>
      <p:sp>
        <p:nvSpPr>
          <p:cNvPr id="3" name="Vertical Text Placeholder 2"/>
          <p:cNvSpPr>
            <a:spLocks noGrp="1"/>
          </p:cNvSpPr>
          <p:nvPr>
            <p:ph type="body" orient="vert" idx="1"/>
          </p:nvPr>
        </p:nvSpPr>
        <p:spPr>
          <a:xfrm>
            <a:off x="551544" y="1189038"/>
            <a:ext cx="8253789" cy="5135563"/>
          </a:xfrm>
        </p:spPr>
        <p:txBody>
          <a:bodyPr vert="eaVert">
            <a:noAutofit/>
          </a:bodyPr>
          <a:lstStyle>
            <a:lvl3pPr>
              <a:defRPr/>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p:nvSpPr>
        <p:spPr>
          <a:xfrm>
            <a:off x="304800" y="304800"/>
            <a:ext cx="406400" cy="152400"/>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1" name="Rectangle 80"/>
          <p:cNvSpPr/>
          <p:nvPr/>
        </p:nvSpPr>
        <p:spPr>
          <a:xfrm>
            <a:off x="0" y="0"/>
            <a:ext cx="12192000" cy="1066800"/>
          </a:xfrm>
          <a:prstGeom prst="rect">
            <a:avLst/>
          </a:prstGeom>
          <a:gradFill flip="none" rotWithShape="1">
            <a:gsLst>
              <a:gs pos="10000">
                <a:srgbClr val="0067AC"/>
              </a:gs>
              <a:gs pos="100000">
                <a:srgbClr val="56BBED"/>
              </a:gs>
            </a:gsLst>
            <a:lin ang="912000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p:cNvSpPr>
            <a:spLocks noGrp="1"/>
          </p:cNvSpPr>
          <p:nvPr>
            <p:ph type="title"/>
          </p:nvPr>
        </p:nvSpPr>
        <p:spPr>
          <a:xfrm>
            <a:off x="1727200" y="331694"/>
            <a:ext cx="10058400" cy="4873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48192" y="1189037"/>
            <a:ext cx="11237408"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endParaRPr lang="en-US"/>
          </a:p>
        </p:txBody>
      </p:sp>
      <p:sp>
        <p:nvSpPr>
          <p:cNvPr id="9" name="Rectangle 71"/>
          <p:cNvSpPr txBox="1">
            <a:spLocks noChangeArrowheads="1"/>
          </p:cNvSpPr>
          <p:nvPr/>
        </p:nvSpPr>
        <p:spPr bwMode="auto">
          <a:xfrm>
            <a:off x="10972801" y="6311900"/>
            <a:ext cx="884767" cy="3603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000">
                <a:solidFill>
                  <a:srgbClr val="4E84C4"/>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3B55AB4-0D57-4FBE-946B-A81E4A9D2A4C}" type="slidenum">
              <a:rPr lang="en-US" sz="1200" kern="1200" noProof="0" smtClean="0">
                <a:solidFill>
                  <a:schemeClr val="tx1"/>
                </a:solidFill>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r>
              <a:rPr lang="en-US" sz="1200" kern="1200" noProof="0">
                <a:solidFill>
                  <a:schemeClr val="tx1"/>
                </a:solidFill>
                <a:latin typeface="Arial" pitchFamily="34" charset="0"/>
                <a:ea typeface="+mn-ea"/>
                <a:cs typeface="Arial" pitchFamily="34" charset="0"/>
              </a:rPr>
              <a:t> </a:t>
            </a:r>
          </a:p>
        </p:txBody>
      </p:sp>
      <p:grpSp>
        <p:nvGrpSpPr>
          <p:cNvPr id="5" name="Group 8"/>
          <p:cNvGrpSpPr>
            <a:grpSpLocks noChangeAspect="1"/>
          </p:cNvGrpSpPr>
          <p:nvPr/>
        </p:nvGrpSpPr>
        <p:grpSpPr bwMode="auto">
          <a:xfrm>
            <a:off x="567267" y="6426200"/>
            <a:ext cx="3230189" cy="279400"/>
            <a:chOff x="240" y="3744"/>
            <a:chExt cx="2055" cy="237"/>
          </a:xfrm>
        </p:grpSpPr>
        <p:sp>
          <p:nvSpPr>
            <p:cNvPr id="76" name="AutoShape 7"/>
            <p:cNvSpPr>
              <a:spLocks noChangeAspect="1" noChangeArrowheads="1" noTextEdit="1"/>
            </p:cNvSpPr>
            <p:nvPr userDrawn="1"/>
          </p:nvSpPr>
          <p:spPr bwMode="auto">
            <a:xfrm>
              <a:off x="240" y="3744"/>
              <a:ext cx="2055" cy="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77" name="Freeform 9"/>
            <p:cNvSpPr>
              <a:spLocks noEditPoints="1"/>
            </p:cNvSpPr>
            <p:nvPr userDrawn="1"/>
          </p:nvSpPr>
          <p:spPr bwMode="auto">
            <a:xfrm>
              <a:off x="1355" y="3744"/>
              <a:ext cx="462" cy="8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solidFill>
              <a:srgbClr val="4473B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78" name="Freeform 10"/>
            <p:cNvSpPr>
              <a:spLocks noEditPoints="1"/>
            </p:cNvSpPr>
            <p:nvPr userDrawn="1"/>
          </p:nvSpPr>
          <p:spPr bwMode="auto">
            <a:xfrm>
              <a:off x="590" y="3744"/>
              <a:ext cx="737" cy="8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solidFill>
              <a:srgbClr val="4473B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79" name="Freeform 11"/>
            <p:cNvSpPr>
              <a:spLocks noEditPoints="1"/>
            </p:cNvSpPr>
            <p:nvPr userDrawn="1"/>
          </p:nvSpPr>
          <p:spPr bwMode="auto">
            <a:xfrm>
              <a:off x="240" y="3745"/>
              <a:ext cx="311" cy="78"/>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solidFill>
              <a:srgbClr val="4473B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80" name="Freeform 12"/>
            <p:cNvSpPr>
              <a:spLocks noEditPoints="1"/>
            </p:cNvSpPr>
            <p:nvPr userDrawn="1"/>
          </p:nvSpPr>
          <p:spPr bwMode="auto">
            <a:xfrm>
              <a:off x="1301" y="3876"/>
              <a:ext cx="994" cy="105"/>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rgbClr val="7D99CA"/>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grpSp>
      <p:sp>
        <p:nvSpPr>
          <p:cNvPr id="1027" name="AutoShape 3"/>
          <p:cNvSpPr>
            <a:spLocks noChangeAspect="1" noChangeArrowheads="1" noTextEdit="1"/>
          </p:cNvSpPr>
          <p:nvPr/>
        </p:nvSpPr>
        <p:spPr bwMode="auto">
          <a:xfrm>
            <a:off x="0" y="3810001"/>
            <a:ext cx="12192000" cy="1057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pic>
        <p:nvPicPr>
          <p:cNvPr id="4" name="Picture 2" descr="Q:\Repro 2\New guidelines 2011_12\Final 260411\PPT\OLD\050511\WMF\text slide pattern_2 boxes_060511.wmf"/>
          <p:cNvPicPr>
            <a:picLocks noChangeAspect="1" noChangeArrowheads="1"/>
          </p:cNvPicPr>
          <p:nvPr/>
        </p:nvPicPr>
        <p:blipFill>
          <a:blip r:embed="rId14"/>
          <a:srcRect/>
          <a:stretch>
            <a:fillRect/>
          </a:stretch>
        </p:blipFill>
        <p:spPr bwMode="auto">
          <a:xfrm>
            <a:off x="0" y="1"/>
            <a:ext cx="1658443" cy="1066800"/>
          </a:xfrm>
          <a:prstGeom prst="rect">
            <a:avLst/>
          </a:prstGeom>
          <a:noFill/>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spcBef>
          <a:spcPct val="0"/>
        </a:spcBef>
        <a:buNone/>
        <a:defRPr sz="28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rgbClr val="4E84C4"/>
        </a:buClr>
        <a:buFont typeface="Wingdings" pitchFamily="2" charset="2"/>
        <a:buChar char="§"/>
        <a:defRPr sz="2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Clr>
          <a:srgbClr val="4E84C4"/>
        </a:buClr>
        <a:buFont typeface="Myriad Pro" pitchFamily="34" charset="0"/>
        <a:buChar char="–"/>
        <a:defRPr sz="20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Clr>
          <a:srgbClr val="4E84C4"/>
        </a:buClr>
        <a:buFont typeface="Courier New" pitchFamily="49" charset="0"/>
        <a:buChar char="o"/>
        <a:defRPr sz="18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Clr>
          <a:srgbClr val="4E84C4"/>
        </a:buClr>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sz="4800" b="1">
                <a:latin typeface="Constantia"/>
                <a:cs typeface="Arial"/>
              </a:rPr>
              <a:t>UNIX</a:t>
            </a:r>
            <a:endParaRPr lang="en-US" sz="4800" b="1">
              <a:latin typeface="Constantia"/>
            </a:endParaRPr>
          </a:p>
        </p:txBody>
      </p:sp>
      <p:sp>
        <p:nvSpPr>
          <p:cNvPr id="3" name="TextBox 2">
            <a:extLst>
              <a:ext uri="{FF2B5EF4-FFF2-40B4-BE49-F238E27FC236}">
                <a16:creationId xmlns:a16="http://schemas.microsoft.com/office/drawing/2014/main" id="{7E81A4F1-3915-98B4-806F-4556B564A9CE}"/>
              </a:ext>
            </a:extLst>
          </p:cNvPr>
          <p:cNvSpPr txBox="1"/>
          <p:nvPr/>
        </p:nvSpPr>
        <p:spPr>
          <a:xfrm>
            <a:off x="4548909" y="3908136"/>
            <a:ext cx="22098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1">
                <a:solidFill>
                  <a:schemeClr val="bg1"/>
                </a:solidFill>
                <a:latin typeface="Constantia"/>
                <a:cs typeface="Arial"/>
              </a:rPr>
              <a:t>    Building Blocks</a:t>
            </a:r>
            <a:endParaRPr lang="en-US" b="1" i="1">
              <a:solidFill>
                <a:schemeClr val="bg1"/>
              </a:solidFill>
              <a:cs typeface="Arial"/>
            </a:endParaRPr>
          </a:p>
        </p:txBody>
      </p:sp>
    </p:spTree>
    <p:extLst>
      <p:ext uri="{BB962C8B-B14F-4D97-AF65-F5344CB8AC3E}">
        <p14:creationId xmlns:p14="http://schemas.microsoft.com/office/powerpoint/2010/main" val="3119632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AGENDA</a:t>
            </a:r>
            <a:endParaRPr lang="en-IN" sz="3200">
              <a:latin typeface="Constantia"/>
            </a:endParaRPr>
          </a:p>
        </p:txBody>
      </p:sp>
      <p:sp>
        <p:nvSpPr>
          <p:cNvPr id="6" name="TextBox 5">
            <a:extLst>
              <a:ext uri="{FF2B5EF4-FFF2-40B4-BE49-F238E27FC236}">
                <a16:creationId xmlns:a16="http://schemas.microsoft.com/office/drawing/2014/main" id="{DF0500B9-06E1-402A-1A50-C310899C4564}"/>
              </a:ext>
            </a:extLst>
          </p:cNvPr>
          <p:cNvSpPr txBox="1"/>
          <p:nvPr/>
        </p:nvSpPr>
        <p:spPr>
          <a:xfrm>
            <a:off x="762000" y="1575666"/>
            <a:ext cx="1082040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AutoNum type="arabicPeriod"/>
            </a:pPr>
            <a:r>
              <a:rPr lang="en-US" sz="2400">
                <a:latin typeface="Constantia"/>
                <a:cs typeface="Arial"/>
              </a:rPr>
              <a:t>Introduction to Operating System</a:t>
            </a:r>
            <a:endParaRPr lang="en-US">
              <a:cs typeface="Arial"/>
            </a:endParaRPr>
          </a:p>
          <a:p>
            <a:pPr marL="514350" indent="-514350">
              <a:buAutoNum type="arabicPeriod"/>
            </a:pPr>
            <a:r>
              <a:rPr lang="en-US" sz="2400">
                <a:latin typeface="Constantia"/>
                <a:cs typeface="Arial"/>
              </a:rPr>
              <a:t>Unix and Linux</a:t>
            </a:r>
            <a:endParaRPr lang="en-US"/>
          </a:p>
          <a:p>
            <a:pPr marL="514350" indent="-514350">
              <a:buAutoNum type="arabicPeriod"/>
            </a:pPr>
            <a:r>
              <a:rPr lang="en-US" sz="2400">
                <a:latin typeface="Constantia"/>
                <a:cs typeface="Arial"/>
              </a:rPr>
              <a:t>Architecture of Unix</a:t>
            </a:r>
          </a:p>
          <a:p>
            <a:pPr marL="514350" indent="-514350">
              <a:buAutoNum type="arabicPeriod"/>
            </a:pPr>
            <a:r>
              <a:rPr lang="en-US" sz="2400">
                <a:latin typeface="Constantia"/>
                <a:cs typeface="Arial"/>
              </a:rPr>
              <a:t>File Handling Commands</a:t>
            </a:r>
          </a:p>
          <a:p>
            <a:pPr marL="514350" indent="-514350">
              <a:buAutoNum type="arabicPeriod"/>
            </a:pPr>
            <a:r>
              <a:rPr lang="en-US" sz="2400">
                <a:latin typeface="Constantia"/>
                <a:cs typeface="Arial"/>
              </a:rPr>
              <a:t>sort and </a:t>
            </a:r>
            <a:r>
              <a:rPr lang="en-US" sz="2400" noProof="1">
                <a:latin typeface="Constantia"/>
                <a:cs typeface="Arial"/>
              </a:rPr>
              <a:t>uniq </a:t>
            </a:r>
            <a:r>
              <a:rPr lang="en-US" sz="2400">
                <a:latin typeface="Constantia"/>
                <a:cs typeface="Arial"/>
              </a:rPr>
              <a:t>Command</a:t>
            </a:r>
          </a:p>
          <a:p>
            <a:pPr marL="514350" indent="-514350">
              <a:buAutoNum type="arabicPeriod"/>
            </a:pPr>
            <a:r>
              <a:rPr lang="en-US" sz="2400">
                <a:latin typeface="Constantia"/>
                <a:cs typeface="Arial"/>
              </a:rPr>
              <a:t>grep Command</a:t>
            </a:r>
          </a:p>
          <a:p>
            <a:pPr marL="514350" indent="-514350">
              <a:buAutoNum type="arabicPeriod"/>
            </a:pPr>
            <a:r>
              <a:rPr lang="en-US" sz="2400">
                <a:latin typeface="Constantia"/>
                <a:cs typeface="Arial"/>
              </a:rPr>
              <a:t>Pipelining</a:t>
            </a:r>
          </a:p>
          <a:p>
            <a:pPr marL="514350" indent="-514350">
              <a:buAutoNum type="arabicPeriod"/>
            </a:pPr>
            <a:r>
              <a:rPr lang="en-US" sz="2400">
                <a:latin typeface="Constantia"/>
                <a:cs typeface="Arial"/>
              </a:rPr>
              <a:t>sed</a:t>
            </a:r>
            <a:r>
              <a:rPr lang="en-US" sz="2400" noProof="1">
                <a:latin typeface="Constantia"/>
                <a:cs typeface="Arial"/>
              </a:rPr>
              <a:t> </a:t>
            </a:r>
            <a:r>
              <a:rPr lang="en-US" sz="2400">
                <a:latin typeface="Constantia"/>
                <a:cs typeface="Arial"/>
              </a:rPr>
              <a:t>Command</a:t>
            </a:r>
          </a:p>
          <a:p>
            <a:pPr marL="514350" indent="-514350">
              <a:buAutoNum type="arabicPeriod"/>
            </a:pPr>
            <a:r>
              <a:rPr lang="en-US" sz="2400">
                <a:latin typeface="Constantia"/>
                <a:cs typeface="Arial"/>
              </a:rPr>
              <a:t>cat Command</a:t>
            </a:r>
          </a:p>
          <a:p>
            <a:pPr marL="514350" indent="-514350">
              <a:buAutoNum type="arabicPeriod"/>
            </a:pPr>
            <a:r>
              <a:rPr lang="en-US" sz="2400">
                <a:latin typeface="Constantia"/>
                <a:cs typeface="Arial"/>
              </a:rPr>
              <a:t>awk filter</a:t>
            </a:r>
          </a:p>
        </p:txBody>
      </p:sp>
    </p:spTree>
    <p:extLst>
      <p:ext uri="{BB962C8B-B14F-4D97-AF65-F5344CB8AC3E}">
        <p14:creationId xmlns:p14="http://schemas.microsoft.com/office/powerpoint/2010/main" val="3591490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Operating System</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835" y="1171575"/>
            <a:ext cx="10820400"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noProof="1">
                <a:latin typeface="Constantia"/>
                <a:cs typeface="Arial"/>
              </a:rPr>
              <a:t>An Operating System (OS) is system software that manages computer hardware, software resources, and provides various services for computer programs.</a:t>
            </a:r>
            <a:endParaRPr lang="en-US" sz="2000" b="1" noProof="1">
              <a:latin typeface="Constantia"/>
              <a:cs typeface="Arial"/>
            </a:endParaRPr>
          </a:p>
          <a:p>
            <a:pPr marL="342900" indent="-342900">
              <a:buFont typeface="Arial"/>
              <a:buChar char="•"/>
            </a:pPr>
            <a:endParaRPr lang="en-US" sz="2000" noProof="1">
              <a:latin typeface="Constantia"/>
              <a:cs typeface="Arial"/>
            </a:endParaRPr>
          </a:p>
          <a:p>
            <a:pPr marL="342900" indent="-342900">
              <a:buFont typeface="Arial"/>
              <a:buChar char="•"/>
            </a:pPr>
            <a:r>
              <a:rPr lang="en-US" sz="2000" noProof="1">
                <a:latin typeface="Constantia"/>
                <a:cs typeface="Arial"/>
              </a:rPr>
              <a:t>It serves as a intermediate between the user, applications and the hardware of a computer.</a:t>
            </a:r>
          </a:p>
          <a:p>
            <a:pPr marL="342900" indent="-342900">
              <a:buFont typeface="Arial"/>
              <a:buChar char="•"/>
            </a:pPr>
            <a:endParaRPr lang="en-US" sz="2000" noProof="1">
              <a:latin typeface="Constantia"/>
              <a:cs typeface="Arial"/>
            </a:endParaRPr>
          </a:p>
          <a:p>
            <a:pPr marL="342900" indent="-342900">
              <a:buFont typeface="Arial"/>
              <a:buChar char="•"/>
            </a:pPr>
            <a:r>
              <a:rPr lang="en-US" sz="2000" noProof="1">
                <a:latin typeface="Constantia"/>
                <a:cs typeface="Arial"/>
              </a:rPr>
              <a:t>The primary functions of OS include</a:t>
            </a:r>
          </a:p>
          <a:p>
            <a:pPr marL="457200" indent="-457200">
              <a:buAutoNum type="arabicPeriod"/>
            </a:pPr>
            <a:r>
              <a:rPr lang="en-US" sz="2000" noProof="1">
                <a:latin typeface="Constantia"/>
                <a:cs typeface="Arial"/>
              </a:rPr>
              <a:t>Hardware Abstraction</a:t>
            </a:r>
          </a:p>
          <a:p>
            <a:pPr marL="457200" indent="-457200">
              <a:buAutoNum type="arabicPeriod"/>
            </a:pPr>
            <a:r>
              <a:rPr lang="en-US" sz="2000" noProof="1">
                <a:latin typeface="Constantia"/>
                <a:cs typeface="Arial"/>
              </a:rPr>
              <a:t>Process Management</a:t>
            </a:r>
          </a:p>
          <a:p>
            <a:pPr marL="457200" indent="-457200">
              <a:buAutoNum type="arabicPeriod"/>
            </a:pPr>
            <a:r>
              <a:rPr lang="en-US" sz="2000" noProof="1">
                <a:latin typeface="Constantia"/>
                <a:cs typeface="Arial"/>
              </a:rPr>
              <a:t>Memory Management</a:t>
            </a:r>
          </a:p>
          <a:p>
            <a:pPr marL="457200" indent="-457200">
              <a:buAutoNum type="arabicPeriod"/>
            </a:pPr>
            <a:r>
              <a:rPr lang="en-US" sz="2000" noProof="1">
                <a:latin typeface="Constantia"/>
                <a:cs typeface="Arial"/>
              </a:rPr>
              <a:t>File System Management</a:t>
            </a:r>
          </a:p>
          <a:p>
            <a:pPr marL="457200" indent="-457200">
              <a:buAutoNum type="arabicPeriod"/>
            </a:pPr>
            <a:r>
              <a:rPr lang="en-US" sz="2000" noProof="1">
                <a:latin typeface="Constantia"/>
                <a:cs typeface="Arial"/>
              </a:rPr>
              <a:t>Device Management</a:t>
            </a:r>
          </a:p>
          <a:p>
            <a:pPr marL="457200" indent="-457200">
              <a:buAutoNum type="arabicPeriod"/>
            </a:pPr>
            <a:r>
              <a:rPr lang="en-US" sz="2000" noProof="1">
                <a:latin typeface="Constantia"/>
                <a:cs typeface="Arial"/>
              </a:rPr>
              <a:t>Security and Access Control</a:t>
            </a:r>
          </a:p>
          <a:p>
            <a:pPr marL="457200" indent="-457200">
              <a:buAutoNum type="arabicPeriod"/>
            </a:pPr>
            <a:r>
              <a:rPr lang="en-US" sz="2000" noProof="1">
                <a:latin typeface="Constantia"/>
                <a:cs typeface="Arial"/>
              </a:rPr>
              <a:t>User Interface</a:t>
            </a:r>
          </a:p>
          <a:p>
            <a:pPr marL="457200" indent="-457200">
              <a:buAutoNum type="arabicPeriod"/>
            </a:pPr>
            <a:r>
              <a:rPr lang="en-US" sz="2000" noProof="1">
                <a:latin typeface="Constantia"/>
                <a:cs typeface="Arial"/>
              </a:rPr>
              <a:t>Networking</a:t>
            </a:r>
          </a:p>
          <a:p>
            <a:pPr marL="457200" indent="-457200">
              <a:buAutoNum type="arabicPeriod"/>
            </a:pPr>
            <a:endParaRPr lang="en-US" sz="2000" noProof="1">
              <a:latin typeface="Constantia"/>
              <a:cs typeface="Arial"/>
            </a:endParaRPr>
          </a:p>
          <a:p>
            <a:r>
              <a:rPr lang="en-US" sz="2000" noProof="1">
                <a:latin typeface="Constantia"/>
                <a:cs typeface="Arial"/>
              </a:rPr>
              <a:t>Common Examples of Operating System include: </a:t>
            </a:r>
            <a:r>
              <a:rPr lang="en-US" sz="2000" b="1" noProof="1">
                <a:latin typeface="Constantia"/>
                <a:cs typeface="Arial"/>
              </a:rPr>
              <a:t>Microsoft Windows, Linux, macOS, iOS, Android etc</a:t>
            </a:r>
            <a:endParaRPr lang="en-US">
              <a:cs typeface="Arial"/>
            </a:endParaRPr>
          </a:p>
        </p:txBody>
      </p:sp>
    </p:spTree>
    <p:extLst>
      <p:ext uri="{BB962C8B-B14F-4D97-AF65-F5344CB8AC3E}">
        <p14:creationId xmlns:p14="http://schemas.microsoft.com/office/powerpoint/2010/main" val="3498334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Unix</a:t>
            </a:r>
            <a:endParaRPr lang="en-IN" sz="3600" b="1">
              <a:latin typeface="Constantia"/>
            </a:endParaRPr>
          </a:p>
        </p:txBody>
      </p:sp>
      <p:sp>
        <p:nvSpPr>
          <p:cNvPr id="6" name="TextBox 5">
            <a:extLst>
              <a:ext uri="{FF2B5EF4-FFF2-40B4-BE49-F238E27FC236}">
                <a16:creationId xmlns:a16="http://schemas.microsoft.com/office/drawing/2014/main" id="{DF0500B9-06E1-402A-1A50-C310899C4564}"/>
              </a:ext>
            </a:extLst>
          </p:cNvPr>
          <p:cNvSpPr txBox="1"/>
          <p:nvPr/>
        </p:nvSpPr>
        <p:spPr>
          <a:xfrm>
            <a:off x="842818" y="1344757"/>
            <a:ext cx="10820400"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Origins: </a:t>
            </a:r>
            <a:r>
              <a:rPr lang="en-US" sz="2000" noProof="1">
                <a:latin typeface="Constantia"/>
                <a:cs typeface="Arial"/>
              </a:rPr>
              <a:t>Unix is the one of the earliest OS developed in the late 1970 at </a:t>
            </a:r>
            <a:r>
              <a:rPr lang="en-US" sz="2000" b="1" noProof="1">
                <a:latin typeface="Constantia"/>
                <a:cs typeface="Arial"/>
              </a:rPr>
              <a:t>AT&amp;T</a:t>
            </a:r>
            <a:r>
              <a:rPr lang="en-US" sz="2000" noProof="1">
                <a:latin typeface="Constantia"/>
                <a:cs typeface="Arial"/>
              </a:rPr>
              <a:t> </a:t>
            </a:r>
            <a:r>
              <a:rPr lang="en-US" sz="2000" b="1" noProof="1">
                <a:latin typeface="Constantia"/>
                <a:cs typeface="Arial"/>
              </a:rPr>
              <a:t>Bell Labs. </a:t>
            </a:r>
            <a:r>
              <a:rPr lang="en-US" sz="2000" noProof="1">
                <a:latin typeface="Constantia"/>
                <a:cs typeface="Arial"/>
              </a:rPr>
              <a:t>It has rich history and has influenced the design of many other operating systems.</a:t>
            </a:r>
            <a:endParaRPr lang="en-US" sz="2000" b="1" noProof="1">
              <a:latin typeface="Constantia"/>
              <a:cs typeface="Arial"/>
            </a:endParaRPr>
          </a:p>
          <a:p>
            <a:endParaRPr lang="en-US" sz="2000" noProof="1">
              <a:latin typeface="Constantia"/>
              <a:cs typeface="Arial"/>
            </a:endParaRPr>
          </a:p>
          <a:p>
            <a:r>
              <a:rPr lang="en-US" sz="2000" b="1" noProof="1">
                <a:latin typeface="Constantia"/>
                <a:cs typeface="Arial"/>
              </a:rPr>
              <a:t>Ownership:</a:t>
            </a:r>
            <a:r>
              <a:rPr lang="en-US" sz="2000" noProof="1">
                <a:latin typeface="Constantia"/>
                <a:cs typeface="Arial"/>
              </a:rPr>
              <a:t>Historically, Unix was owned by </a:t>
            </a:r>
            <a:r>
              <a:rPr lang="en-US" sz="2000" b="1" noProof="1">
                <a:latin typeface="Constantia"/>
                <a:cs typeface="Arial"/>
              </a:rPr>
              <a:t>AT &amp; T </a:t>
            </a:r>
            <a:r>
              <a:rPr lang="en-US" sz="2000" noProof="1">
                <a:latin typeface="Constantia"/>
                <a:cs typeface="Arial"/>
              </a:rPr>
              <a:t>(American Telephone and Telegraph Company). Over time, various flavours of Unix were developed by different organizations, including Sun Microsystems (Solaris), IBM (AIX), HP(HP-UX) and others.</a:t>
            </a:r>
          </a:p>
          <a:p>
            <a:endParaRPr lang="en-US" sz="2000" noProof="1">
              <a:latin typeface="Constantia"/>
              <a:cs typeface="Arial"/>
            </a:endParaRPr>
          </a:p>
          <a:p>
            <a:r>
              <a:rPr lang="en-US" sz="2000" b="1" noProof="1">
                <a:latin typeface="Constantia"/>
                <a:cs typeface="Arial"/>
              </a:rPr>
              <a:t>Licensing: </a:t>
            </a:r>
            <a:r>
              <a:rPr lang="en-US" sz="2000" noProof="1">
                <a:latin typeface="Constantia"/>
                <a:cs typeface="Arial"/>
              </a:rPr>
              <a:t>Unix OS  were typically commercial and proprietery, requiring licensing fees for use.</a:t>
            </a:r>
          </a:p>
          <a:p>
            <a:r>
              <a:rPr lang="en-US" sz="2000" noProof="1">
                <a:latin typeface="Constantia"/>
                <a:cs typeface="Arial"/>
              </a:rPr>
              <a:t>This led to the development of open-source alternatives like Linux.</a:t>
            </a:r>
          </a:p>
          <a:p>
            <a:endParaRPr lang="en-US" sz="2000" noProof="1">
              <a:latin typeface="Constantia"/>
              <a:cs typeface="Arial"/>
            </a:endParaRPr>
          </a:p>
          <a:p>
            <a:r>
              <a:rPr lang="en-US" sz="2000" b="1" noProof="1">
                <a:latin typeface="Constantia"/>
                <a:cs typeface="Arial"/>
              </a:rPr>
              <a:t>User Base: </a:t>
            </a:r>
            <a:r>
              <a:rPr lang="en-US" sz="2000" noProof="1">
                <a:latin typeface="Constantia"/>
                <a:cs typeface="Arial"/>
              </a:rPr>
              <a:t>Unix systems are commonly found in enterprise environments, particularly in sectors like finance, telecommunications, and academia. They are known for their stability and reliability.</a:t>
            </a:r>
          </a:p>
          <a:p>
            <a:endParaRPr lang="en-US" sz="2000" noProof="1">
              <a:latin typeface="Constantia"/>
              <a:cs typeface="Arial"/>
            </a:endParaRPr>
          </a:p>
          <a:p>
            <a:r>
              <a:rPr lang="en-US" sz="2000" b="1" noProof="1">
                <a:latin typeface="Constantia"/>
                <a:cs typeface="Arial"/>
              </a:rPr>
              <a:t>Standards: </a:t>
            </a:r>
            <a:r>
              <a:rPr lang="en-US" sz="2000" noProof="1">
                <a:latin typeface="Constantia"/>
                <a:cs typeface="Arial"/>
              </a:rPr>
              <a:t>Unix systems often adhere to various Unix standards, such as the Single UNIX Specifications (SUS), which defines  a set of APIs and commands for Unix compatability.</a:t>
            </a:r>
          </a:p>
        </p:txBody>
      </p:sp>
    </p:spTree>
    <p:extLst>
      <p:ext uri="{BB962C8B-B14F-4D97-AF65-F5344CB8AC3E}">
        <p14:creationId xmlns:p14="http://schemas.microsoft.com/office/powerpoint/2010/main" val="2216033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Linux</a:t>
            </a:r>
            <a:endParaRPr lang="en-IN" sz="3600" b="1">
              <a:latin typeface="Constantia"/>
            </a:endParaRPr>
          </a:p>
        </p:txBody>
      </p:sp>
      <p:sp>
        <p:nvSpPr>
          <p:cNvPr id="6" name="TextBox 5">
            <a:extLst>
              <a:ext uri="{FF2B5EF4-FFF2-40B4-BE49-F238E27FC236}">
                <a16:creationId xmlns:a16="http://schemas.microsoft.com/office/drawing/2014/main" id="{DF0500B9-06E1-402A-1A50-C310899C4564}"/>
              </a:ext>
            </a:extLst>
          </p:cNvPr>
          <p:cNvSpPr txBox="1"/>
          <p:nvPr/>
        </p:nvSpPr>
        <p:spPr>
          <a:xfrm>
            <a:off x="842818" y="1344757"/>
            <a:ext cx="10820400"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Origins: </a:t>
            </a:r>
            <a:r>
              <a:rPr lang="en-US" sz="2000" noProof="1">
                <a:latin typeface="Constantia"/>
                <a:cs typeface="Arial"/>
              </a:rPr>
              <a:t>Linux is a Unix-like OS developed by Linus Torvalds in the early 1990s. It was created as an open-source alternative to Unix.</a:t>
            </a:r>
            <a:endParaRPr lang="en-US" sz="2000" b="1" noProof="1">
              <a:latin typeface="Constantia"/>
              <a:cs typeface="Arial"/>
            </a:endParaRPr>
          </a:p>
          <a:p>
            <a:endParaRPr lang="en-US" sz="2000" noProof="1">
              <a:latin typeface="Constantia"/>
              <a:cs typeface="Arial"/>
            </a:endParaRPr>
          </a:p>
          <a:p>
            <a:r>
              <a:rPr lang="en-US" sz="2000" b="1" noProof="1">
                <a:latin typeface="Constantia"/>
                <a:cs typeface="Arial"/>
              </a:rPr>
              <a:t>Ownership: </a:t>
            </a:r>
            <a:r>
              <a:rPr lang="en-US" sz="2000" noProof="1">
                <a:latin typeface="Constantia"/>
                <a:cs typeface="Arial"/>
              </a:rPr>
              <a:t>Linux is open source and distributed under the GNU General Public License (GPL). This means it can be freely used, modified, and distributed by anyone.</a:t>
            </a:r>
          </a:p>
          <a:p>
            <a:endParaRPr lang="en-US" sz="2000" noProof="1">
              <a:latin typeface="Constantia"/>
              <a:cs typeface="Arial"/>
            </a:endParaRPr>
          </a:p>
          <a:p>
            <a:r>
              <a:rPr lang="en-US" sz="2000" b="1" noProof="1">
                <a:latin typeface="Constantia"/>
                <a:cs typeface="Arial"/>
              </a:rPr>
              <a:t>Licensing: </a:t>
            </a:r>
            <a:r>
              <a:rPr lang="en-US" sz="2000" noProof="1">
                <a:latin typeface="Constantia"/>
                <a:cs typeface="Arial"/>
              </a:rPr>
              <a:t>One of the defining characteristics of Linux is its open-source nature.  Users and developers have the freedom to modify and distribute Linux distributions as they see fit.</a:t>
            </a:r>
          </a:p>
          <a:p>
            <a:endParaRPr lang="en-US" sz="2000" noProof="1">
              <a:latin typeface="Constantia"/>
              <a:cs typeface="Arial"/>
            </a:endParaRPr>
          </a:p>
          <a:p>
            <a:r>
              <a:rPr lang="en-US" sz="2000" b="1" noProof="1">
                <a:latin typeface="Constantia"/>
                <a:cs typeface="Arial"/>
              </a:rPr>
              <a:t>User Base: </a:t>
            </a:r>
            <a:r>
              <a:rPr lang="en-US" sz="2000" noProof="1">
                <a:latin typeface="Constantia"/>
                <a:cs typeface="Arial"/>
              </a:rPr>
              <a:t>Linux has a diverse user base, from servers and supercomputers to embedded systems and personal computers. It's commonly used in web hosting, cloud computing, and internet of things (IoT) devices.</a:t>
            </a:r>
          </a:p>
          <a:p>
            <a:endParaRPr lang="en-US" sz="2000" noProof="1">
              <a:latin typeface="Constantia"/>
              <a:cs typeface="Arial"/>
            </a:endParaRPr>
          </a:p>
          <a:p>
            <a:r>
              <a:rPr lang="en-US" sz="2000" b="1" noProof="1">
                <a:latin typeface="Constantia"/>
                <a:cs typeface="Arial"/>
              </a:rPr>
              <a:t>Variety: </a:t>
            </a:r>
            <a:r>
              <a:rPr lang="en-US" sz="2000" noProof="1">
                <a:latin typeface="Constantia"/>
                <a:cs typeface="Arial"/>
              </a:rPr>
              <a:t>Linux comes in many distributions, each tailored for different use cases. Examples include Ubuntu, CentOS, Debian and Fedora.</a:t>
            </a:r>
          </a:p>
        </p:txBody>
      </p:sp>
    </p:spTree>
    <p:extLst>
      <p:ext uri="{BB962C8B-B14F-4D97-AF65-F5344CB8AC3E}">
        <p14:creationId xmlns:p14="http://schemas.microsoft.com/office/powerpoint/2010/main" val="2853145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Unix and Linux</a:t>
            </a:r>
            <a:endParaRPr lang="en-IN" sz="3600" b="1">
              <a:latin typeface="Constantia"/>
            </a:endParaRPr>
          </a:p>
        </p:txBody>
      </p:sp>
      <p:sp>
        <p:nvSpPr>
          <p:cNvPr id="6" name="TextBox 5">
            <a:extLst>
              <a:ext uri="{FF2B5EF4-FFF2-40B4-BE49-F238E27FC236}">
                <a16:creationId xmlns:a16="http://schemas.microsoft.com/office/drawing/2014/main" id="{DF0500B9-06E1-402A-1A50-C310899C4564}"/>
              </a:ext>
            </a:extLst>
          </p:cNvPr>
          <p:cNvSpPr txBox="1"/>
          <p:nvPr/>
        </p:nvSpPr>
        <p:spPr>
          <a:xfrm>
            <a:off x="842818" y="1344757"/>
            <a:ext cx="10820400"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Key Similarities</a:t>
            </a:r>
          </a:p>
          <a:p>
            <a:endParaRPr lang="en-US" sz="2000" b="1" noProof="1">
              <a:latin typeface="Constantia"/>
              <a:cs typeface="Arial"/>
            </a:endParaRPr>
          </a:p>
          <a:p>
            <a:pPr marL="342900" indent="-342900">
              <a:buFont typeface="Arial"/>
              <a:buChar char="•"/>
            </a:pPr>
            <a:r>
              <a:rPr lang="en-US" sz="2000" noProof="1">
                <a:latin typeface="Constantia"/>
                <a:cs typeface="Arial"/>
              </a:rPr>
              <a:t>Both Unix and Linux are multi-user and multitasking OS, allowing multiple users and processes to run concurrently.</a:t>
            </a:r>
          </a:p>
          <a:p>
            <a:pPr marL="342900" indent="-342900">
              <a:buFont typeface="Arial"/>
              <a:buChar char="•"/>
            </a:pPr>
            <a:r>
              <a:rPr lang="en-US" sz="2000" noProof="1">
                <a:latin typeface="Constantia"/>
                <a:cs typeface="Arial"/>
              </a:rPr>
              <a:t>They share many command-line utilities and have similary directory structures.</a:t>
            </a:r>
          </a:p>
          <a:p>
            <a:pPr marL="342900" indent="-342900">
              <a:buFont typeface="Arial"/>
              <a:buChar char="•"/>
            </a:pPr>
            <a:r>
              <a:rPr lang="en-US" sz="2000" noProof="1">
                <a:latin typeface="Constantia"/>
                <a:cs typeface="Arial"/>
              </a:rPr>
              <a:t>Both support shell scripting using languages like </a:t>
            </a:r>
            <a:r>
              <a:rPr lang="en-US" sz="2000" b="1" noProof="1">
                <a:latin typeface="Constantia"/>
                <a:cs typeface="Arial"/>
              </a:rPr>
              <a:t>Bash</a:t>
            </a:r>
            <a:r>
              <a:rPr lang="en-US" sz="2000" noProof="1">
                <a:latin typeface="Constantia"/>
                <a:cs typeface="Arial"/>
              </a:rPr>
              <a:t>, making them powerful for automation.</a:t>
            </a:r>
          </a:p>
          <a:p>
            <a:pPr marL="342900" indent="-342900">
              <a:buFont typeface="Arial"/>
              <a:buChar char="•"/>
            </a:pPr>
            <a:endParaRPr lang="en-US" sz="2000" noProof="1">
              <a:latin typeface="Constantia"/>
              <a:cs typeface="Arial"/>
            </a:endParaRPr>
          </a:p>
          <a:p>
            <a:r>
              <a:rPr lang="en-US" sz="2000" b="1" noProof="1">
                <a:latin typeface="Constantia"/>
                <a:cs typeface="Arial"/>
              </a:rPr>
              <a:t>Key Differences</a:t>
            </a:r>
          </a:p>
          <a:p>
            <a:endParaRPr lang="en-US" sz="2000" b="1" noProof="1">
              <a:latin typeface="Constantia"/>
              <a:cs typeface="Arial"/>
            </a:endParaRPr>
          </a:p>
          <a:p>
            <a:pPr marL="342900" indent="-342900">
              <a:buFont typeface="Arial"/>
              <a:buChar char="•"/>
            </a:pPr>
            <a:r>
              <a:rPr lang="en-US" sz="2000" noProof="1">
                <a:latin typeface="Constantia"/>
                <a:cs typeface="Arial"/>
              </a:rPr>
              <a:t>Unix systems are often commercial and proprietary, while Linux is open source and freely available.</a:t>
            </a:r>
          </a:p>
          <a:p>
            <a:pPr marL="342900" indent="-342900">
              <a:buFont typeface="Arial"/>
              <a:buChar char="•"/>
            </a:pPr>
            <a:r>
              <a:rPr lang="en-US" sz="2000" noProof="1">
                <a:latin typeface="Constantia"/>
                <a:cs typeface="Arial"/>
              </a:rPr>
              <a:t>Linux has a broder user base and is more diverse in terms of distributions and usage scenerions.</a:t>
            </a:r>
          </a:p>
          <a:p>
            <a:pPr marL="342900" indent="-342900">
              <a:buFont typeface="Arial"/>
              <a:buChar char="•"/>
            </a:pPr>
            <a:r>
              <a:rPr lang="en-US" sz="2000" noProof="1">
                <a:latin typeface="Constantia"/>
                <a:cs typeface="Arial"/>
              </a:rPr>
              <a:t>Unix systems may have different  standards and APIs depending on the vendor, while Linux adheres to more open standards.</a:t>
            </a:r>
          </a:p>
        </p:txBody>
      </p:sp>
    </p:spTree>
    <p:extLst>
      <p:ext uri="{BB962C8B-B14F-4D97-AF65-F5344CB8AC3E}">
        <p14:creationId xmlns:p14="http://schemas.microsoft.com/office/powerpoint/2010/main" val="1308551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Unix Architecture</a:t>
            </a:r>
            <a:endParaRPr lang="en-IN" sz="3600" b="1">
              <a:latin typeface="Constantia"/>
            </a:endParaRPr>
          </a:p>
        </p:txBody>
      </p:sp>
      <p:pic>
        <p:nvPicPr>
          <p:cNvPr id="3" name="Picture 2" descr="A diagram of software components&#10;&#10;Description automatically generated">
            <a:extLst>
              <a:ext uri="{FF2B5EF4-FFF2-40B4-BE49-F238E27FC236}">
                <a16:creationId xmlns:a16="http://schemas.microsoft.com/office/drawing/2014/main" id="{69254C53-07E0-1408-D790-3A3B9A3FA553}"/>
              </a:ext>
            </a:extLst>
          </p:cNvPr>
          <p:cNvPicPr>
            <a:picLocks noChangeAspect="1"/>
          </p:cNvPicPr>
          <p:nvPr/>
        </p:nvPicPr>
        <p:blipFill>
          <a:blip r:embed="rId2"/>
          <a:stretch>
            <a:fillRect/>
          </a:stretch>
        </p:blipFill>
        <p:spPr>
          <a:xfrm>
            <a:off x="7599219" y="1711036"/>
            <a:ext cx="4174836" cy="4151745"/>
          </a:xfrm>
          <a:prstGeom prst="rect">
            <a:avLst/>
          </a:prstGeom>
        </p:spPr>
      </p:pic>
      <p:sp>
        <p:nvSpPr>
          <p:cNvPr id="5" name="TextBox 4">
            <a:extLst>
              <a:ext uri="{FF2B5EF4-FFF2-40B4-BE49-F238E27FC236}">
                <a16:creationId xmlns:a16="http://schemas.microsoft.com/office/drawing/2014/main" id="{A22C6D47-9232-2B7F-30E2-C4BAEC3E67F6}"/>
              </a:ext>
            </a:extLst>
          </p:cNvPr>
          <p:cNvSpPr txBox="1"/>
          <p:nvPr/>
        </p:nvSpPr>
        <p:spPr>
          <a:xfrm>
            <a:off x="842818" y="1053595"/>
            <a:ext cx="6664037"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Hardware</a:t>
            </a:r>
          </a:p>
          <a:p>
            <a:endParaRPr lang="en-US" sz="2000" b="1" noProof="1">
              <a:latin typeface="Constantia"/>
              <a:cs typeface="Arial"/>
            </a:endParaRPr>
          </a:p>
          <a:p>
            <a:pPr marL="342900" indent="-342900">
              <a:buFont typeface="Arial"/>
              <a:buChar char="•"/>
            </a:pPr>
            <a:r>
              <a:rPr lang="en-US" sz="2000" noProof="1">
                <a:latin typeface="Constantia"/>
                <a:cs typeface="Arial"/>
              </a:rPr>
              <a:t>Unix runs of computer hardware, which includes the CPU, memory (RAM), Storage devices etc.,</a:t>
            </a:r>
          </a:p>
          <a:p>
            <a:endParaRPr lang="en-US" sz="2000" noProof="1">
              <a:latin typeface="Constantia"/>
              <a:cs typeface="Arial"/>
            </a:endParaRPr>
          </a:p>
          <a:p>
            <a:r>
              <a:rPr lang="en-US" sz="2000" b="1" noProof="1">
                <a:latin typeface="Constantia"/>
                <a:cs typeface="Arial"/>
              </a:rPr>
              <a:t>Kernel (Windows)</a:t>
            </a:r>
          </a:p>
          <a:p>
            <a:endParaRPr lang="en-US" sz="2000" b="1" noProof="1">
              <a:latin typeface="Constantia"/>
              <a:cs typeface="Arial"/>
            </a:endParaRPr>
          </a:p>
          <a:p>
            <a:pPr marL="342900" indent="-342900">
              <a:buFont typeface="Arial"/>
              <a:buChar char="•"/>
            </a:pPr>
            <a:r>
              <a:rPr lang="en-US" sz="2000" noProof="1">
                <a:latin typeface="Constantia"/>
                <a:cs typeface="Arial"/>
              </a:rPr>
              <a:t>The Kernel is the core of the Unix OS. It directly interacts with hardware components and provides essential services to user programs.</a:t>
            </a:r>
          </a:p>
          <a:p>
            <a:pPr marL="342900" indent="-342900">
              <a:buFont typeface="Arial"/>
              <a:buChar char="•"/>
            </a:pPr>
            <a:r>
              <a:rPr lang="en-US" sz="2000" noProof="1">
                <a:latin typeface="Constantia"/>
                <a:cs typeface="Arial"/>
              </a:rPr>
              <a:t>It is responsible for enforcing security policies and managing access control.</a:t>
            </a:r>
          </a:p>
          <a:p>
            <a:pPr marL="342900" indent="-342900">
              <a:buFont typeface="Arial"/>
              <a:buChar char="•"/>
            </a:pPr>
            <a:endParaRPr lang="en-US" sz="2000" noProof="1">
              <a:latin typeface="Constantia"/>
              <a:cs typeface="Arial"/>
            </a:endParaRPr>
          </a:p>
          <a:p>
            <a:r>
              <a:rPr lang="en-US" sz="2000" b="1" noProof="1">
                <a:latin typeface="Constantia"/>
                <a:cs typeface="Arial"/>
              </a:rPr>
              <a:t>Shell (CMD)</a:t>
            </a:r>
          </a:p>
          <a:p>
            <a:endParaRPr lang="en-US" sz="2000" b="1" noProof="1">
              <a:latin typeface="Constantia"/>
              <a:cs typeface="Arial"/>
            </a:endParaRPr>
          </a:p>
          <a:p>
            <a:pPr marL="342900" indent="-342900">
              <a:buFont typeface="Arial"/>
              <a:buChar char="•"/>
            </a:pPr>
            <a:r>
              <a:rPr lang="en-US" sz="2000" noProof="1">
                <a:latin typeface="Constantia"/>
                <a:cs typeface="Arial"/>
              </a:rPr>
              <a:t>It is CLI that serves as a primary interaction point with Unix system.</a:t>
            </a:r>
            <a:endParaRPr lang="en-US" sz="2000" b="1" noProof="1">
              <a:latin typeface="Constantia"/>
              <a:cs typeface="Arial"/>
            </a:endParaRPr>
          </a:p>
        </p:txBody>
      </p:sp>
    </p:spTree>
    <p:extLst>
      <p:ext uri="{BB962C8B-B14F-4D97-AF65-F5344CB8AC3E}">
        <p14:creationId xmlns:p14="http://schemas.microsoft.com/office/powerpoint/2010/main" val="2616120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File Handling Commands</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762000" y="1171575"/>
            <a:ext cx="10820400"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Basic File Handling Commands</a:t>
            </a:r>
          </a:p>
          <a:p>
            <a:endParaRPr lang="en-US" sz="2000" b="1" noProof="1">
              <a:latin typeface="Constantia"/>
              <a:cs typeface="Arial"/>
            </a:endParaRPr>
          </a:p>
          <a:p>
            <a:pPr marL="457200" indent="-457200">
              <a:buAutoNum type="arabicPeriod"/>
            </a:pPr>
            <a:r>
              <a:rPr lang="en-US" sz="2000" noProof="1">
                <a:latin typeface="Constantia"/>
                <a:cs typeface="Arial"/>
              </a:rPr>
              <a:t>mkdir</a:t>
            </a:r>
          </a:p>
          <a:p>
            <a:pPr marL="457200" indent="-457200">
              <a:buAutoNum type="arabicPeriod"/>
            </a:pPr>
            <a:r>
              <a:rPr lang="en-US" sz="2000" noProof="1">
                <a:latin typeface="Constantia"/>
                <a:cs typeface="Arial"/>
              </a:rPr>
              <a:t>ls</a:t>
            </a:r>
          </a:p>
          <a:p>
            <a:pPr marL="457200" indent="-457200">
              <a:buAutoNum type="arabicPeriod"/>
            </a:pPr>
            <a:r>
              <a:rPr lang="en-US" sz="2000" noProof="1">
                <a:latin typeface="Constantia"/>
                <a:cs typeface="Arial"/>
              </a:rPr>
              <a:t>pwd</a:t>
            </a:r>
          </a:p>
          <a:p>
            <a:pPr marL="457200" indent="-457200">
              <a:buAutoNum type="arabicPeriod"/>
            </a:pPr>
            <a:r>
              <a:rPr lang="en-US" sz="2000" noProof="1">
                <a:latin typeface="Constantia"/>
                <a:cs typeface="Arial"/>
              </a:rPr>
              <a:t>cd</a:t>
            </a:r>
          </a:p>
          <a:p>
            <a:pPr marL="457200" indent="-457200">
              <a:buAutoNum type="arabicPeriod"/>
            </a:pPr>
            <a:r>
              <a:rPr lang="en-US" sz="2000" noProof="1">
                <a:latin typeface="Constantia"/>
                <a:cs typeface="Arial"/>
              </a:rPr>
              <a:t>cp</a:t>
            </a:r>
          </a:p>
          <a:p>
            <a:pPr marL="457200" indent="-457200">
              <a:buAutoNum type="arabicPeriod"/>
            </a:pPr>
            <a:r>
              <a:rPr lang="en-US" sz="2000" noProof="1">
                <a:latin typeface="Constantia"/>
                <a:cs typeface="Arial"/>
              </a:rPr>
              <a:t>mv</a:t>
            </a:r>
          </a:p>
          <a:p>
            <a:pPr marL="457200" indent="-457200">
              <a:buAutoNum type="arabicPeriod"/>
            </a:pPr>
            <a:r>
              <a:rPr lang="en-US" sz="2000" noProof="1">
                <a:latin typeface="Constantia"/>
                <a:cs typeface="Arial"/>
              </a:rPr>
              <a:t>rmdir</a:t>
            </a:r>
          </a:p>
          <a:p>
            <a:pPr marL="457200" indent="-457200">
              <a:buAutoNum type="arabicPeriod"/>
            </a:pPr>
            <a:r>
              <a:rPr lang="en-US" sz="2000" noProof="1">
                <a:latin typeface="Constantia"/>
                <a:cs typeface="Arial"/>
              </a:rPr>
              <a:t>rm</a:t>
            </a:r>
          </a:p>
          <a:p>
            <a:pPr marL="457200" indent="-457200">
              <a:buAutoNum type="arabicPeriod"/>
            </a:pPr>
            <a:endParaRPr lang="en-US" sz="2000" noProof="1">
              <a:latin typeface="Constantia"/>
              <a:cs typeface="Arial"/>
            </a:endParaRPr>
          </a:p>
          <a:p>
            <a:r>
              <a:rPr lang="en-US" sz="2000" b="1" noProof="1">
                <a:latin typeface="Constantia"/>
                <a:cs typeface="Arial"/>
              </a:rPr>
              <a:t>What is a Directory?</a:t>
            </a:r>
            <a:endParaRPr lang="en-US" sz="2000" noProof="1">
              <a:latin typeface="Constantia"/>
              <a:cs typeface="Arial"/>
            </a:endParaRPr>
          </a:p>
          <a:p>
            <a:pPr marL="342900" indent="-342900">
              <a:buFont typeface="Arial"/>
              <a:buChar char="•"/>
            </a:pPr>
            <a:r>
              <a:rPr lang="en-US" sz="2000" noProof="1">
                <a:latin typeface="Constantia"/>
                <a:cs typeface="Arial"/>
              </a:rPr>
              <a:t>A directory is like a file folder. A directory can containes files, and other directories.</a:t>
            </a:r>
            <a:endParaRPr lang="en-US" sz="2000" b="1" noProof="1">
              <a:latin typeface="Constantia"/>
              <a:cs typeface="Arial"/>
            </a:endParaRPr>
          </a:p>
          <a:p>
            <a:endParaRPr lang="en-US" sz="2000" b="1" noProof="1">
              <a:latin typeface="Constantia"/>
              <a:cs typeface="Arial"/>
            </a:endParaRPr>
          </a:p>
          <a:p>
            <a:r>
              <a:rPr lang="en-US" sz="2000" b="1" noProof="1">
                <a:latin typeface="Constantia"/>
                <a:cs typeface="Arial"/>
              </a:rPr>
              <a:t>What is a File?</a:t>
            </a:r>
          </a:p>
          <a:p>
            <a:pPr marL="342900" indent="-342900">
              <a:buFont typeface="Arial"/>
              <a:buChar char="•"/>
            </a:pPr>
            <a:r>
              <a:rPr lang="en-US" sz="2000" noProof="1">
                <a:latin typeface="Constantia"/>
                <a:cs typeface="Arial"/>
              </a:rPr>
              <a:t>A file in a unix file system which containes information.</a:t>
            </a:r>
            <a:endParaRPr lang="en-US" sz="2000" b="1" noProof="1">
              <a:latin typeface="Constantia"/>
              <a:cs typeface="Arial"/>
            </a:endParaRPr>
          </a:p>
        </p:txBody>
      </p:sp>
    </p:spTree>
    <p:extLst>
      <p:ext uri="{BB962C8B-B14F-4D97-AF65-F5344CB8AC3E}">
        <p14:creationId xmlns:p14="http://schemas.microsoft.com/office/powerpoint/2010/main" val="3263694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File Handling Commands</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223236"/>
            <a:ext cx="10820400"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ls command</a:t>
            </a:r>
          </a:p>
          <a:p>
            <a:endParaRPr lang="en-US" sz="2000" b="1" noProof="1">
              <a:latin typeface="Constantia"/>
              <a:cs typeface="Arial"/>
            </a:endParaRPr>
          </a:p>
          <a:p>
            <a:pPr marL="457200" indent="-457200">
              <a:buFont typeface="Arial"/>
              <a:buChar char="•"/>
            </a:pPr>
            <a:r>
              <a:rPr lang="en-US" sz="2000" noProof="1">
                <a:latin typeface="Constantia"/>
                <a:cs typeface="Arial"/>
              </a:rPr>
              <a:t>This command lists the content of any directory (current directory if no directory specified).</a:t>
            </a:r>
          </a:p>
          <a:p>
            <a:pPr marL="457200" indent="-457200">
              <a:buFont typeface="Arial"/>
              <a:buChar char="•"/>
            </a:pPr>
            <a:r>
              <a:rPr lang="en-US" sz="2000" noProof="1">
                <a:latin typeface="Constantia"/>
                <a:cs typeface="Arial"/>
              </a:rPr>
              <a:t>Sorts entries without option.</a:t>
            </a:r>
          </a:p>
          <a:p>
            <a:pPr marL="457200" indent="-457200">
              <a:buFont typeface="Arial"/>
              <a:buChar char="•"/>
            </a:pPr>
            <a:r>
              <a:rPr lang="en-US" sz="2000" noProof="1">
                <a:latin typeface="Constantia"/>
                <a:cs typeface="Arial"/>
              </a:rPr>
              <a:t>Syntax is </a:t>
            </a:r>
            <a:r>
              <a:rPr lang="en-US" sz="2000" b="1" noProof="1">
                <a:latin typeface="Constantia"/>
                <a:cs typeface="Arial"/>
              </a:rPr>
              <a:t>$ ls [ option(s) ] [filename]</a:t>
            </a:r>
          </a:p>
          <a:p>
            <a:pPr marL="457200" indent="-457200">
              <a:buFont typeface="Arial"/>
              <a:buChar char="•"/>
            </a:pPr>
            <a:r>
              <a:rPr lang="en-US" sz="2000" noProof="1">
                <a:latin typeface="Constantia"/>
                <a:cs typeface="Arial"/>
              </a:rPr>
              <a:t>Command to list the content of directory "Games".</a:t>
            </a:r>
          </a:p>
          <a:p>
            <a:pPr marL="457200" indent="-457200">
              <a:buFont typeface="Arial"/>
              <a:buChar char="•"/>
            </a:pPr>
            <a:endParaRPr lang="en-US" sz="2000" noProof="1">
              <a:latin typeface="Constantia"/>
              <a:cs typeface="Arial"/>
            </a:endParaRPr>
          </a:p>
          <a:p>
            <a:pPr marL="457200" indent="-457200">
              <a:buFont typeface="Arial"/>
              <a:buChar char="•"/>
            </a:pPr>
            <a:endParaRPr lang="en-US" sz="2000" noProof="1">
              <a:latin typeface="Constantia"/>
              <a:cs typeface="Arial"/>
            </a:endParaRPr>
          </a:p>
          <a:p>
            <a:pPr marL="457200" indent="-457200">
              <a:buFont typeface="Arial"/>
              <a:buChar char="•"/>
            </a:pPr>
            <a:endParaRPr lang="en-US" sz="2000" noProof="1">
              <a:latin typeface="Constantia"/>
              <a:cs typeface="Arial"/>
            </a:endParaRPr>
          </a:p>
          <a:p>
            <a:pPr marL="457200" indent="-457200">
              <a:buFont typeface="Arial,Sans-Serif"/>
              <a:buChar char="•"/>
            </a:pPr>
            <a:r>
              <a:rPr lang="en-US" sz="2000" noProof="1">
                <a:latin typeface="Constantia"/>
                <a:cs typeface="Arial"/>
              </a:rPr>
              <a:t>Above command only works in Unix-like environment such as Linux and macOS.</a:t>
            </a:r>
          </a:p>
          <a:p>
            <a:pPr marL="457200" indent="-457200">
              <a:buFont typeface="Arial,Sans-Serif"/>
              <a:buChar char="•"/>
            </a:pPr>
            <a:endParaRPr lang="en-US" sz="2000" noProof="1">
              <a:latin typeface="Constantia"/>
              <a:cs typeface="Arial"/>
            </a:endParaRPr>
          </a:p>
          <a:p>
            <a:pPr marL="457200" indent="-457200">
              <a:buFont typeface="Arial,Sans-Serif"/>
              <a:buChar char="•"/>
            </a:pPr>
            <a:r>
              <a:rPr lang="en-US" sz="2000" noProof="1">
                <a:latin typeface="Constantia"/>
                <a:cs typeface="Arial"/>
              </a:rPr>
              <a:t>In Windows command prompt, the equivalent command is </a:t>
            </a:r>
            <a:r>
              <a:rPr lang="en-US" sz="2000" b="1" noProof="1">
                <a:latin typeface="Constantia"/>
                <a:cs typeface="Arial"/>
              </a:rPr>
              <a:t>"dir".</a:t>
            </a:r>
          </a:p>
          <a:p>
            <a:pPr marL="457200" indent="-457200">
              <a:buFont typeface="Arial"/>
              <a:buChar char="•"/>
            </a:pPr>
            <a:endParaRPr lang="en-US" sz="2000" noProof="1">
              <a:latin typeface="Constantia"/>
              <a:cs typeface="Arial"/>
            </a:endParaRPr>
          </a:p>
        </p:txBody>
      </p:sp>
      <p:pic>
        <p:nvPicPr>
          <p:cNvPr id="5" name="Picture 4">
            <a:extLst>
              <a:ext uri="{FF2B5EF4-FFF2-40B4-BE49-F238E27FC236}">
                <a16:creationId xmlns:a16="http://schemas.microsoft.com/office/drawing/2014/main" id="{D73E477A-9D65-732C-5A44-7DF375BA1A46}"/>
              </a:ext>
            </a:extLst>
          </p:cNvPr>
          <p:cNvPicPr>
            <a:picLocks noChangeAspect="1"/>
          </p:cNvPicPr>
          <p:nvPr/>
        </p:nvPicPr>
        <p:blipFill>
          <a:blip r:embed="rId2"/>
          <a:stretch>
            <a:fillRect/>
          </a:stretch>
        </p:blipFill>
        <p:spPr>
          <a:xfrm>
            <a:off x="2955010" y="3205060"/>
            <a:ext cx="6294894" cy="564117"/>
          </a:xfrm>
          <a:prstGeom prst="rect">
            <a:avLst/>
          </a:prstGeom>
        </p:spPr>
      </p:pic>
      <p:pic>
        <p:nvPicPr>
          <p:cNvPr id="7" name="Picture 6">
            <a:extLst>
              <a:ext uri="{FF2B5EF4-FFF2-40B4-BE49-F238E27FC236}">
                <a16:creationId xmlns:a16="http://schemas.microsoft.com/office/drawing/2014/main" id="{130B7AB4-72B1-DD2B-DFC8-7035E59CEC2C}"/>
              </a:ext>
            </a:extLst>
          </p:cNvPr>
          <p:cNvPicPr>
            <a:picLocks noChangeAspect="1"/>
          </p:cNvPicPr>
          <p:nvPr/>
        </p:nvPicPr>
        <p:blipFill>
          <a:blip r:embed="rId3"/>
          <a:stretch>
            <a:fillRect/>
          </a:stretch>
        </p:blipFill>
        <p:spPr>
          <a:xfrm>
            <a:off x="3174569" y="4954390"/>
            <a:ext cx="5842860" cy="733388"/>
          </a:xfrm>
          <a:prstGeom prst="rect">
            <a:avLst/>
          </a:prstGeom>
        </p:spPr>
      </p:pic>
    </p:spTree>
    <p:extLst>
      <p:ext uri="{BB962C8B-B14F-4D97-AF65-F5344CB8AC3E}">
        <p14:creationId xmlns:p14="http://schemas.microsoft.com/office/powerpoint/2010/main" val="4110731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File Handling Commands</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762000" y="1171575"/>
            <a:ext cx="1082040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mkdir command</a:t>
            </a:r>
          </a:p>
          <a:p>
            <a:endParaRPr lang="en-US" sz="2000" b="1" noProof="1">
              <a:latin typeface="Constantia"/>
              <a:cs typeface="Arial"/>
            </a:endParaRPr>
          </a:p>
          <a:p>
            <a:pPr marL="457200" indent="-457200">
              <a:buFont typeface="Arial"/>
              <a:buChar char="•"/>
            </a:pPr>
            <a:r>
              <a:rPr lang="en-US" sz="2000" noProof="1">
                <a:latin typeface="Constantia"/>
                <a:cs typeface="Arial"/>
              </a:rPr>
              <a:t>The mkdir command creates a directory with specified name in the present working directory or specified path.</a:t>
            </a:r>
          </a:p>
          <a:p>
            <a:pPr marL="457200" indent="-457200">
              <a:buFont typeface="Arial"/>
              <a:buChar char="•"/>
            </a:pPr>
            <a:r>
              <a:rPr lang="en-US" sz="2000" noProof="1">
                <a:latin typeface="Constantia"/>
                <a:cs typeface="Arial"/>
              </a:rPr>
              <a:t>Syntax is  </a:t>
            </a:r>
            <a:r>
              <a:rPr lang="en-US" sz="2000" b="1" noProof="1">
                <a:latin typeface="Constantia"/>
                <a:cs typeface="Arial"/>
              </a:rPr>
              <a:t>$mkdir &lt;dir_name&gt; [ &lt;dir_name2&gt; ]</a:t>
            </a:r>
          </a:p>
          <a:p>
            <a:pPr marL="457200" indent="-457200">
              <a:buFont typeface="Arial"/>
              <a:buChar char="•"/>
            </a:pPr>
            <a:endParaRPr lang="en-US" sz="2000" b="1" noProof="1">
              <a:latin typeface="Constantia"/>
              <a:cs typeface="Arial"/>
            </a:endParaRPr>
          </a:p>
          <a:p>
            <a:pPr marL="457200" indent="-457200">
              <a:buFont typeface="Arial"/>
              <a:buChar char="•"/>
            </a:pPr>
            <a:r>
              <a:rPr lang="en-US" sz="2000" noProof="1">
                <a:latin typeface="Constantia"/>
                <a:cs typeface="Arial"/>
              </a:rPr>
              <a:t>Command to create a new directory called "Games".</a:t>
            </a:r>
          </a:p>
          <a:p>
            <a:pPr marL="457200" indent="-457200">
              <a:buFont typeface="Arial"/>
              <a:buChar char="•"/>
            </a:pPr>
            <a:endParaRPr lang="en-US" sz="2000" noProof="1">
              <a:latin typeface="Constantia"/>
              <a:cs typeface="Arial"/>
            </a:endParaRPr>
          </a:p>
          <a:p>
            <a:pPr marL="457200" indent="-457200">
              <a:buFont typeface="Arial"/>
              <a:buChar char="•"/>
            </a:pPr>
            <a:endParaRPr lang="en-US" sz="2000" noProof="1">
              <a:latin typeface="Constantia"/>
              <a:cs typeface="Arial"/>
            </a:endParaRPr>
          </a:p>
          <a:p>
            <a:pPr marL="457200" indent="-457200">
              <a:buFont typeface="Arial"/>
              <a:buChar char="•"/>
            </a:pPr>
            <a:endParaRPr lang="en-US" sz="2000" noProof="1">
              <a:latin typeface="Constantia"/>
              <a:cs typeface="Arial"/>
            </a:endParaRPr>
          </a:p>
          <a:p>
            <a:pPr marL="457200" indent="-457200">
              <a:buFont typeface="Arial,Sans-Serif"/>
              <a:buChar char="•"/>
            </a:pPr>
            <a:r>
              <a:rPr lang="en-US" sz="2000" noProof="1">
                <a:latin typeface="Constantia"/>
                <a:cs typeface="Arial"/>
              </a:rPr>
              <a:t>Command to create a child directory inside "Games" directory.</a:t>
            </a:r>
          </a:p>
          <a:p>
            <a:pPr marL="457200" indent="-457200">
              <a:buFont typeface="Arial"/>
              <a:buChar char="•"/>
            </a:pPr>
            <a:endParaRPr lang="en-US" sz="2000" noProof="1">
              <a:latin typeface="Constantia"/>
              <a:cs typeface="Arial"/>
            </a:endParaRPr>
          </a:p>
        </p:txBody>
      </p:sp>
      <p:pic>
        <p:nvPicPr>
          <p:cNvPr id="3" name="Picture 2">
            <a:extLst>
              <a:ext uri="{FF2B5EF4-FFF2-40B4-BE49-F238E27FC236}">
                <a16:creationId xmlns:a16="http://schemas.microsoft.com/office/drawing/2014/main" id="{79957994-7349-B2F1-5DF5-D9733AF19476}"/>
              </a:ext>
            </a:extLst>
          </p:cNvPr>
          <p:cNvPicPr>
            <a:picLocks noChangeAspect="1"/>
          </p:cNvPicPr>
          <p:nvPr/>
        </p:nvPicPr>
        <p:blipFill>
          <a:blip r:embed="rId2"/>
          <a:stretch>
            <a:fillRect/>
          </a:stretch>
        </p:blipFill>
        <p:spPr>
          <a:xfrm>
            <a:off x="2800028" y="3414761"/>
            <a:ext cx="6126996" cy="622580"/>
          </a:xfrm>
          <a:prstGeom prst="rect">
            <a:avLst/>
          </a:prstGeom>
        </p:spPr>
      </p:pic>
      <p:pic>
        <p:nvPicPr>
          <p:cNvPr id="4" name="Picture 3">
            <a:extLst>
              <a:ext uri="{FF2B5EF4-FFF2-40B4-BE49-F238E27FC236}">
                <a16:creationId xmlns:a16="http://schemas.microsoft.com/office/drawing/2014/main" id="{822BF458-AAE0-E9C6-8D73-9986F67CE9DB}"/>
              </a:ext>
            </a:extLst>
          </p:cNvPr>
          <p:cNvPicPr>
            <a:picLocks noChangeAspect="1"/>
          </p:cNvPicPr>
          <p:nvPr/>
        </p:nvPicPr>
        <p:blipFill>
          <a:blip r:embed="rId3"/>
          <a:stretch>
            <a:fillRect/>
          </a:stretch>
        </p:blipFill>
        <p:spPr>
          <a:xfrm>
            <a:off x="1689315" y="4666397"/>
            <a:ext cx="8361334" cy="702357"/>
          </a:xfrm>
          <a:prstGeom prst="rect">
            <a:avLst/>
          </a:prstGeom>
        </p:spPr>
      </p:pic>
    </p:spTree>
    <p:extLst>
      <p:ext uri="{BB962C8B-B14F-4D97-AF65-F5344CB8AC3E}">
        <p14:creationId xmlns:p14="http://schemas.microsoft.com/office/powerpoint/2010/main" val="1406027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File Handling Commands</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223236"/>
            <a:ext cx="1082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ls command options</a:t>
            </a:r>
          </a:p>
        </p:txBody>
      </p:sp>
      <p:graphicFrame>
        <p:nvGraphicFramePr>
          <p:cNvPr id="3" name="Table 2">
            <a:extLst>
              <a:ext uri="{FF2B5EF4-FFF2-40B4-BE49-F238E27FC236}">
                <a16:creationId xmlns:a16="http://schemas.microsoft.com/office/drawing/2014/main" id="{20625744-85EA-4702-FF80-E3884ABDCA0C}"/>
              </a:ext>
            </a:extLst>
          </p:cNvPr>
          <p:cNvGraphicFramePr>
            <a:graphicFrameLocks noGrp="1"/>
          </p:cNvGraphicFramePr>
          <p:nvPr>
            <p:extLst>
              <p:ext uri="{D42A27DB-BD31-4B8C-83A1-F6EECF244321}">
                <p14:modId xmlns:p14="http://schemas.microsoft.com/office/powerpoint/2010/main" val="3636594986"/>
              </p:ext>
            </p:extLst>
          </p:nvPr>
        </p:nvGraphicFramePr>
        <p:xfrm>
          <a:off x="2011680" y="1716851"/>
          <a:ext cx="9362027" cy="3088433"/>
        </p:xfrm>
        <a:graphic>
          <a:graphicData uri="http://schemas.openxmlformats.org/drawingml/2006/table">
            <a:tbl>
              <a:tblPr firstRow="1" bandRow="1">
                <a:tableStyleId>{5C22544A-7EE6-4342-B048-85BDC9FD1C3A}</a:tableStyleId>
              </a:tblPr>
              <a:tblGrid>
                <a:gridCol w="2237567">
                  <a:extLst>
                    <a:ext uri="{9D8B030D-6E8A-4147-A177-3AD203B41FA5}">
                      <a16:colId xmlns:a16="http://schemas.microsoft.com/office/drawing/2014/main" val="1109261940"/>
                    </a:ext>
                  </a:extLst>
                </a:gridCol>
                <a:gridCol w="7124460">
                  <a:extLst>
                    <a:ext uri="{9D8B030D-6E8A-4147-A177-3AD203B41FA5}">
                      <a16:colId xmlns:a16="http://schemas.microsoft.com/office/drawing/2014/main" val="2658345421"/>
                    </a:ext>
                  </a:extLst>
                </a:gridCol>
              </a:tblGrid>
              <a:tr h="490133">
                <a:tc>
                  <a:txBody>
                    <a:bodyPr/>
                    <a:lstStyle/>
                    <a:p>
                      <a:pPr algn="ctr"/>
                      <a:r>
                        <a:rPr lang="en-US">
                          <a:latin typeface="Constantia"/>
                        </a:rPr>
                        <a:t>Option</a:t>
                      </a:r>
                    </a:p>
                  </a:txBody>
                  <a:tcPr anchor="ctr"/>
                </a:tc>
                <a:tc>
                  <a:txBody>
                    <a:bodyPr/>
                    <a:lstStyle/>
                    <a:p>
                      <a:pPr algn="ctr"/>
                      <a:r>
                        <a:rPr lang="en-US">
                          <a:latin typeface="Constantia"/>
                        </a:rPr>
                        <a:t>Description</a:t>
                      </a:r>
                    </a:p>
                  </a:txBody>
                  <a:tcPr anchor="ctr"/>
                </a:tc>
                <a:extLst>
                  <a:ext uri="{0D108BD9-81ED-4DB2-BD59-A6C34878D82A}">
                    <a16:rowId xmlns:a16="http://schemas.microsoft.com/office/drawing/2014/main" val="1064830665"/>
                  </a:ext>
                </a:extLst>
              </a:tr>
              <a:tr h="370840">
                <a:tc>
                  <a:txBody>
                    <a:bodyPr/>
                    <a:lstStyle/>
                    <a:p>
                      <a:r>
                        <a:rPr lang="en-US">
                          <a:latin typeface="Constantia"/>
                        </a:rPr>
                        <a:t>-a, --all</a:t>
                      </a:r>
                    </a:p>
                  </a:txBody>
                  <a:tcPr/>
                </a:tc>
                <a:tc>
                  <a:txBody>
                    <a:bodyPr/>
                    <a:lstStyle/>
                    <a:p>
                      <a:r>
                        <a:rPr lang="en-US">
                          <a:latin typeface="Constantia"/>
                        </a:rPr>
                        <a:t>Shows all files including hidden files</a:t>
                      </a:r>
                    </a:p>
                  </a:txBody>
                  <a:tcPr/>
                </a:tc>
                <a:extLst>
                  <a:ext uri="{0D108BD9-81ED-4DB2-BD59-A6C34878D82A}">
                    <a16:rowId xmlns:a16="http://schemas.microsoft.com/office/drawing/2014/main" val="820640131"/>
                  </a:ext>
                </a:extLst>
              </a:tr>
              <a:tr h="373260">
                <a:tc>
                  <a:txBody>
                    <a:bodyPr/>
                    <a:lstStyle/>
                    <a:p>
                      <a:r>
                        <a:rPr lang="en-US">
                          <a:latin typeface="Constantia"/>
                        </a:rPr>
                        <a:t>-A</a:t>
                      </a:r>
                    </a:p>
                  </a:txBody>
                  <a:tcPr/>
                </a:tc>
                <a:tc>
                  <a:txBody>
                    <a:bodyPr/>
                    <a:lstStyle/>
                    <a:p>
                      <a:r>
                        <a:rPr lang="en-US">
                          <a:latin typeface="Constantia"/>
                        </a:rPr>
                        <a:t>Shows all files except Current(.) and Parent(..) directories</a:t>
                      </a:r>
                    </a:p>
                  </a:txBody>
                  <a:tcPr/>
                </a:tc>
                <a:extLst>
                  <a:ext uri="{0D108BD9-81ED-4DB2-BD59-A6C34878D82A}">
                    <a16:rowId xmlns:a16="http://schemas.microsoft.com/office/drawing/2014/main" val="2378644617"/>
                  </a:ext>
                </a:extLst>
              </a:tr>
              <a:tr h="370840">
                <a:tc>
                  <a:txBody>
                    <a:bodyPr/>
                    <a:lstStyle/>
                    <a:p>
                      <a:r>
                        <a:rPr lang="en-US">
                          <a:latin typeface="Constantia"/>
                        </a:rPr>
                        <a:t>-</a:t>
                      </a:r>
                      <a:r>
                        <a:rPr lang="en-US" noProof="1">
                          <a:latin typeface="Constantia"/>
                        </a:rPr>
                        <a:t>i</a:t>
                      </a:r>
                    </a:p>
                  </a:txBody>
                  <a:tcPr/>
                </a:tc>
                <a:tc>
                  <a:txBody>
                    <a:bodyPr/>
                    <a:lstStyle/>
                    <a:p>
                      <a:r>
                        <a:rPr lang="en-US" noProof="1">
                          <a:latin typeface="Constantia"/>
                        </a:rPr>
                        <a:t>Shows the inode numer and file name</a:t>
                      </a:r>
                    </a:p>
                  </a:txBody>
                  <a:tcPr/>
                </a:tc>
                <a:extLst>
                  <a:ext uri="{0D108BD9-81ED-4DB2-BD59-A6C34878D82A}">
                    <a16:rowId xmlns:a16="http://schemas.microsoft.com/office/drawing/2014/main" val="317740735"/>
                  </a:ext>
                </a:extLst>
              </a:tr>
              <a:tr h="370840">
                <a:tc>
                  <a:txBody>
                    <a:bodyPr/>
                    <a:lstStyle/>
                    <a:p>
                      <a:r>
                        <a:rPr lang="en-US">
                          <a:latin typeface="Constantia"/>
                        </a:rPr>
                        <a:t>-r</a:t>
                      </a:r>
                    </a:p>
                  </a:txBody>
                  <a:tcPr/>
                </a:tc>
                <a:tc>
                  <a:txBody>
                    <a:bodyPr/>
                    <a:lstStyle/>
                    <a:p>
                      <a:r>
                        <a:rPr lang="en-US">
                          <a:latin typeface="Constantia"/>
                        </a:rPr>
                        <a:t>Shows the long list</a:t>
                      </a:r>
                    </a:p>
                  </a:txBody>
                  <a:tcPr/>
                </a:tc>
                <a:extLst>
                  <a:ext uri="{0D108BD9-81ED-4DB2-BD59-A6C34878D82A}">
                    <a16:rowId xmlns:a16="http://schemas.microsoft.com/office/drawing/2014/main" val="3790843120"/>
                  </a:ext>
                </a:extLst>
              </a:tr>
              <a:tr h="370840">
                <a:tc>
                  <a:txBody>
                    <a:bodyPr/>
                    <a:lstStyle/>
                    <a:p>
                      <a:r>
                        <a:rPr lang="en-US">
                          <a:latin typeface="Constantia"/>
                        </a:rPr>
                        <a:t>-R</a:t>
                      </a:r>
                    </a:p>
                  </a:txBody>
                  <a:tcPr/>
                </a:tc>
                <a:tc>
                  <a:txBody>
                    <a:bodyPr/>
                    <a:lstStyle/>
                    <a:p>
                      <a:r>
                        <a:rPr lang="en-US">
                          <a:latin typeface="Constantia"/>
                        </a:rPr>
                        <a:t>List Directories and Sub Directories</a:t>
                      </a:r>
                    </a:p>
                  </a:txBody>
                  <a:tcPr/>
                </a:tc>
                <a:extLst>
                  <a:ext uri="{0D108BD9-81ED-4DB2-BD59-A6C34878D82A}">
                    <a16:rowId xmlns:a16="http://schemas.microsoft.com/office/drawing/2014/main" val="3450093562"/>
                  </a:ext>
                </a:extLst>
              </a:tr>
              <a:tr h="370840">
                <a:tc>
                  <a:txBody>
                    <a:bodyPr/>
                    <a:lstStyle/>
                    <a:p>
                      <a:r>
                        <a:rPr lang="en-US">
                          <a:latin typeface="Constantia"/>
                        </a:rPr>
                        <a:t>-S</a:t>
                      </a:r>
                    </a:p>
                  </a:txBody>
                  <a:tcPr/>
                </a:tc>
                <a:tc>
                  <a:txBody>
                    <a:bodyPr/>
                    <a:lstStyle/>
                    <a:p>
                      <a:r>
                        <a:rPr lang="en-US">
                          <a:latin typeface="Constantia"/>
                        </a:rPr>
                        <a:t>Sort by file size (Descending)</a:t>
                      </a:r>
                    </a:p>
                  </a:txBody>
                  <a:tcPr/>
                </a:tc>
                <a:extLst>
                  <a:ext uri="{0D108BD9-81ED-4DB2-BD59-A6C34878D82A}">
                    <a16:rowId xmlns:a16="http://schemas.microsoft.com/office/drawing/2014/main" val="4049469656"/>
                  </a:ext>
                </a:extLst>
              </a:tr>
              <a:tr h="370840">
                <a:tc>
                  <a:txBody>
                    <a:bodyPr/>
                    <a:lstStyle/>
                    <a:p>
                      <a:r>
                        <a:rPr lang="en-US">
                          <a:latin typeface="Constantia"/>
                        </a:rPr>
                        <a:t>-t</a:t>
                      </a:r>
                    </a:p>
                  </a:txBody>
                  <a:tcPr/>
                </a:tc>
                <a:tc>
                  <a:txBody>
                    <a:bodyPr/>
                    <a:lstStyle/>
                    <a:p>
                      <a:r>
                        <a:rPr lang="en-US">
                          <a:latin typeface="Constantia"/>
                        </a:rPr>
                        <a:t>Sort by modification time (last modified at the Top)</a:t>
                      </a:r>
                    </a:p>
                  </a:txBody>
                  <a:tcPr/>
                </a:tc>
                <a:extLst>
                  <a:ext uri="{0D108BD9-81ED-4DB2-BD59-A6C34878D82A}">
                    <a16:rowId xmlns:a16="http://schemas.microsoft.com/office/drawing/2014/main" val="2787928859"/>
                  </a:ext>
                </a:extLst>
              </a:tr>
            </a:tbl>
          </a:graphicData>
        </a:graphic>
      </p:graphicFrame>
      <p:sp>
        <p:nvSpPr>
          <p:cNvPr id="4" name="TextBox 3">
            <a:extLst>
              <a:ext uri="{FF2B5EF4-FFF2-40B4-BE49-F238E27FC236}">
                <a16:creationId xmlns:a16="http://schemas.microsoft.com/office/drawing/2014/main" id="{8357CFDB-EE69-390C-145A-9DFBC2C85C1F}"/>
              </a:ext>
            </a:extLst>
          </p:cNvPr>
          <p:cNvSpPr txBox="1"/>
          <p:nvPr/>
        </p:nvSpPr>
        <p:spPr>
          <a:xfrm>
            <a:off x="684508" y="5097812"/>
            <a:ext cx="108204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dir command options</a:t>
            </a:r>
          </a:p>
          <a:p>
            <a:r>
              <a:rPr lang="en-US" sz="2000" noProof="1">
                <a:latin typeface="Constantia"/>
                <a:cs typeface="Arial"/>
              </a:rPr>
              <a:t>The command which gives list of options available for </a:t>
            </a:r>
            <a:r>
              <a:rPr lang="en-US" sz="2000" b="1" noProof="1">
                <a:latin typeface="Constantia"/>
                <a:cs typeface="Arial"/>
              </a:rPr>
              <a:t>dir</a:t>
            </a:r>
            <a:r>
              <a:rPr lang="en-US" sz="2000" noProof="1">
                <a:latin typeface="Constantia"/>
                <a:cs typeface="Arial"/>
              </a:rPr>
              <a:t> command.</a:t>
            </a:r>
            <a:endParaRPr lang="en-US" sz="2000" b="1" noProof="1">
              <a:latin typeface="Constantia"/>
              <a:cs typeface="Arial"/>
            </a:endParaRPr>
          </a:p>
        </p:txBody>
      </p:sp>
      <p:pic>
        <p:nvPicPr>
          <p:cNvPr id="8" name="Picture 7">
            <a:extLst>
              <a:ext uri="{FF2B5EF4-FFF2-40B4-BE49-F238E27FC236}">
                <a16:creationId xmlns:a16="http://schemas.microsoft.com/office/drawing/2014/main" id="{79340E33-7CDA-FD32-6291-5130427E3FA6}"/>
              </a:ext>
            </a:extLst>
          </p:cNvPr>
          <p:cNvPicPr>
            <a:picLocks noChangeAspect="1"/>
          </p:cNvPicPr>
          <p:nvPr/>
        </p:nvPicPr>
        <p:blipFill>
          <a:blip r:embed="rId2"/>
          <a:stretch>
            <a:fillRect/>
          </a:stretch>
        </p:blipFill>
        <p:spPr>
          <a:xfrm>
            <a:off x="3691180" y="5808332"/>
            <a:ext cx="4822555" cy="536591"/>
          </a:xfrm>
          <a:prstGeom prst="rect">
            <a:avLst/>
          </a:prstGeom>
        </p:spPr>
      </p:pic>
    </p:spTree>
    <p:extLst>
      <p:ext uri="{BB962C8B-B14F-4D97-AF65-F5344CB8AC3E}">
        <p14:creationId xmlns:p14="http://schemas.microsoft.com/office/powerpoint/2010/main" val="3561607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File Handling Commands</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223236"/>
            <a:ext cx="1082040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pwd command</a:t>
            </a:r>
          </a:p>
          <a:p>
            <a:endParaRPr lang="en-US" sz="2000" b="1" noProof="1">
              <a:latin typeface="Constantia"/>
              <a:cs typeface="Arial"/>
            </a:endParaRPr>
          </a:p>
          <a:p>
            <a:pPr marL="457200" indent="-457200">
              <a:buFont typeface="Arial"/>
              <a:buChar char="•"/>
            </a:pPr>
            <a:r>
              <a:rPr lang="en-US" sz="2000" noProof="1">
                <a:latin typeface="Constantia"/>
                <a:cs typeface="Arial"/>
              </a:rPr>
              <a:t>This command prints the fully resolved name of </a:t>
            </a:r>
            <a:r>
              <a:rPr lang="en-US" sz="2000" b="1" noProof="1">
                <a:latin typeface="Constantia"/>
                <a:cs typeface="Arial"/>
              </a:rPr>
              <a:t>present working directory</a:t>
            </a:r>
            <a:r>
              <a:rPr lang="en-US" sz="2000" noProof="1">
                <a:latin typeface="Constantia"/>
                <a:cs typeface="Arial"/>
              </a:rPr>
              <a:t>.</a:t>
            </a:r>
          </a:p>
          <a:p>
            <a:pPr marL="457200" indent="-457200">
              <a:buFont typeface="Arial"/>
              <a:buChar char="•"/>
            </a:pPr>
            <a:r>
              <a:rPr lang="en-US" sz="2000" noProof="1">
                <a:latin typeface="Constantia"/>
                <a:cs typeface="Arial"/>
              </a:rPr>
              <a:t>Syntax is </a:t>
            </a:r>
            <a:r>
              <a:rPr lang="en-US" sz="2000" b="1" noProof="1">
                <a:latin typeface="Constantia"/>
                <a:cs typeface="Arial"/>
              </a:rPr>
              <a:t>$ pwd [option]</a:t>
            </a:r>
          </a:p>
          <a:p>
            <a:pPr marL="457200" indent="-457200">
              <a:buFont typeface="Arial"/>
              <a:buChar char="•"/>
            </a:pPr>
            <a:r>
              <a:rPr lang="en-US" sz="2000" noProof="1">
                <a:latin typeface="Constantia"/>
                <a:cs typeface="Arial"/>
              </a:rPr>
              <a:t>Present Working Directory of "Games".</a:t>
            </a:r>
          </a:p>
          <a:p>
            <a:endParaRPr lang="en-US" sz="2000" noProof="1">
              <a:latin typeface="Constantia"/>
              <a:cs typeface="Arial"/>
            </a:endParaRPr>
          </a:p>
          <a:p>
            <a:endParaRPr lang="en-US" sz="2000" noProof="1">
              <a:latin typeface="Constantia"/>
              <a:cs typeface="Arial"/>
            </a:endParaRPr>
          </a:p>
          <a:p>
            <a:pPr marL="457200" indent="-457200">
              <a:buFont typeface="Arial,Sans-Serif"/>
              <a:buChar char="•"/>
            </a:pPr>
            <a:r>
              <a:rPr lang="en-US" sz="2000" noProof="1">
                <a:latin typeface="Constantia"/>
                <a:cs typeface="Arial"/>
              </a:rPr>
              <a:t>Above command only works in Unix-like environment such as Linux and macOS.</a:t>
            </a:r>
          </a:p>
          <a:p>
            <a:pPr marL="457200" indent="-457200">
              <a:buFont typeface="Arial,Sans-Serif"/>
              <a:buChar char="•"/>
            </a:pPr>
            <a:endParaRPr lang="en-US" sz="2000" noProof="1">
              <a:latin typeface="Constantia"/>
              <a:cs typeface="Arial"/>
            </a:endParaRPr>
          </a:p>
          <a:p>
            <a:pPr marL="457200" indent="-457200">
              <a:buFont typeface="Arial,Sans-Serif"/>
              <a:buChar char="•"/>
            </a:pPr>
            <a:r>
              <a:rPr lang="en-US" sz="2000" noProof="1">
                <a:latin typeface="Constantia"/>
                <a:cs typeface="Arial"/>
              </a:rPr>
              <a:t>In Windows command prompt, there is equivalent command for </a:t>
            </a:r>
            <a:r>
              <a:rPr lang="en-US" sz="2000" b="1" noProof="1">
                <a:latin typeface="Constantia"/>
                <a:cs typeface="Arial"/>
              </a:rPr>
              <a:t>pwd </a:t>
            </a:r>
            <a:r>
              <a:rPr lang="en-US" sz="2000" noProof="1">
                <a:latin typeface="Constantia"/>
                <a:cs typeface="Arial"/>
              </a:rPr>
              <a:t>is </a:t>
            </a:r>
            <a:r>
              <a:rPr lang="en-US" sz="2000" b="1" noProof="1">
                <a:latin typeface="Constantia"/>
                <a:cs typeface="Arial"/>
              </a:rPr>
              <a:t>cd.</a:t>
            </a:r>
          </a:p>
          <a:p>
            <a:pPr marL="457200" indent="-457200">
              <a:buFont typeface="Arial,Sans-Serif"/>
              <a:buChar char="•"/>
            </a:pPr>
            <a:endParaRPr lang="en-US" sz="2000" b="1" noProof="1">
              <a:latin typeface="Constantia"/>
              <a:cs typeface="Arial"/>
            </a:endParaRPr>
          </a:p>
          <a:p>
            <a:pPr marL="457200" indent="-457200">
              <a:buFont typeface="Arial,Sans-Serif"/>
              <a:buChar char="•"/>
            </a:pPr>
            <a:r>
              <a:rPr lang="en-US" sz="2000" b="1" noProof="1">
                <a:latin typeface="Constantia"/>
                <a:cs typeface="Arial"/>
              </a:rPr>
              <a:t>cd.. = </a:t>
            </a:r>
            <a:r>
              <a:rPr lang="en-US" sz="2000" noProof="1">
                <a:latin typeface="Constantia"/>
                <a:cs typeface="Arial"/>
              </a:rPr>
              <a:t>Changing Directory to Parent</a:t>
            </a:r>
          </a:p>
        </p:txBody>
      </p:sp>
      <p:pic>
        <p:nvPicPr>
          <p:cNvPr id="3" name="Picture 2">
            <a:extLst>
              <a:ext uri="{FF2B5EF4-FFF2-40B4-BE49-F238E27FC236}">
                <a16:creationId xmlns:a16="http://schemas.microsoft.com/office/drawing/2014/main" id="{FC71C78B-955A-C5AD-0FD3-BC3CE4DA7238}"/>
              </a:ext>
            </a:extLst>
          </p:cNvPr>
          <p:cNvPicPr>
            <a:picLocks noChangeAspect="1"/>
          </p:cNvPicPr>
          <p:nvPr/>
        </p:nvPicPr>
        <p:blipFill>
          <a:blip r:embed="rId2"/>
          <a:stretch>
            <a:fillRect/>
          </a:stretch>
        </p:blipFill>
        <p:spPr>
          <a:xfrm>
            <a:off x="3536196" y="2806882"/>
            <a:ext cx="5132522" cy="443489"/>
          </a:xfrm>
          <a:prstGeom prst="rect">
            <a:avLst/>
          </a:prstGeom>
        </p:spPr>
      </p:pic>
      <p:pic>
        <p:nvPicPr>
          <p:cNvPr id="4" name="Picture 3" descr="A number on a black background&#10;&#10;Description automatically generated">
            <a:extLst>
              <a:ext uri="{FF2B5EF4-FFF2-40B4-BE49-F238E27FC236}">
                <a16:creationId xmlns:a16="http://schemas.microsoft.com/office/drawing/2014/main" id="{DC68EAAC-3E96-49CB-CA9E-63BD39CA3900}"/>
              </a:ext>
            </a:extLst>
          </p:cNvPr>
          <p:cNvPicPr>
            <a:picLocks noChangeAspect="1"/>
          </p:cNvPicPr>
          <p:nvPr/>
        </p:nvPicPr>
        <p:blipFill>
          <a:blip r:embed="rId3"/>
          <a:stretch>
            <a:fillRect/>
          </a:stretch>
        </p:blipFill>
        <p:spPr>
          <a:xfrm>
            <a:off x="3368299" y="5064781"/>
            <a:ext cx="5468317" cy="887148"/>
          </a:xfrm>
          <a:prstGeom prst="rect">
            <a:avLst/>
          </a:prstGeom>
        </p:spPr>
      </p:pic>
    </p:spTree>
    <p:extLst>
      <p:ext uri="{BB962C8B-B14F-4D97-AF65-F5344CB8AC3E}">
        <p14:creationId xmlns:p14="http://schemas.microsoft.com/office/powerpoint/2010/main" val="1512315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File Handling Commands</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223236"/>
            <a:ext cx="1082040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cd command (Change Directory)</a:t>
            </a:r>
          </a:p>
          <a:p>
            <a:endParaRPr lang="en-US" sz="2000" b="1" noProof="1">
              <a:latin typeface="Constantia"/>
              <a:cs typeface="Arial"/>
            </a:endParaRPr>
          </a:p>
          <a:p>
            <a:pPr marL="457200" indent="-457200">
              <a:buFont typeface="Arial"/>
              <a:buChar char="•"/>
            </a:pPr>
            <a:r>
              <a:rPr lang="en-US" sz="2000" noProof="1">
                <a:latin typeface="Constantia"/>
                <a:cs typeface="Arial"/>
              </a:rPr>
              <a:t>This command provides the navigation between directories.</a:t>
            </a:r>
          </a:p>
          <a:p>
            <a:pPr marL="457200" indent="-457200">
              <a:buFont typeface="Arial"/>
              <a:buChar char="•"/>
            </a:pPr>
            <a:endParaRPr lang="en-US" sz="2000" noProof="1">
              <a:latin typeface="Constantia"/>
              <a:cs typeface="Arial"/>
            </a:endParaRPr>
          </a:p>
          <a:p>
            <a:pPr marL="457200" indent="-457200">
              <a:buFont typeface="Arial"/>
              <a:buChar char="•"/>
            </a:pPr>
            <a:endParaRPr lang="en-US" sz="2000" noProof="1">
              <a:latin typeface="Constantia"/>
              <a:cs typeface="Arial"/>
            </a:endParaRPr>
          </a:p>
        </p:txBody>
      </p:sp>
      <p:graphicFrame>
        <p:nvGraphicFramePr>
          <p:cNvPr id="7" name="Table 6">
            <a:extLst>
              <a:ext uri="{FF2B5EF4-FFF2-40B4-BE49-F238E27FC236}">
                <a16:creationId xmlns:a16="http://schemas.microsoft.com/office/drawing/2014/main" id="{81F4C696-1F4C-2B59-C03B-B53234F40FFD}"/>
              </a:ext>
            </a:extLst>
          </p:cNvPr>
          <p:cNvGraphicFramePr>
            <a:graphicFrameLocks noGrp="1"/>
          </p:cNvGraphicFramePr>
          <p:nvPr>
            <p:extLst>
              <p:ext uri="{D42A27DB-BD31-4B8C-83A1-F6EECF244321}">
                <p14:modId xmlns:p14="http://schemas.microsoft.com/office/powerpoint/2010/main" val="2093627347"/>
              </p:ext>
            </p:extLst>
          </p:nvPr>
        </p:nvGraphicFramePr>
        <p:xfrm>
          <a:off x="1265694" y="2479729"/>
          <a:ext cx="9657968" cy="3457217"/>
        </p:xfrm>
        <a:graphic>
          <a:graphicData uri="http://schemas.openxmlformats.org/drawingml/2006/table">
            <a:tbl>
              <a:tblPr firstRow="1" bandRow="1">
                <a:tableStyleId>{5C22544A-7EE6-4342-B048-85BDC9FD1C3A}</a:tableStyleId>
              </a:tblPr>
              <a:tblGrid>
                <a:gridCol w="2749826">
                  <a:extLst>
                    <a:ext uri="{9D8B030D-6E8A-4147-A177-3AD203B41FA5}">
                      <a16:colId xmlns:a16="http://schemas.microsoft.com/office/drawing/2014/main" val="1257523798"/>
                    </a:ext>
                  </a:extLst>
                </a:gridCol>
                <a:gridCol w="6908142">
                  <a:extLst>
                    <a:ext uri="{9D8B030D-6E8A-4147-A177-3AD203B41FA5}">
                      <a16:colId xmlns:a16="http://schemas.microsoft.com/office/drawing/2014/main" val="1313911378"/>
                    </a:ext>
                  </a:extLst>
                </a:gridCol>
              </a:tblGrid>
              <a:tr h="576203">
                <a:tc>
                  <a:txBody>
                    <a:bodyPr/>
                    <a:lstStyle/>
                    <a:p>
                      <a:pPr algn="ctr" rtl="0" fontAlgn="base"/>
                      <a:r>
                        <a:rPr lang="en-US" sz="1800">
                          <a:effectLst/>
                        </a:rPr>
                        <a:t>Option​</a:t>
                      </a:r>
                      <a:endParaRPr lang="en-US" b="1">
                        <a:solidFill>
                          <a:srgbClr val="FFFFFF"/>
                        </a:solidFill>
                        <a:effectLst/>
                      </a:endParaRPr>
                    </a:p>
                  </a:txBody>
                  <a:tcPr anchor="ctr"/>
                </a:tc>
                <a:tc>
                  <a:txBody>
                    <a:bodyPr/>
                    <a:lstStyle/>
                    <a:p>
                      <a:pPr algn="ctr" rtl="0" fontAlgn="base"/>
                      <a:r>
                        <a:rPr lang="en-US" sz="1800">
                          <a:effectLst/>
                        </a:rPr>
                        <a:t>Description​</a:t>
                      </a:r>
                      <a:endParaRPr lang="en-US" b="1">
                        <a:solidFill>
                          <a:srgbClr val="FFFFFF"/>
                        </a:solidFill>
                        <a:effectLst/>
                      </a:endParaRPr>
                    </a:p>
                  </a:txBody>
                  <a:tcPr anchor="ctr"/>
                </a:tc>
                <a:extLst>
                  <a:ext uri="{0D108BD9-81ED-4DB2-BD59-A6C34878D82A}">
                    <a16:rowId xmlns:a16="http://schemas.microsoft.com/office/drawing/2014/main" val="4115940431"/>
                  </a:ext>
                </a:extLst>
              </a:tr>
              <a:tr h="576203">
                <a:tc>
                  <a:txBody>
                    <a:bodyPr/>
                    <a:lstStyle/>
                    <a:p>
                      <a:pPr lvl="0" rtl="0" fontAlgn="base"/>
                      <a:r>
                        <a:rPr lang="en-US" sz="1800">
                          <a:effectLst/>
                        </a:rPr>
                        <a:t>cd /</a:t>
                      </a:r>
                      <a:endParaRPr lang="en-US">
                        <a:effectLst/>
                      </a:endParaRPr>
                    </a:p>
                  </a:txBody>
                  <a:tcPr anchor="ctr"/>
                </a:tc>
                <a:tc>
                  <a:txBody>
                    <a:bodyPr/>
                    <a:lstStyle/>
                    <a:p>
                      <a:pPr lvl="0" rtl="0" fontAlgn="base"/>
                      <a:r>
                        <a:rPr lang="en-US" sz="1800">
                          <a:effectLst/>
                        </a:rPr>
                        <a:t>Navigate to root directory</a:t>
                      </a:r>
                      <a:endParaRPr lang="en-US">
                        <a:effectLst/>
                      </a:endParaRPr>
                    </a:p>
                  </a:txBody>
                  <a:tcPr anchor="ctr"/>
                </a:tc>
                <a:extLst>
                  <a:ext uri="{0D108BD9-81ED-4DB2-BD59-A6C34878D82A}">
                    <a16:rowId xmlns:a16="http://schemas.microsoft.com/office/drawing/2014/main" val="3729739285"/>
                  </a:ext>
                </a:extLst>
              </a:tr>
              <a:tr h="576203">
                <a:tc>
                  <a:txBody>
                    <a:bodyPr/>
                    <a:lstStyle/>
                    <a:p>
                      <a:pPr lvl="0" rtl="0" fontAlgn="base"/>
                      <a:r>
                        <a:rPr lang="en-US" sz="1800">
                          <a:effectLst/>
                        </a:rPr>
                        <a:t>cd %USERPROFILE%</a:t>
                      </a:r>
                    </a:p>
                  </a:txBody>
                  <a:tcPr anchor="ctr"/>
                </a:tc>
                <a:tc>
                  <a:txBody>
                    <a:bodyPr/>
                    <a:lstStyle/>
                    <a:p>
                      <a:pPr lvl="0" rtl="0" fontAlgn="base"/>
                      <a:r>
                        <a:rPr lang="en-US" sz="1800">
                          <a:effectLst/>
                        </a:rPr>
                        <a:t>Navigate to home directory (Windows)​</a:t>
                      </a:r>
                      <a:endParaRPr lang="en-US">
                        <a:effectLst/>
                      </a:endParaRPr>
                    </a:p>
                  </a:txBody>
                  <a:tcPr anchor="ctr"/>
                </a:tc>
                <a:extLst>
                  <a:ext uri="{0D108BD9-81ED-4DB2-BD59-A6C34878D82A}">
                    <a16:rowId xmlns:a16="http://schemas.microsoft.com/office/drawing/2014/main" val="3454186262"/>
                  </a:ext>
                </a:extLst>
              </a:tr>
              <a:tr h="576203">
                <a:tc>
                  <a:txBody>
                    <a:bodyPr/>
                    <a:lstStyle/>
                    <a:p>
                      <a:pPr lvl="0" rtl="0" fontAlgn="base"/>
                      <a:r>
                        <a:rPr lang="en-US" sz="1800">
                          <a:effectLst/>
                        </a:rPr>
                        <a:t>cd ~</a:t>
                      </a:r>
                    </a:p>
                  </a:txBody>
                  <a:tcPr anchor="ctr"/>
                </a:tc>
                <a:tc>
                  <a:txBody>
                    <a:bodyPr/>
                    <a:lstStyle/>
                    <a:p>
                      <a:pPr lvl="0" algn="l">
                        <a:lnSpc>
                          <a:spcPct val="100000"/>
                        </a:lnSpc>
                        <a:spcBef>
                          <a:spcPts val="0"/>
                        </a:spcBef>
                        <a:spcAft>
                          <a:spcPts val="0"/>
                        </a:spcAft>
                        <a:buNone/>
                      </a:pPr>
                      <a:r>
                        <a:rPr lang="en-US" sz="1800" b="0" i="0" u="none" strike="noStrike" noProof="0">
                          <a:solidFill>
                            <a:srgbClr val="000000"/>
                          </a:solidFill>
                          <a:effectLst/>
                          <a:latin typeface="Arial"/>
                        </a:rPr>
                        <a:t>Navigate to home directory (macOS) </a:t>
                      </a:r>
                      <a:r>
                        <a:rPr lang="en-US" sz="1800">
                          <a:effectLst/>
                        </a:rPr>
                        <a:t>​</a:t>
                      </a:r>
                      <a:endParaRPr lang="en-US">
                        <a:effectLst/>
                      </a:endParaRPr>
                    </a:p>
                  </a:txBody>
                  <a:tcPr anchor="ctr"/>
                </a:tc>
                <a:extLst>
                  <a:ext uri="{0D108BD9-81ED-4DB2-BD59-A6C34878D82A}">
                    <a16:rowId xmlns:a16="http://schemas.microsoft.com/office/drawing/2014/main" val="2602110764"/>
                  </a:ext>
                </a:extLst>
              </a:tr>
              <a:tr h="576203">
                <a:tc>
                  <a:txBody>
                    <a:bodyPr/>
                    <a:lstStyle/>
                    <a:p>
                      <a:pPr lvl="0" rtl="0" fontAlgn="base"/>
                      <a:r>
                        <a:rPr lang="en-US" sz="1800">
                          <a:effectLst/>
                        </a:rPr>
                        <a:t>cd ..</a:t>
                      </a:r>
                    </a:p>
                  </a:txBody>
                  <a:tcPr anchor="ctr"/>
                </a:tc>
                <a:tc>
                  <a:txBody>
                    <a:bodyPr/>
                    <a:lstStyle/>
                    <a:p>
                      <a:pPr lvl="0" rtl="0" fontAlgn="base"/>
                      <a:r>
                        <a:rPr lang="en-US" sz="1800">
                          <a:effectLst/>
                        </a:rPr>
                        <a:t>Navigate to parent directory.</a:t>
                      </a:r>
                      <a:endParaRPr lang="en-US">
                        <a:effectLst/>
                      </a:endParaRPr>
                    </a:p>
                  </a:txBody>
                  <a:tcPr anchor="ctr"/>
                </a:tc>
                <a:extLst>
                  <a:ext uri="{0D108BD9-81ED-4DB2-BD59-A6C34878D82A}">
                    <a16:rowId xmlns:a16="http://schemas.microsoft.com/office/drawing/2014/main" val="3682583543"/>
                  </a:ext>
                </a:extLst>
              </a:tr>
              <a:tr h="576202">
                <a:tc>
                  <a:txBody>
                    <a:bodyPr/>
                    <a:lstStyle/>
                    <a:p>
                      <a:pPr lvl="0">
                        <a:buNone/>
                      </a:pPr>
                      <a:r>
                        <a:rPr lang="en-US" sz="1800">
                          <a:effectLst/>
                        </a:rPr>
                        <a:t>cd [ </a:t>
                      </a:r>
                      <a:r>
                        <a:rPr lang="en-US" sz="1800" noProof="1">
                          <a:effectLst/>
                        </a:rPr>
                        <a:t>name ]</a:t>
                      </a:r>
                    </a:p>
                  </a:txBody>
                  <a:tcPr anchor="ctr"/>
                </a:tc>
                <a:tc>
                  <a:txBody>
                    <a:bodyPr/>
                    <a:lstStyle/>
                    <a:p>
                      <a:pPr lvl="0">
                        <a:buNone/>
                      </a:pPr>
                      <a:r>
                        <a:rPr lang="en-US" sz="1800">
                          <a:effectLst/>
                        </a:rPr>
                        <a:t>Navigate to child directory or file.</a:t>
                      </a:r>
                    </a:p>
                  </a:txBody>
                  <a:tcPr anchor="ctr"/>
                </a:tc>
                <a:extLst>
                  <a:ext uri="{0D108BD9-81ED-4DB2-BD59-A6C34878D82A}">
                    <a16:rowId xmlns:a16="http://schemas.microsoft.com/office/drawing/2014/main" val="2419626821"/>
                  </a:ext>
                </a:extLst>
              </a:tr>
            </a:tbl>
          </a:graphicData>
        </a:graphic>
      </p:graphicFrame>
    </p:spTree>
    <p:extLst>
      <p:ext uri="{BB962C8B-B14F-4D97-AF65-F5344CB8AC3E}">
        <p14:creationId xmlns:p14="http://schemas.microsoft.com/office/powerpoint/2010/main" val="2039514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File Handling Commands</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154984" y="1223236"/>
            <a:ext cx="11866535"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cp command</a:t>
            </a:r>
          </a:p>
          <a:p>
            <a:endParaRPr lang="en-US" sz="2000" b="1" noProof="1">
              <a:latin typeface="Constantia"/>
              <a:cs typeface="Arial"/>
            </a:endParaRPr>
          </a:p>
          <a:p>
            <a:pPr marL="457200" indent="-457200">
              <a:buFont typeface="Arial"/>
              <a:buChar char="•"/>
            </a:pPr>
            <a:r>
              <a:rPr lang="en-US" sz="2000" noProof="1">
                <a:latin typeface="Constantia"/>
                <a:cs typeface="Arial"/>
              </a:rPr>
              <a:t>This command is used to copy the directory and all its contents(sub-directories and files) recursively to another.</a:t>
            </a:r>
          </a:p>
          <a:p>
            <a:pPr marL="457200" indent="-457200">
              <a:buFont typeface="Arial"/>
              <a:buChar char="•"/>
            </a:pPr>
            <a:r>
              <a:rPr lang="en-US" sz="2000" noProof="1">
                <a:latin typeface="Constantia"/>
                <a:cs typeface="Arial"/>
              </a:rPr>
              <a:t>Syntax is </a:t>
            </a:r>
            <a:r>
              <a:rPr lang="en-US" sz="2000" b="1" noProof="1">
                <a:latin typeface="Constantia"/>
                <a:cs typeface="Arial"/>
              </a:rPr>
              <a:t>$cp –r &lt;source_directory&gt;&lt;destination_path&gt;</a:t>
            </a:r>
          </a:p>
          <a:p>
            <a:pPr marL="457200" indent="-457200">
              <a:buFont typeface="Arial"/>
              <a:buChar char="•"/>
            </a:pPr>
            <a:r>
              <a:rPr lang="en-US" sz="2000" noProof="1">
                <a:latin typeface="Constantia"/>
                <a:cs typeface="Arial"/>
              </a:rPr>
              <a:t>The cp command only works in Unix-like environment such as Linux and macOS..</a:t>
            </a:r>
            <a:endParaRPr lang="en-US" dirty="0"/>
          </a:p>
          <a:p>
            <a:pPr marL="457200" indent="-457200">
              <a:buFont typeface="Arial,Sans-Serif"/>
              <a:buChar char="•"/>
            </a:pPr>
            <a:endParaRPr lang="en-US" sz="2000" noProof="1">
              <a:latin typeface="Constantia"/>
              <a:cs typeface="Arial"/>
            </a:endParaRPr>
          </a:p>
          <a:p>
            <a:pPr marL="457200" indent="-457200">
              <a:buFont typeface="Arial,Sans-Serif"/>
              <a:buChar char="•"/>
            </a:pPr>
            <a:r>
              <a:rPr lang="en-US" sz="2000" noProof="1">
                <a:latin typeface="Constantia"/>
                <a:cs typeface="Arial"/>
              </a:rPr>
              <a:t>In Windows command prompt, there is equivalent command for </a:t>
            </a:r>
            <a:r>
              <a:rPr lang="en-US" sz="2000" b="1" noProof="1">
                <a:latin typeface="Constantia"/>
                <a:cs typeface="Arial"/>
              </a:rPr>
              <a:t>cp </a:t>
            </a:r>
            <a:r>
              <a:rPr lang="en-US" sz="2000" noProof="1">
                <a:latin typeface="Constantia"/>
                <a:cs typeface="Arial"/>
              </a:rPr>
              <a:t>is </a:t>
            </a:r>
            <a:r>
              <a:rPr lang="en-US" sz="2000" b="1" noProof="1">
                <a:latin typeface="Constantia"/>
                <a:cs typeface="Arial"/>
              </a:rPr>
              <a:t>copy.</a:t>
            </a:r>
          </a:p>
          <a:p>
            <a:pPr marL="457200" indent="-457200">
              <a:buFont typeface="Arial,Sans-Serif"/>
              <a:buChar char="•"/>
            </a:pPr>
            <a:r>
              <a:rPr lang="en-US" sz="2000" noProof="1">
                <a:latin typeface="Constantia"/>
                <a:cs typeface="Arial"/>
              </a:rPr>
              <a:t>Command to create an empty file inside </a:t>
            </a:r>
            <a:r>
              <a:rPr lang="en-US" sz="2000" b="1" noProof="1">
                <a:latin typeface="Constantia"/>
                <a:cs typeface="Arial"/>
              </a:rPr>
              <a:t>"Indoor"</a:t>
            </a:r>
            <a:r>
              <a:rPr lang="en-US" sz="2000" noProof="1">
                <a:latin typeface="Constantia"/>
                <a:cs typeface="Arial"/>
              </a:rPr>
              <a:t> directory called </a:t>
            </a:r>
            <a:r>
              <a:rPr lang="en-US" sz="2000" b="1" noProof="1">
                <a:latin typeface="Constantia"/>
                <a:cs typeface="Arial"/>
              </a:rPr>
              <a:t>"sample.txt"</a:t>
            </a:r>
            <a:r>
              <a:rPr lang="en-US" sz="2000" noProof="1">
                <a:latin typeface="Constantia"/>
                <a:cs typeface="Arial"/>
              </a:rPr>
              <a:t>.</a:t>
            </a:r>
          </a:p>
          <a:p>
            <a:pPr marL="457200" indent="-457200">
              <a:buFont typeface="Arial,Sans-Serif"/>
              <a:buChar char="•"/>
            </a:pPr>
            <a:endParaRPr lang="en-US" sz="2000" noProof="1">
              <a:latin typeface="Constantia"/>
              <a:cs typeface="Arial"/>
            </a:endParaRPr>
          </a:p>
          <a:p>
            <a:pPr marL="457200" indent="-457200">
              <a:buFont typeface="Arial,Sans-Serif"/>
              <a:buChar char="•"/>
            </a:pPr>
            <a:endParaRPr lang="en-US" sz="2000" noProof="1">
              <a:latin typeface="Constantia"/>
              <a:cs typeface="Arial"/>
            </a:endParaRPr>
          </a:p>
          <a:p>
            <a:pPr marL="457200" indent="-457200">
              <a:buFont typeface="Arial,Sans-Serif"/>
              <a:buChar char="•"/>
            </a:pPr>
            <a:r>
              <a:rPr lang="en-US" sz="2000" noProof="1">
                <a:latin typeface="Constantia"/>
                <a:cs typeface="Arial"/>
              </a:rPr>
              <a:t>Command to copy the file from one directory to another directory.</a:t>
            </a:r>
            <a:endParaRPr lang="en-US" sz="2000" b="1" noProof="1">
              <a:latin typeface="Constantia"/>
              <a:cs typeface="Arial"/>
            </a:endParaRPr>
          </a:p>
          <a:p>
            <a:pPr marL="457200" indent="-457200">
              <a:buFont typeface="Arial,Sans-Serif"/>
              <a:buChar char="•"/>
            </a:pPr>
            <a:endParaRPr lang="en-US" sz="2000" noProof="1">
              <a:latin typeface="Constantia"/>
              <a:cs typeface="Arial"/>
            </a:endParaRPr>
          </a:p>
          <a:p>
            <a:pPr marL="457200" indent="-457200">
              <a:buFont typeface="Arial,Sans-Serif"/>
              <a:buChar char="•"/>
            </a:pPr>
            <a:endParaRPr lang="en-US" sz="2000" noProof="1">
              <a:latin typeface="Constantia"/>
              <a:cs typeface="Arial"/>
            </a:endParaRPr>
          </a:p>
          <a:p>
            <a:pPr marL="457200" indent="-457200">
              <a:buFont typeface="Arial,Sans-Serif"/>
              <a:buChar char="•"/>
            </a:pPr>
            <a:r>
              <a:rPr lang="en-US" sz="2000" noProof="1">
                <a:latin typeface="Constantia"/>
                <a:cs typeface="Arial"/>
              </a:rPr>
              <a:t>Command to copy the directory and its content, you can use </a:t>
            </a:r>
            <a:r>
              <a:rPr lang="en-US" sz="2000" b="1" noProof="1">
                <a:latin typeface="Constantia"/>
                <a:cs typeface="Arial"/>
              </a:rPr>
              <a:t>xcopy</a:t>
            </a:r>
            <a:r>
              <a:rPr lang="en-US" sz="2000" noProof="1">
                <a:latin typeface="Constantia"/>
                <a:cs typeface="Arial"/>
              </a:rPr>
              <a:t> command</a:t>
            </a:r>
          </a:p>
          <a:p>
            <a:pPr marL="457200" indent="-457200">
              <a:buFont typeface="Arial,Sans-Serif"/>
              <a:buChar char="•"/>
            </a:pPr>
            <a:endParaRPr lang="en-US" sz="2000" b="1" noProof="1">
              <a:latin typeface="Constantia"/>
              <a:cs typeface="Arial"/>
            </a:endParaRPr>
          </a:p>
          <a:p>
            <a:pPr marL="457200" indent="-457200">
              <a:buFont typeface="Arial,Sans-Serif"/>
              <a:buChar char="•"/>
            </a:pPr>
            <a:endParaRPr lang="en-US" sz="2000" noProof="1">
              <a:latin typeface="Constantia"/>
              <a:cs typeface="Arial"/>
            </a:endParaRPr>
          </a:p>
        </p:txBody>
      </p:sp>
      <p:pic>
        <p:nvPicPr>
          <p:cNvPr id="8" name="Picture 7">
            <a:extLst>
              <a:ext uri="{FF2B5EF4-FFF2-40B4-BE49-F238E27FC236}">
                <a16:creationId xmlns:a16="http://schemas.microsoft.com/office/drawing/2014/main" id="{65272CF4-239C-F5FD-C112-0E45A4DA55C7}"/>
              </a:ext>
            </a:extLst>
          </p:cNvPr>
          <p:cNvPicPr>
            <a:picLocks noChangeAspect="1"/>
          </p:cNvPicPr>
          <p:nvPr/>
        </p:nvPicPr>
        <p:blipFill>
          <a:blip r:embed="rId2"/>
          <a:stretch>
            <a:fillRect/>
          </a:stretch>
        </p:blipFill>
        <p:spPr>
          <a:xfrm>
            <a:off x="1277037" y="5084591"/>
            <a:ext cx="9627030" cy="471373"/>
          </a:xfrm>
          <a:prstGeom prst="rect">
            <a:avLst/>
          </a:prstGeom>
        </p:spPr>
      </p:pic>
      <p:pic>
        <p:nvPicPr>
          <p:cNvPr id="9" name="Picture 8">
            <a:extLst>
              <a:ext uri="{FF2B5EF4-FFF2-40B4-BE49-F238E27FC236}">
                <a16:creationId xmlns:a16="http://schemas.microsoft.com/office/drawing/2014/main" id="{1776A9BC-71C5-1102-846A-873A0B482D2E}"/>
              </a:ext>
            </a:extLst>
          </p:cNvPr>
          <p:cNvPicPr>
            <a:picLocks noChangeAspect="1"/>
          </p:cNvPicPr>
          <p:nvPr/>
        </p:nvPicPr>
        <p:blipFill>
          <a:blip r:embed="rId3"/>
          <a:stretch>
            <a:fillRect/>
          </a:stretch>
        </p:blipFill>
        <p:spPr>
          <a:xfrm>
            <a:off x="1600927" y="4149745"/>
            <a:ext cx="8645471" cy="523242"/>
          </a:xfrm>
          <a:prstGeom prst="rect">
            <a:avLst/>
          </a:prstGeom>
        </p:spPr>
      </p:pic>
    </p:spTree>
    <p:extLst>
      <p:ext uri="{BB962C8B-B14F-4D97-AF65-F5344CB8AC3E}">
        <p14:creationId xmlns:p14="http://schemas.microsoft.com/office/powerpoint/2010/main" val="852481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File Handling Commands</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223236"/>
            <a:ext cx="10820400"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mv command</a:t>
            </a:r>
          </a:p>
          <a:p>
            <a:endParaRPr lang="en-US" sz="2000" b="1" noProof="1">
              <a:latin typeface="Constantia"/>
              <a:cs typeface="Arial"/>
            </a:endParaRPr>
          </a:p>
          <a:p>
            <a:pPr marL="457200" indent="-457200">
              <a:buFont typeface="Arial"/>
              <a:buChar char="•"/>
            </a:pPr>
            <a:r>
              <a:rPr lang="en-US" sz="2000" noProof="1">
                <a:latin typeface="Constantia"/>
                <a:cs typeface="Arial"/>
              </a:rPr>
              <a:t>This command helps you to move the contents of file or directory.</a:t>
            </a:r>
          </a:p>
          <a:p>
            <a:endParaRPr lang="en-US" sz="2000" noProof="1">
              <a:latin typeface="Constantia"/>
              <a:cs typeface="Arial"/>
            </a:endParaRPr>
          </a:p>
          <a:p>
            <a:pPr marL="457200" indent="-457200">
              <a:buFont typeface="Arial"/>
              <a:buChar char="•"/>
            </a:pPr>
            <a:r>
              <a:rPr lang="en-US" sz="2000" noProof="1">
                <a:latin typeface="Constantia"/>
                <a:cs typeface="Arial"/>
              </a:rPr>
              <a:t>If the source and destination path is same then it renames the file or directory.</a:t>
            </a:r>
          </a:p>
          <a:p>
            <a:pPr marL="457200" indent="-457200">
              <a:buFont typeface="Arial"/>
              <a:buChar char="•"/>
            </a:pPr>
            <a:endParaRPr lang="en-US" sz="2000" noProof="1">
              <a:latin typeface="Constantia"/>
              <a:cs typeface="Arial"/>
            </a:endParaRPr>
          </a:p>
          <a:p>
            <a:pPr marL="457200" indent="-457200">
              <a:buFont typeface="Arial"/>
              <a:buChar char="•"/>
            </a:pPr>
            <a:r>
              <a:rPr lang="en-US" sz="2000" b="1" noProof="1">
                <a:latin typeface="Constantia"/>
                <a:cs typeface="Arial"/>
              </a:rPr>
              <a:t>mv </a:t>
            </a:r>
            <a:r>
              <a:rPr lang="en-US" sz="2000" noProof="1">
                <a:latin typeface="Constantia"/>
                <a:cs typeface="Arial"/>
              </a:rPr>
              <a:t>command only works in Unix-like environment such as Linux and macOS.</a:t>
            </a:r>
            <a:endParaRPr lang="en-US">
              <a:cs typeface="Arial"/>
            </a:endParaRPr>
          </a:p>
          <a:p>
            <a:pPr marL="457200" indent="-457200">
              <a:buFont typeface="Arial,Sans-Serif"/>
              <a:buChar char="•"/>
            </a:pPr>
            <a:endParaRPr lang="en-US" sz="2000" noProof="1">
              <a:latin typeface="Constantia"/>
              <a:cs typeface="Arial"/>
            </a:endParaRPr>
          </a:p>
          <a:p>
            <a:pPr marL="457200" indent="-457200">
              <a:buFont typeface="Arial,Sans-Serif"/>
              <a:buChar char="•"/>
            </a:pPr>
            <a:r>
              <a:rPr lang="en-US" sz="2000" noProof="1">
                <a:latin typeface="Constantia"/>
                <a:cs typeface="Arial"/>
              </a:rPr>
              <a:t>In Windows command prompt, there is equivalent command for </a:t>
            </a:r>
            <a:r>
              <a:rPr lang="en-US" sz="2000" b="1" noProof="1">
                <a:latin typeface="Constantia"/>
                <a:cs typeface="Arial"/>
              </a:rPr>
              <a:t>mv </a:t>
            </a:r>
            <a:r>
              <a:rPr lang="en-US" sz="2000" noProof="1">
                <a:latin typeface="Constantia"/>
                <a:cs typeface="Arial"/>
              </a:rPr>
              <a:t>is </a:t>
            </a:r>
            <a:r>
              <a:rPr lang="en-US" sz="2000" b="1" noProof="1">
                <a:latin typeface="Constantia"/>
                <a:cs typeface="Arial"/>
              </a:rPr>
              <a:t>move.</a:t>
            </a:r>
          </a:p>
          <a:p>
            <a:pPr marL="457200" indent="-457200">
              <a:buFont typeface="Arial,Sans-Serif"/>
              <a:buChar char="•"/>
            </a:pPr>
            <a:endParaRPr lang="en-US" sz="2000" noProof="1">
              <a:latin typeface="Constantia"/>
              <a:cs typeface="Arial"/>
            </a:endParaRPr>
          </a:p>
          <a:p>
            <a:pPr marL="457200" indent="-457200">
              <a:buFont typeface="Arial,Sans-Serif"/>
              <a:buChar char="•"/>
            </a:pPr>
            <a:r>
              <a:rPr lang="en-US" sz="2000" noProof="1">
                <a:latin typeface="Constantia"/>
                <a:cs typeface="Arial"/>
              </a:rPr>
              <a:t>Syntax to move a file to different location </a:t>
            </a:r>
            <a:r>
              <a:rPr lang="en-US" sz="2000" b="1" noProof="1">
                <a:latin typeface="Constantia"/>
                <a:cs typeface="Arial"/>
              </a:rPr>
              <a:t>move   source_file_path   destination_file_path.</a:t>
            </a:r>
          </a:p>
          <a:p>
            <a:pPr marL="457200" indent="-457200">
              <a:buFont typeface="Arial,Sans-Serif"/>
              <a:buChar char="•"/>
            </a:pPr>
            <a:endParaRPr lang="en-US" sz="2000" b="1" noProof="1">
              <a:latin typeface="Constantia"/>
              <a:cs typeface="Arial"/>
            </a:endParaRPr>
          </a:p>
          <a:p>
            <a:pPr marL="457200" indent="-457200">
              <a:buFont typeface="Arial,Sans-Serif"/>
              <a:buChar char="•"/>
            </a:pPr>
            <a:r>
              <a:rPr lang="en-US" sz="2000" noProof="1">
                <a:latin typeface="Constantia"/>
                <a:cs typeface="Arial"/>
              </a:rPr>
              <a:t>Syntax to rename a file</a:t>
            </a:r>
            <a:r>
              <a:rPr lang="en-US" sz="2000" b="1" noProof="1">
                <a:latin typeface="Constantia"/>
                <a:cs typeface="Arial"/>
              </a:rPr>
              <a:t> mv   old_file_name    new_file_name.</a:t>
            </a:r>
          </a:p>
        </p:txBody>
      </p:sp>
    </p:spTree>
    <p:extLst>
      <p:ext uri="{BB962C8B-B14F-4D97-AF65-F5344CB8AC3E}">
        <p14:creationId xmlns:p14="http://schemas.microsoft.com/office/powerpoint/2010/main" val="3505864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File Handling Commands</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223236"/>
            <a:ext cx="10820400"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rmdir command (Remove Directory)</a:t>
            </a:r>
          </a:p>
          <a:p>
            <a:endParaRPr lang="en-US" sz="2000" b="1" noProof="1">
              <a:latin typeface="Constantia"/>
              <a:cs typeface="Arial"/>
            </a:endParaRPr>
          </a:p>
          <a:p>
            <a:pPr marL="457200" indent="-457200">
              <a:buFont typeface="Arial"/>
              <a:buChar char="•"/>
            </a:pPr>
            <a:r>
              <a:rPr lang="en-US" sz="2000" noProof="1">
                <a:latin typeface="Constantia"/>
                <a:cs typeface="Arial"/>
              </a:rPr>
              <a:t>This command helps you to remove the directory.</a:t>
            </a:r>
          </a:p>
          <a:p>
            <a:pPr marL="457200" indent="-457200">
              <a:buFont typeface="Arial,Sans-Serif"/>
              <a:buChar char="•"/>
            </a:pPr>
            <a:endParaRPr lang="en-US" sz="2000" b="1" noProof="1">
              <a:latin typeface="Constantia"/>
              <a:cs typeface="Arial"/>
            </a:endParaRPr>
          </a:p>
          <a:p>
            <a:pPr marL="457200" indent="-457200">
              <a:buFont typeface="Arial,Sans-Serif"/>
              <a:buChar char="•"/>
            </a:pPr>
            <a:r>
              <a:rPr lang="en-US" sz="2000" noProof="1">
                <a:latin typeface="Constantia"/>
                <a:cs typeface="Arial"/>
              </a:rPr>
              <a:t>Syntax to remove a directory</a:t>
            </a:r>
            <a:r>
              <a:rPr lang="en-US" sz="2000" b="1" noProof="1">
                <a:latin typeface="Constantia"/>
                <a:cs typeface="Arial"/>
              </a:rPr>
              <a:t> rmdir /s  /q  directory_name.</a:t>
            </a:r>
          </a:p>
          <a:p>
            <a:pPr marL="457200" indent="-457200">
              <a:buFont typeface="Arial,Sans-Serif"/>
              <a:buChar char="•"/>
            </a:pPr>
            <a:endParaRPr lang="en-US" sz="2000" b="1" noProof="1">
              <a:latin typeface="Constantia"/>
              <a:cs typeface="Arial"/>
            </a:endParaRPr>
          </a:p>
          <a:p>
            <a:pPr marL="457200" indent="-457200">
              <a:buFont typeface="Arial,Sans-Serif"/>
              <a:buChar char="•"/>
            </a:pPr>
            <a:r>
              <a:rPr lang="en-US" sz="2000" noProof="1">
                <a:latin typeface="Constantia"/>
                <a:cs typeface="Arial"/>
              </a:rPr>
              <a:t>Where /s = This option tells windows to remove the specified directory and all its subdirectories and files.</a:t>
            </a:r>
          </a:p>
          <a:p>
            <a:pPr marL="457200" indent="-457200">
              <a:buFont typeface="Arial,Sans-Serif"/>
              <a:buChar char="•"/>
            </a:pPr>
            <a:endParaRPr lang="en-US" sz="2000" noProof="1">
              <a:latin typeface="Constantia"/>
              <a:cs typeface="Arial"/>
            </a:endParaRPr>
          </a:p>
          <a:p>
            <a:pPr marL="457200" indent="-457200">
              <a:buFont typeface="Arial,Sans-Serif"/>
              <a:buChar char="•"/>
            </a:pPr>
            <a:endParaRPr lang="en-US" sz="2000" noProof="1">
              <a:latin typeface="Constantia"/>
              <a:cs typeface="Arial"/>
            </a:endParaRPr>
          </a:p>
          <a:p>
            <a:pPr marL="457200" indent="-457200">
              <a:buFont typeface="Arial,Sans-Serif"/>
              <a:buChar char="•"/>
            </a:pPr>
            <a:endParaRPr lang="en-US" sz="2000" noProof="1">
              <a:latin typeface="Constantia"/>
              <a:cs typeface="Arial"/>
            </a:endParaRPr>
          </a:p>
          <a:p>
            <a:pPr marL="457200" indent="-457200">
              <a:buFont typeface="Arial,Sans-Serif"/>
              <a:buChar char="•"/>
            </a:pPr>
            <a:endParaRPr lang="en-US" sz="2000" noProof="1">
              <a:latin typeface="Constantia"/>
              <a:cs typeface="Arial"/>
            </a:endParaRPr>
          </a:p>
          <a:p>
            <a:pPr marL="457200" indent="-457200">
              <a:buFont typeface="Arial,Sans-Serif"/>
              <a:buChar char="•"/>
            </a:pPr>
            <a:r>
              <a:rPr lang="en-US" sz="2000" noProof="1">
                <a:latin typeface="Constantia"/>
                <a:cs typeface="Arial"/>
              </a:rPr>
              <a:t>Where /q = This option enables quiet mode, meaning it won't ask for confirmation when deleting files or directories.</a:t>
            </a:r>
          </a:p>
          <a:p>
            <a:pPr marL="457200" indent="-457200">
              <a:buFont typeface="Arial,Sans-Serif"/>
              <a:buChar char="•"/>
            </a:pPr>
            <a:endParaRPr lang="en-US" sz="2000" noProof="1">
              <a:latin typeface="Constantia"/>
              <a:cs typeface="Arial"/>
            </a:endParaRPr>
          </a:p>
          <a:p>
            <a:endParaRPr lang="en-US" sz="2000" noProof="1">
              <a:latin typeface="Constantia"/>
              <a:cs typeface="Arial"/>
            </a:endParaRPr>
          </a:p>
          <a:p>
            <a:pPr marL="457200" indent="-457200">
              <a:buFont typeface="Arial,Sans-Serif"/>
              <a:buChar char="•"/>
            </a:pPr>
            <a:endParaRPr lang="en-US" sz="2000" noProof="1">
              <a:latin typeface="Constantia"/>
              <a:cs typeface="Arial"/>
            </a:endParaRPr>
          </a:p>
        </p:txBody>
      </p:sp>
      <p:pic>
        <p:nvPicPr>
          <p:cNvPr id="3" name="Picture 2" descr="A black background with white text&#10;&#10;Description automatically generated">
            <a:extLst>
              <a:ext uri="{FF2B5EF4-FFF2-40B4-BE49-F238E27FC236}">
                <a16:creationId xmlns:a16="http://schemas.microsoft.com/office/drawing/2014/main" id="{EB43AB47-E8EE-FEA1-1D62-E408B3E68C2A}"/>
              </a:ext>
            </a:extLst>
          </p:cNvPr>
          <p:cNvPicPr>
            <a:picLocks noChangeAspect="1"/>
          </p:cNvPicPr>
          <p:nvPr/>
        </p:nvPicPr>
        <p:blipFill>
          <a:blip r:embed="rId2"/>
          <a:stretch>
            <a:fillRect/>
          </a:stretch>
        </p:blipFill>
        <p:spPr>
          <a:xfrm>
            <a:off x="3019587" y="3760736"/>
            <a:ext cx="6165742" cy="834697"/>
          </a:xfrm>
          <a:prstGeom prst="rect">
            <a:avLst/>
          </a:prstGeom>
        </p:spPr>
      </p:pic>
      <p:pic>
        <p:nvPicPr>
          <p:cNvPr id="4" name="Picture 3" descr="A black background with white text&#10;&#10;Description automatically generated">
            <a:extLst>
              <a:ext uri="{FF2B5EF4-FFF2-40B4-BE49-F238E27FC236}">
                <a16:creationId xmlns:a16="http://schemas.microsoft.com/office/drawing/2014/main" id="{F1FDC286-6A86-0FA3-31FB-B8157ED8E9D3}"/>
              </a:ext>
            </a:extLst>
          </p:cNvPr>
          <p:cNvPicPr>
            <a:picLocks noChangeAspect="1"/>
          </p:cNvPicPr>
          <p:nvPr/>
        </p:nvPicPr>
        <p:blipFill>
          <a:blip r:embed="rId3"/>
          <a:stretch>
            <a:fillRect/>
          </a:stretch>
        </p:blipFill>
        <p:spPr>
          <a:xfrm>
            <a:off x="3032501" y="5628225"/>
            <a:ext cx="6152828" cy="793481"/>
          </a:xfrm>
          <a:prstGeom prst="rect">
            <a:avLst/>
          </a:prstGeom>
        </p:spPr>
      </p:pic>
    </p:spTree>
    <p:extLst>
      <p:ext uri="{BB962C8B-B14F-4D97-AF65-F5344CB8AC3E}">
        <p14:creationId xmlns:p14="http://schemas.microsoft.com/office/powerpoint/2010/main" val="272049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File Handling Commands</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223236"/>
            <a:ext cx="1082040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rm command</a:t>
            </a:r>
            <a:endParaRPr lang="en-US"/>
          </a:p>
          <a:p>
            <a:endParaRPr lang="en-US" sz="2000" b="1" noProof="1">
              <a:latin typeface="Constantia"/>
              <a:cs typeface="Arial"/>
            </a:endParaRPr>
          </a:p>
          <a:p>
            <a:pPr marL="457200" indent="-457200">
              <a:buFont typeface="Arial"/>
              <a:buChar char="•"/>
            </a:pPr>
            <a:r>
              <a:rPr lang="en-US" sz="2000" noProof="1">
                <a:latin typeface="Constantia"/>
                <a:cs typeface="Arial"/>
              </a:rPr>
              <a:t>This command helps you to remove the files in the directory.</a:t>
            </a:r>
          </a:p>
          <a:p>
            <a:pPr marL="457200" indent="-457200">
              <a:buFont typeface="Arial,Sans-Serif"/>
              <a:buChar char="•"/>
            </a:pPr>
            <a:endParaRPr lang="en-US" sz="2000" b="1" noProof="1">
              <a:latin typeface="Constantia"/>
              <a:cs typeface="Arial"/>
            </a:endParaRPr>
          </a:p>
          <a:p>
            <a:pPr marL="457200" indent="-457200">
              <a:buFont typeface="Arial,Sans-Serif"/>
              <a:buChar char="•"/>
            </a:pPr>
            <a:r>
              <a:rPr lang="en-US" sz="2000" noProof="1">
                <a:latin typeface="Constantia"/>
                <a:cs typeface="Arial"/>
              </a:rPr>
              <a:t>Syntax to remove a directory</a:t>
            </a:r>
            <a:r>
              <a:rPr lang="en-US" sz="2000" b="1" noProof="1">
                <a:latin typeface="Constantia"/>
                <a:cs typeface="Arial"/>
              </a:rPr>
              <a:t> rm file_name.</a:t>
            </a:r>
          </a:p>
          <a:p>
            <a:pPr marL="457200" indent="-457200">
              <a:buFont typeface="Arial,Sans-Serif"/>
              <a:buChar char="•"/>
            </a:pPr>
            <a:endParaRPr lang="en-US" sz="2000" b="1" noProof="1">
              <a:latin typeface="Constantia"/>
              <a:cs typeface="Arial"/>
            </a:endParaRPr>
          </a:p>
          <a:p>
            <a:pPr marL="457200" indent="-457200">
              <a:buFont typeface="Arial,Sans-Serif"/>
              <a:buChar char="•"/>
            </a:pPr>
            <a:r>
              <a:rPr lang="en-US" sz="2000" b="1" noProof="1">
                <a:latin typeface="Constantia"/>
                <a:cs typeface="Arial"/>
              </a:rPr>
              <a:t>rm </a:t>
            </a:r>
            <a:r>
              <a:rPr lang="en-US" sz="2000" noProof="1">
                <a:latin typeface="Constantia"/>
                <a:cs typeface="Arial"/>
              </a:rPr>
              <a:t>command only works in Unix-like environment such as Linux and macOS.</a:t>
            </a:r>
          </a:p>
          <a:p>
            <a:pPr marL="457200" indent="-457200">
              <a:buFont typeface="Arial,Sans-Serif"/>
              <a:buChar char="•"/>
            </a:pPr>
            <a:endParaRPr lang="en-US" sz="2000" noProof="1">
              <a:latin typeface="Constantia"/>
              <a:cs typeface="Arial"/>
            </a:endParaRPr>
          </a:p>
          <a:p>
            <a:pPr marL="457200" indent="-457200">
              <a:buFont typeface="Arial,Sans-Serif"/>
              <a:buChar char="•"/>
            </a:pPr>
            <a:r>
              <a:rPr lang="en-US" sz="2000" noProof="1">
                <a:latin typeface="Constantia"/>
                <a:cs typeface="Arial"/>
              </a:rPr>
              <a:t>In Windows command prompt, there is equivalent command for </a:t>
            </a:r>
            <a:r>
              <a:rPr lang="en-US" sz="2000" b="1" noProof="1">
                <a:latin typeface="Constantia"/>
                <a:cs typeface="Arial"/>
              </a:rPr>
              <a:t>rm </a:t>
            </a:r>
            <a:r>
              <a:rPr lang="en-US" sz="2000" noProof="1">
                <a:latin typeface="Constantia"/>
                <a:cs typeface="Arial"/>
              </a:rPr>
              <a:t>is </a:t>
            </a:r>
            <a:r>
              <a:rPr lang="en-US" sz="2000" b="1" noProof="1">
                <a:latin typeface="Constantia"/>
                <a:cs typeface="Arial"/>
              </a:rPr>
              <a:t>del.</a:t>
            </a:r>
            <a:endParaRPr lang="en-US" sz="2000" noProof="1">
              <a:latin typeface="Constantia"/>
              <a:cs typeface="Arial"/>
            </a:endParaRPr>
          </a:p>
          <a:p>
            <a:pPr marL="457200" indent="-457200">
              <a:buFont typeface="Arial,Sans-Serif"/>
              <a:buChar char="•"/>
            </a:pPr>
            <a:endParaRPr lang="en-US" sz="2000" b="1" noProof="1">
              <a:latin typeface="Constantia"/>
              <a:cs typeface="Arial"/>
            </a:endParaRPr>
          </a:p>
          <a:p>
            <a:pPr marL="457200" indent="-457200">
              <a:buFont typeface="Arial,Sans-Serif"/>
              <a:buChar char="•"/>
            </a:pPr>
            <a:r>
              <a:rPr lang="en-US" sz="2000" noProof="1">
                <a:latin typeface="Constantia"/>
                <a:cs typeface="Arial"/>
              </a:rPr>
              <a:t>Command to delete files in Games Directory.</a:t>
            </a:r>
          </a:p>
          <a:p>
            <a:pPr marL="457200" indent="-457200">
              <a:buFont typeface="Arial,Sans-Serif"/>
              <a:buChar char="•"/>
            </a:pPr>
            <a:endParaRPr lang="en-US" sz="2000" noProof="1">
              <a:latin typeface="Constantia"/>
              <a:cs typeface="Arial"/>
            </a:endParaRPr>
          </a:p>
        </p:txBody>
      </p:sp>
      <p:pic>
        <p:nvPicPr>
          <p:cNvPr id="5" name="Picture 4">
            <a:extLst>
              <a:ext uri="{FF2B5EF4-FFF2-40B4-BE49-F238E27FC236}">
                <a16:creationId xmlns:a16="http://schemas.microsoft.com/office/drawing/2014/main" id="{36071F3B-7780-8D8B-4462-E547D6C691C0}"/>
              </a:ext>
            </a:extLst>
          </p:cNvPr>
          <p:cNvPicPr>
            <a:picLocks noChangeAspect="1"/>
          </p:cNvPicPr>
          <p:nvPr/>
        </p:nvPicPr>
        <p:blipFill>
          <a:blip r:embed="rId2"/>
          <a:stretch>
            <a:fillRect/>
          </a:stretch>
        </p:blipFill>
        <p:spPr>
          <a:xfrm>
            <a:off x="1818468" y="4697467"/>
            <a:ext cx="8567979" cy="627302"/>
          </a:xfrm>
          <a:prstGeom prst="rect">
            <a:avLst/>
          </a:prstGeom>
        </p:spPr>
      </p:pic>
    </p:spTree>
    <p:extLst>
      <p:ext uri="{BB962C8B-B14F-4D97-AF65-F5344CB8AC3E}">
        <p14:creationId xmlns:p14="http://schemas.microsoft.com/office/powerpoint/2010/main" val="2056843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Filter</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16990" y="1124218"/>
            <a:ext cx="10820400"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Filter</a:t>
            </a:r>
            <a:endParaRPr lang="en-US" dirty="0"/>
          </a:p>
          <a:p>
            <a:endParaRPr lang="en-US" sz="2000" b="1" noProof="1">
              <a:latin typeface="Constantia"/>
              <a:cs typeface="Arial"/>
            </a:endParaRPr>
          </a:p>
          <a:p>
            <a:pPr marL="342900" indent="-342900">
              <a:buFont typeface="Arial"/>
              <a:buChar char="•"/>
            </a:pPr>
            <a:r>
              <a:rPr lang="en-US" sz="2000" noProof="1">
                <a:latin typeface="Constantia"/>
                <a:cs typeface="Arial"/>
              </a:rPr>
              <a:t>When a program takes its input from another program, performs some operations on that input, and writes the result to the standard output, it is referred to as a </a:t>
            </a:r>
            <a:r>
              <a:rPr lang="en-US" sz="2000" b="1" noProof="1">
                <a:latin typeface="Constantia"/>
                <a:cs typeface="Arial"/>
              </a:rPr>
              <a:t>filter.</a:t>
            </a:r>
          </a:p>
          <a:p>
            <a:pPr marL="342900" indent="-342900">
              <a:buFont typeface="Arial"/>
              <a:buChar char="•"/>
            </a:pPr>
            <a:endParaRPr lang="en-US" sz="2000" b="1" noProof="1">
              <a:latin typeface="Constantia"/>
              <a:cs typeface="Arial"/>
            </a:endParaRPr>
          </a:p>
          <a:p>
            <a:pPr marL="342900" indent="-342900">
              <a:buFont typeface="Arial"/>
              <a:buChar char="•"/>
            </a:pPr>
            <a:r>
              <a:rPr lang="en-US" sz="2000" noProof="1">
                <a:latin typeface="Constantia"/>
                <a:cs typeface="Arial"/>
              </a:rPr>
              <a:t>A common use of filters is to modify output. Unix filters can restructure the output.</a:t>
            </a:r>
          </a:p>
          <a:p>
            <a:pPr marL="342900" indent="-342900">
              <a:buFont typeface="Arial"/>
              <a:buChar char="•"/>
            </a:pPr>
            <a:endParaRPr lang="en-US" sz="2000" noProof="1">
              <a:latin typeface="Constantia"/>
              <a:cs typeface="Arial"/>
            </a:endParaRPr>
          </a:p>
          <a:p>
            <a:pPr marL="342900" indent="-342900">
              <a:buFont typeface="Arial"/>
              <a:buChar char="•"/>
            </a:pPr>
            <a:r>
              <a:rPr lang="en-US" sz="2000" noProof="1">
                <a:latin typeface="Constantia"/>
                <a:cs typeface="Arial"/>
              </a:rPr>
              <a:t>Some of the common filters in UNIX/Linux are:</a:t>
            </a:r>
          </a:p>
          <a:p>
            <a:pPr marL="457200" indent="-457200">
              <a:buAutoNum type="arabicPeriod"/>
            </a:pPr>
            <a:endParaRPr lang="en-US" sz="2000" b="1" noProof="1">
              <a:latin typeface="Constantia"/>
              <a:cs typeface="Arial"/>
            </a:endParaRPr>
          </a:p>
          <a:p>
            <a:pPr marL="457200" indent="-457200">
              <a:buAutoNum type="arabicPeriod"/>
            </a:pPr>
            <a:r>
              <a:rPr lang="en-US" sz="2000" b="1" noProof="1">
                <a:latin typeface="Constantia"/>
                <a:cs typeface="Arial"/>
              </a:rPr>
              <a:t>uniq </a:t>
            </a:r>
            <a:r>
              <a:rPr lang="en-US" sz="2000" noProof="1">
                <a:latin typeface="Constantia"/>
                <a:cs typeface="Arial"/>
              </a:rPr>
              <a:t>– removes identical adjacent lines</a:t>
            </a:r>
          </a:p>
          <a:p>
            <a:pPr marL="457200" indent="-457200">
              <a:buFontTx/>
              <a:buAutoNum type="arabicPeriod"/>
            </a:pPr>
            <a:r>
              <a:rPr lang="en-US" sz="2000" b="1" noProof="1">
                <a:latin typeface="Constantia"/>
                <a:cs typeface="Arial"/>
              </a:rPr>
              <a:t>head, tail</a:t>
            </a:r>
            <a:r>
              <a:rPr lang="en-US" sz="2000" noProof="1">
                <a:latin typeface="Constantia"/>
                <a:cs typeface="Arial"/>
              </a:rPr>
              <a:t>– display first (last) n lines of a file.</a:t>
            </a:r>
          </a:p>
          <a:p>
            <a:pPr marL="457200" indent="-457200">
              <a:buFontTx/>
              <a:buAutoNum type="arabicPeriod"/>
            </a:pPr>
            <a:r>
              <a:rPr lang="en-US" sz="2000" b="1" noProof="1">
                <a:latin typeface="Constantia"/>
                <a:cs typeface="Arial"/>
              </a:rPr>
              <a:t>sort </a:t>
            </a:r>
            <a:r>
              <a:rPr lang="en-US" sz="2000" noProof="1">
                <a:latin typeface="Constantia"/>
                <a:cs typeface="Arial"/>
              </a:rPr>
              <a:t>– sorts the files by line (lexically or numerically)</a:t>
            </a:r>
          </a:p>
          <a:p>
            <a:pPr marL="457200" indent="-457200">
              <a:buFontTx/>
              <a:buAutoNum type="arabicPeriod"/>
            </a:pPr>
            <a:r>
              <a:rPr lang="en-US" sz="2000" b="1" noProof="1">
                <a:latin typeface="Constantia"/>
                <a:cs typeface="Arial"/>
              </a:rPr>
              <a:t>cut</a:t>
            </a:r>
            <a:r>
              <a:rPr lang="en-US" sz="2000" noProof="1">
                <a:latin typeface="Constantia"/>
                <a:cs typeface="Arial"/>
              </a:rPr>
              <a:t>– select portion of a line</a:t>
            </a:r>
          </a:p>
          <a:p>
            <a:pPr marL="457200" indent="-457200">
              <a:buFontTx/>
              <a:buAutoNum type="arabicPeriod"/>
            </a:pPr>
            <a:r>
              <a:rPr lang="en-US" sz="2000" b="1" noProof="1">
                <a:latin typeface="Constantia"/>
                <a:cs typeface="Arial"/>
              </a:rPr>
              <a:t>wc – </a:t>
            </a:r>
            <a:r>
              <a:rPr lang="en-US" sz="2000" noProof="1">
                <a:latin typeface="Constantia"/>
                <a:cs typeface="Arial"/>
              </a:rPr>
              <a:t>word count(line count, character count)</a:t>
            </a:r>
          </a:p>
          <a:p>
            <a:pPr marL="457200" indent="-457200">
              <a:buFontTx/>
              <a:buAutoNum type="arabicPeriod"/>
            </a:pPr>
            <a:r>
              <a:rPr lang="en-US" sz="2000" b="1" noProof="1">
                <a:latin typeface="Constantia"/>
                <a:cs typeface="Arial"/>
              </a:rPr>
              <a:t>tr</a:t>
            </a:r>
            <a:r>
              <a:rPr lang="en-US" sz="2000" noProof="1">
                <a:latin typeface="Constantia"/>
                <a:cs typeface="Arial"/>
              </a:rPr>
              <a:t> – translate---</a:t>
            </a:r>
          </a:p>
          <a:p>
            <a:pPr marL="457200" indent="-457200">
              <a:buFontTx/>
              <a:buAutoNum type="arabicPeriod"/>
            </a:pPr>
            <a:r>
              <a:rPr lang="en-US" sz="2000" b="1" noProof="1">
                <a:latin typeface="Constantia"/>
                <a:cs typeface="Arial"/>
              </a:rPr>
              <a:t>grep, egrep</a:t>
            </a:r>
            <a:r>
              <a:rPr lang="en-US" sz="2000" noProof="1">
                <a:latin typeface="Constantia"/>
                <a:cs typeface="Arial"/>
              </a:rPr>
              <a:t>– search files using regular expressions.</a:t>
            </a:r>
          </a:p>
        </p:txBody>
      </p:sp>
    </p:spTree>
    <p:extLst>
      <p:ext uri="{BB962C8B-B14F-4D97-AF65-F5344CB8AC3E}">
        <p14:creationId xmlns:p14="http://schemas.microsoft.com/office/powerpoint/2010/main" val="1327526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Uniq Command</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346139"/>
            <a:ext cx="1082040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Uniq Command</a:t>
            </a:r>
            <a:endParaRPr lang="en-US"/>
          </a:p>
          <a:p>
            <a:endParaRPr lang="en-US" sz="2000" b="1" noProof="1">
              <a:latin typeface="Constantia"/>
              <a:cs typeface="Arial"/>
            </a:endParaRPr>
          </a:p>
          <a:p>
            <a:pPr marL="342900" indent="-342900">
              <a:buFont typeface="Arial"/>
              <a:buChar char="•"/>
            </a:pPr>
            <a:r>
              <a:rPr lang="en-US" sz="2000" noProof="1">
                <a:latin typeface="Constantia"/>
                <a:cs typeface="Arial"/>
              </a:rPr>
              <a:t>Uniq command is used to suppress the duplicate lines from a file.</a:t>
            </a:r>
          </a:p>
          <a:p>
            <a:pPr marL="342900" indent="-342900">
              <a:buFont typeface="Arial"/>
              <a:buChar char="•"/>
            </a:pPr>
            <a:r>
              <a:rPr lang="en-US" sz="2000" noProof="1">
                <a:latin typeface="Constantia"/>
                <a:cs typeface="Arial"/>
              </a:rPr>
              <a:t>It discards all the successive identical lines except one from the input and writes the output.</a:t>
            </a:r>
          </a:p>
          <a:p>
            <a:endParaRPr lang="en-US" sz="2000" noProof="1">
              <a:latin typeface="Constantia"/>
              <a:cs typeface="Arial"/>
            </a:endParaRPr>
          </a:p>
          <a:p>
            <a:r>
              <a:rPr lang="en-US" sz="2000" b="1" noProof="1">
                <a:latin typeface="Constantia"/>
                <a:cs typeface="Arial"/>
              </a:rPr>
              <a:t>Syntax: uniq [ options ] file_name</a:t>
            </a:r>
            <a:endParaRPr lang="en-US" sz="2000" noProof="1">
              <a:latin typeface="Constantia"/>
              <a:cs typeface="Arial"/>
            </a:endParaRPr>
          </a:p>
          <a:p>
            <a:endParaRPr lang="en-US" sz="2000" noProof="1">
              <a:latin typeface="Constantia"/>
              <a:cs typeface="Arial"/>
            </a:endParaRPr>
          </a:p>
          <a:p>
            <a:r>
              <a:rPr lang="en-US" sz="2000" b="1" noProof="1">
                <a:latin typeface="Constantia"/>
                <a:cs typeface="Arial"/>
              </a:rPr>
              <a:t>Options:</a:t>
            </a:r>
          </a:p>
          <a:p>
            <a:endParaRPr lang="en-US" sz="2000" b="1" noProof="1">
              <a:latin typeface="Constantia"/>
              <a:cs typeface="Arial"/>
            </a:endParaRPr>
          </a:p>
          <a:p>
            <a:pPr marL="457200" indent="-457200">
              <a:buAutoNum type="arabicPeriod"/>
            </a:pPr>
            <a:r>
              <a:rPr lang="en-US" sz="2000" b="1" noProof="1">
                <a:latin typeface="Constantia"/>
                <a:cs typeface="Arial"/>
              </a:rPr>
              <a:t>-u = </a:t>
            </a:r>
            <a:r>
              <a:rPr lang="en-US" sz="2000" noProof="1">
                <a:latin typeface="Constantia"/>
                <a:cs typeface="Arial"/>
              </a:rPr>
              <a:t>list only the lines that are unique.</a:t>
            </a:r>
            <a:r>
              <a:rPr lang="en-US" sz="2000" b="1" noProof="1">
                <a:latin typeface="Constantia"/>
                <a:cs typeface="Arial"/>
              </a:rPr>
              <a:t> </a:t>
            </a:r>
          </a:p>
          <a:p>
            <a:pPr marL="457200" indent="-457200">
              <a:buAutoNum type="arabicPeriod"/>
            </a:pPr>
            <a:r>
              <a:rPr lang="en-US" sz="2000" b="1" noProof="1">
                <a:latin typeface="Constantia"/>
                <a:cs typeface="Arial"/>
              </a:rPr>
              <a:t>-d =  </a:t>
            </a:r>
            <a:r>
              <a:rPr lang="en-US" sz="2000" noProof="1">
                <a:latin typeface="Constantia"/>
                <a:cs typeface="Arial"/>
              </a:rPr>
              <a:t>list only the lines that are duplicate.</a:t>
            </a:r>
          </a:p>
          <a:p>
            <a:pPr marL="457200" indent="-457200">
              <a:buAutoNum type="arabicPeriod"/>
            </a:pPr>
            <a:r>
              <a:rPr lang="en-US" sz="2000" b="1" noProof="1">
                <a:latin typeface="Constantia"/>
                <a:cs typeface="Arial"/>
              </a:rPr>
              <a:t>-c = </a:t>
            </a:r>
            <a:r>
              <a:rPr lang="en-US" sz="2000" noProof="1">
                <a:latin typeface="Constantia"/>
                <a:cs typeface="Arial"/>
              </a:rPr>
              <a:t>counts the frequency of occurrences</a:t>
            </a:r>
          </a:p>
        </p:txBody>
      </p:sp>
    </p:spTree>
    <p:extLst>
      <p:ext uri="{BB962C8B-B14F-4D97-AF65-F5344CB8AC3E}">
        <p14:creationId xmlns:p14="http://schemas.microsoft.com/office/powerpoint/2010/main" val="3116418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Head Command</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16990" y="1124218"/>
            <a:ext cx="10820400"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Head</a:t>
            </a:r>
            <a:endParaRPr lang="en-US"/>
          </a:p>
          <a:p>
            <a:endParaRPr lang="en-US" sz="2000" b="1" noProof="1">
              <a:latin typeface="Constantia"/>
              <a:cs typeface="Arial"/>
            </a:endParaRPr>
          </a:p>
          <a:p>
            <a:pPr marL="342900" indent="-342900">
              <a:buFont typeface="Arial"/>
              <a:buChar char="•"/>
            </a:pPr>
            <a:r>
              <a:rPr lang="en-US" sz="2000" noProof="1">
                <a:latin typeface="Constantia"/>
                <a:cs typeface="Arial"/>
              </a:rPr>
              <a:t>List the beginning of  a file to standard output. The default is 10 lines, but a different number can be specified.</a:t>
            </a:r>
            <a:endParaRPr lang="en-US" sz="2000" b="1" noProof="1">
              <a:latin typeface="Constantia"/>
              <a:cs typeface="Arial"/>
            </a:endParaRPr>
          </a:p>
          <a:p>
            <a:endParaRPr lang="en-US" sz="2000" noProof="1">
              <a:latin typeface="Constantia"/>
              <a:cs typeface="Arial"/>
            </a:endParaRPr>
          </a:p>
          <a:p>
            <a:r>
              <a:rPr lang="en-US" sz="2000" b="1" noProof="1">
                <a:latin typeface="Constantia"/>
                <a:cs typeface="Arial"/>
              </a:rPr>
              <a:t>SYNTAX:</a:t>
            </a:r>
            <a:endParaRPr lang="en-US" sz="2000" noProof="1">
              <a:latin typeface="Constantia"/>
              <a:cs typeface="Arial"/>
            </a:endParaRPr>
          </a:p>
          <a:p>
            <a:endParaRPr lang="en-US" sz="2000" b="1" noProof="1">
              <a:latin typeface="Constantia"/>
              <a:cs typeface="Arial"/>
            </a:endParaRPr>
          </a:p>
          <a:p>
            <a:r>
              <a:rPr lang="en-US" sz="2000" noProof="1">
                <a:latin typeface="Constantia"/>
                <a:cs typeface="Arial"/>
              </a:rPr>
              <a:t>head [OPTION] [FILE]</a:t>
            </a:r>
          </a:p>
          <a:p>
            <a:pPr marL="457200" indent="-457200">
              <a:buAutoNum type="arabicPeriod"/>
            </a:pPr>
            <a:endParaRPr lang="en-US" sz="2000" b="1" noProof="1">
              <a:latin typeface="Constantia"/>
              <a:cs typeface="Arial"/>
            </a:endParaRPr>
          </a:p>
          <a:p>
            <a:r>
              <a:rPr lang="en-US" sz="2000" b="1" noProof="1">
                <a:latin typeface="Constantia"/>
                <a:cs typeface="Arial"/>
              </a:rPr>
              <a:t>OPTIONS:</a:t>
            </a:r>
          </a:p>
          <a:p>
            <a:endParaRPr lang="en-US" sz="2000" b="1" noProof="1">
              <a:latin typeface="Constantia"/>
              <a:cs typeface="Arial"/>
            </a:endParaRPr>
          </a:p>
          <a:p>
            <a:pPr marL="457200" indent="-457200">
              <a:buAutoNum type="arabicPeriod"/>
            </a:pPr>
            <a:r>
              <a:rPr lang="en-US" sz="2000" b="1" noProof="1">
                <a:latin typeface="Constantia"/>
                <a:cs typeface="Arial"/>
              </a:rPr>
              <a:t>-c[N] = </a:t>
            </a:r>
            <a:r>
              <a:rPr lang="en-US" sz="2000" noProof="1">
                <a:latin typeface="Constantia"/>
                <a:cs typeface="Arial"/>
              </a:rPr>
              <a:t>Prints the first N bytes of a file to standard output.</a:t>
            </a:r>
          </a:p>
          <a:p>
            <a:pPr marL="457200" indent="-457200">
              <a:buAutoNum type="arabicPeriod"/>
            </a:pPr>
            <a:r>
              <a:rPr lang="en-US" sz="2000" b="1" noProof="1">
                <a:latin typeface="Constantia"/>
                <a:cs typeface="Arial"/>
              </a:rPr>
              <a:t>-n[N] = </a:t>
            </a:r>
            <a:r>
              <a:rPr lang="en-US" sz="2000" noProof="1">
                <a:latin typeface="Constantia"/>
                <a:cs typeface="Arial"/>
              </a:rPr>
              <a:t>Prints the first N lines of a file to standard output.</a:t>
            </a:r>
          </a:p>
          <a:p>
            <a:endParaRPr lang="en-US" sz="2000" b="1" noProof="1">
              <a:latin typeface="Constantia"/>
              <a:cs typeface="Arial"/>
            </a:endParaRPr>
          </a:p>
        </p:txBody>
      </p:sp>
    </p:spTree>
    <p:extLst>
      <p:ext uri="{BB962C8B-B14F-4D97-AF65-F5344CB8AC3E}">
        <p14:creationId xmlns:p14="http://schemas.microsoft.com/office/powerpoint/2010/main" val="2845932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Tail Command</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16990" y="1124218"/>
            <a:ext cx="10820400"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Tail</a:t>
            </a:r>
            <a:endParaRPr lang="en-US"/>
          </a:p>
          <a:p>
            <a:endParaRPr lang="en-US" sz="2000" b="1" noProof="1">
              <a:latin typeface="Constantia"/>
              <a:cs typeface="Arial"/>
            </a:endParaRPr>
          </a:p>
          <a:p>
            <a:pPr marL="342900" indent="-342900">
              <a:buFont typeface="Arial"/>
              <a:buChar char="•"/>
            </a:pPr>
            <a:r>
              <a:rPr lang="en-US" sz="2000" noProof="1">
                <a:latin typeface="Constantia"/>
                <a:cs typeface="Arial"/>
              </a:rPr>
              <a:t>List the end of  a file to standard output. The default is 10 lines, but this can be changed with the –n option.</a:t>
            </a:r>
            <a:endParaRPr lang="en-US" sz="2000" b="1" noProof="1">
              <a:latin typeface="Constantia"/>
              <a:cs typeface="Arial"/>
            </a:endParaRPr>
          </a:p>
          <a:p>
            <a:pPr marL="342900" indent="-342900">
              <a:buFont typeface="Arial"/>
              <a:buChar char="•"/>
            </a:pPr>
            <a:r>
              <a:rPr lang="en-US" sz="2000" noProof="1">
                <a:latin typeface="Constantia"/>
                <a:cs typeface="Arial"/>
              </a:rPr>
              <a:t>Commonly used to keep track of changes to a system log-file, using the –f option, which output lines appended to the file.</a:t>
            </a:r>
          </a:p>
          <a:p>
            <a:endParaRPr lang="en-US" sz="2000" noProof="1">
              <a:latin typeface="Constantia"/>
              <a:cs typeface="Arial"/>
            </a:endParaRPr>
          </a:p>
          <a:p>
            <a:r>
              <a:rPr lang="en-US" sz="2000" b="1" noProof="1">
                <a:latin typeface="Constantia"/>
                <a:cs typeface="Arial"/>
              </a:rPr>
              <a:t>SYNTAX:</a:t>
            </a:r>
            <a:endParaRPr lang="en-US" sz="2000" noProof="1">
              <a:latin typeface="Constantia"/>
              <a:cs typeface="Arial"/>
            </a:endParaRPr>
          </a:p>
          <a:p>
            <a:endParaRPr lang="en-US" sz="2000" b="1" noProof="1">
              <a:latin typeface="Constantia"/>
              <a:cs typeface="Arial"/>
            </a:endParaRPr>
          </a:p>
          <a:p>
            <a:r>
              <a:rPr lang="en-US" sz="2000" noProof="1">
                <a:latin typeface="Constantia"/>
                <a:cs typeface="Arial"/>
              </a:rPr>
              <a:t>tail [OPTION] [FILE]</a:t>
            </a:r>
          </a:p>
          <a:p>
            <a:pPr marL="457200" indent="-457200">
              <a:buAutoNum type="arabicPeriod"/>
            </a:pPr>
            <a:endParaRPr lang="en-US" sz="2000" b="1" noProof="1">
              <a:latin typeface="Constantia"/>
              <a:cs typeface="Arial"/>
            </a:endParaRPr>
          </a:p>
          <a:p>
            <a:r>
              <a:rPr lang="en-US" sz="2000" b="1" noProof="1">
                <a:latin typeface="Constantia"/>
                <a:cs typeface="Arial"/>
              </a:rPr>
              <a:t>Examples:</a:t>
            </a:r>
          </a:p>
          <a:p>
            <a:endParaRPr lang="en-US" sz="2000" b="1" noProof="1">
              <a:latin typeface="Constantia"/>
              <a:cs typeface="Arial"/>
            </a:endParaRPr>
          </a:p>
          <a:p>
            <a:pPr marL="457200" indent="-457200">
              <a:buAutoNum type="arabicPeriod"/>
            </a:pPr>
            <a:r>
              <a:rPr lang="en-US" sz="2000" b="1" noProof="1">
                <a:latin typeface="Constantia"/>
                <a:cs typeface="Arial"/>
              </a:rPr>
              <a:t>tail myfile.txt = </a:t>
            </a:r>
            <a:r>
              <a:rPr lang="en-US" sz="2000" noProof="1">
                <a:latin typeface="Constantia"/>
                <a:cs typeface="Arial"/>
              </a:rPr>
              <a:t>Display the last 10 lines of the file myfile.txt.</a:t>
            </a:r>
          </a:p>
          <a:p>
            <a:pPr marL="457200" indent="-457200">
              <a:buAutoNum type="arabicPeriod"/>
            </a:pPr>
            <a:r>
              <a:rPr lang="en-US" sz="2000" b="1" noProof="1">
                <a:latin typeface="Constantia"/>
                <a:cs typeface="Arial"/>
              </a:rPr>
              <a:t>tail –n 100 myfile.txt = </a:t>
            </a:r>
            <a:r>
              <a:rPr lang="en-US" sz="2000" noProof="1">
                <a:latin typeface="Constantia"/>
                <a:cs typeface="Arial"/>
              </a:rPr>
              <a:t>Display the last 100 lines of the file myfile.txt.</a:t>
            </a:r>
            <a:endParaRPr lang="en-US">
              <a:cs typeface="Arial"/>
            </a:endParaRPr>
          </a:p>
          <a:p>
            <a:endParaRPr lang="en-US" sz="2000" b="1" noProof="1">
              <a:latin typeface="Constantia"/>
              <a:cs typeface="Arial"/>
            </a:endParaRPr>
          </a:p>
        </p:txBody>
      </p:sp>
    </p:spTree>
    <p:extLst>
      <p:ext uri="{BB962C8B-B14F-4D97-AF65-F5344CB8AC3E}">
        <p14:creationId xmlns:p14="http://schemas.microsoft.com/office/powerpoint/2010/main" val="3043680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noProof="1">
                <a:latin typeface="Constantia"/>
                <a:cs typeface="Arial"/>
              </a:rPr>
              <a:t>wc </a:t>
            </a:r>
            <a:r>
              <a:rPr lang="en-IN" sz="3600" b="1">
                <a:latin typeface="Constantia"/>
                <a:cs typeface="Arial"/>
              </a:rPr>
              <a:t>Command</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16990" y="1124218"/>
            <a:ext cx="10820400"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wc</a:t>
            </a:r>
            <a:endParaRPr lang="en-US"/>
          </a:p>
          <a:p>
            <a:endParaRPr lang="en-US" sz="2000" b="1" noProof="1">
              <a:latin typeface="Constantia"/>
              <a:cs typeface="Arial"/>
            </a:endParaRPr>
          </a:p>
          <a:p>
            <a:pPr marL="342900" indent="-342900">
              <a:buFont typeface="Arial"/>
              <a:buChar char="•"/>
            </a:pPr>
            <a:r>
              <a:rPr lang="en-US" sz="2000" noProof="1">
                <a:latin typeface="Constantia"/>
                <a:cs typeface="Arial"/>
              </a:rPr>
              <a:t>Count the number of bytes or characters, words and new lines in the given output.</a:t>
            </a:r>
          </a:p>
          <a:p>
            <a:pPr marL="342900" indent="-342900">
              <a:buFont typeface="Arial"/>
              <a:buChar char="•"/>
            </a:pPr>
            <a:endParaRPr lang="en-US" sz="2000" noProof="1">
              <a:latin typeface="Constantia"/>
              <a:cs typeface="Arial"/>
            </a:endParaRPr>
          </a:p>
          <a:p>
            <a:r>
              <a:rPr lang="en-US" sz="2000" b="1" noProof="1">
                <a:latin typeface="Constantia"/>
                <a:cs typeface="Arial"/>
              </a:rPr>
              <a:t>SYNTAX:</a:t>
            </a:r>
            <a:endParaRPr lang="en-US" sz="2000" noProof="1">
              <a:latin typeface="Constantia"/>
              <a:cs typeface="Arial"/>
            </a:endParaRPr>
          </a:p>
          <a:p>
            <a:endParaRPr lang="en-US" sz="2000" b="1" noProof="1">
              <a:latin typeface="Constantia"/>
              <a:cs typeface="Arial"/>
            </a:endParaRPr>
          </a:p>
          <a:p>
            <a:r>
              <a:rPr lang="en-US" sz="2000" noProof="1">
                <a:latin typeface="Constantia"/>
                <a:cs typeface="Arial"/>
              </a:rPr>
              <a:t>wc [OPTION ] [FILE/FILES]</a:t>
            </a:r>
          </a:p>
          <a:p>
            <a:r>
              <a:rPr lang="en-US" sz="2000" noProof="1">
                <a:latin typeface="Constantia"/>
                <a:cs typeface="Arial"/>
              </a:rPr>
              <a:t>wc [OPTION ]</a:t>
            </a:r>
            <a:endParaRPr lang="en-US"/>
          </a:p>
          <a:p>
            <a:pPr marL="457200" indent="-457200">
              <a:buAutoNum type="arabicPeriod"/>
            </a:pPr>
            <a:endParaRPr lang="en-US" sz="2000" b="1" noProof="1">
              <a:latin typeface="Constantia"/>
              <a:cs typeface="Arial"/>
            </a:endParaRPr>
          </a:p>
          <a:p>
            <a:r>
              <a:rPr lang="en-US" sz="2000" b="1" noProof="1">
                <a:latin typeface="Constantia"/>
                <a:cs typeface="Arial"/>
              </a:rPr>
              <a:t>OPTIONS: </a:t>
            </a:r>
          </a:p>
          <a:p>
            <a:endParaRPr lang="en-US" sz="2000" b="1" noProof="1">
              <a:latin typeface="Constantia"/>
              <a:cs typeface="Arial"/>
            </a:endParaRPr>
          </a:p>
          <a:p>
            <a:pPr marL="457200" indent="-457200">
              <a:buAutoNum type="arabicPeriod"/>
            </a:pPr>
            <a:r>
              <a:rPr lang="en-US" sz="2000" b="1" noProof="1">
                <a:latin typeface="Constantia"/>
                <a:cs typeface="Arial"/>
              </a:rPr>
              <a:t>l </a:t>
            </a:r>
            <a:r>
              <a:rPr lang="en-US" sz="2000" noProof="1">
                <a:latin typeface="Constantia"/>
                <a:cs typeface="Arial"/>
              </a:rPr>
              <a:t>= lines (prints the newline count).</a:t>
            </a:r>
          </a:p>
          <a:p>
            <a:pPr marL="457200" indent="-457200">
              <a:buAutoNum type="arabicPeriod"/>
            </a:pPr>
            <a:r>
              <a:rPr lang="en-US" sz="2000" b="1" noProof="1">
                <a:latin typeface="Constantia"/>
                <a:cs typeface="Arial"/>
              </a:rPr>
              <a:t>c</a:t>
            </a:r>
            <a:r>
              <a:rPr lang="en-US" sz="2000" noProof="1">
                <a:latin typeface="Constantia"/>
                <a:cs typeface="Arial"/>
              </a:rPr>
              <a:t> = bytes (prints the byte count).</a:t>
            </a:r>
          </a:p>
          <a:p>
            <a:pPr marL="457200" indent="-457200">
              <a:buAutoNum type="arabicPeriod"/>
            </a:pPr>
            <a:r>
              <a:rPr lang="en-US" sz="2000" b="1" noProof="1">
                <a:latin typeface="Constantia"/>
                <a:cs typeface="Arial"/>
              </a:rPr>
              <a:t>w</a:t>
            </a:r>
            <a:r>
              <a:rPr lang="en-US" sz="2000" noProof="1">
                <a:latin typeface="Constantia"/>
                <a:cs typeface="Arial"/>
              </a:rPr>
              <a:t>= words (prints the word count).</a:t>
            </a:r>
          </a:p>
          <a:p>
            <a:pPr marL="457200" indent="-457200">
              <a:buAutoNum type="arabicPeriod"/>
            </a:pPr>
            <a:r>
              <a:rPr lang="en-US" sz="2000" b="1" noProof="1">
                <a:latin typeface="Constantia"/>
                <a:cs typeface="Arial"/>
              </a:rPr>
              <a:t>L</a:t>
            </a:r>
            <a:r>
              <a:rPr lang="en-US" sz="2000" noProof="1">
                <a:latin typeface="Constantia"/>
                <a:cs typeface="Arial"/>
              </a:rPr>
              <a:t> = maxline length (prints the length of longest line) </a:t>
            </a:r>
          </a:p>
          <a:p>
            <a:endParaRPr lang="en-US" sz="2000" b="1" noProof="1">
              <a:latin typeface="Constantia"/>
              <a:cs typeface="Arial"/>
            </a:endParaRPr>
          </a:p>
        </p:txBody>
      </p:sp>
    </p:spTree>
    <p:extLst>
      <p:ext uri="{BB962C8B-B14F-4D97-AF65-F5344CB8AC3E}">
        <p14:creationId xmlns:p14="http://schemas.microsoft.com/office/powerpoint/2010/main" val="1435440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Sort Command</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223236"/>
            <a:ext cx="10820400"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Sort Command</a:t>
            </a:r>
            <a:endParaRPr lang="en-US" dirty="0"/>
          </a:p>
          <a:p>
            <a:endParaRPr lang="en-US" sz="2000" b="1" noProof="1">
              <a:latin typeface="Constantia"/>
              <a:cs typeface="Arial"/>
            </a:endParaRPr>
          </a:p>
          <a:p>
            <a:r>
              <a:rPr lang="en-US" sz="2000" noProof="1">
                <a:latin typeface="Constantia"/>
                <a:cs typeface="Arial"/>
              </a:rPr>
              <a:t>Sort reorders the lines of a file in ascending order or descending order</a:t>
            </a:r>
            <a:endParaRPr lang="en-US" sz="2000" b="1" noProof="1">
              <a:latin typeface="Constantia"/>
              <a:cs typeface="Arial"/>
            </a:endParaRPr>
          </a:p>
          <a:p>
            <a:endParaRPr lang="en-US" sz="2000" noProof="1">
              <a:latin typeface="Constantia"/>
              <a:cs typeface="Arial"/>
            </a:endParaRPr>
          </a:p>
          <a:p>
            <a:r>
              <a:rPr lang="en-US" sz="2000" b="1" noProof="1">
                <a:latin typeface="Constantia"/>
                <a:cs typeface="Arial"/>
              </a:rPr>
              <a:t>Syntax: sort [ options ] file_name</a:t>
            </a:r>
            <a:endParaRPr lang="en-US" sz="2000" noProof="1">
              <a:latin typeface="Constantia"/>
              <a:cs typeface="Arial"/>
            </a:endParaRPr>
          </a:p>
          <a:p>
            <a:endParaRPr lang="en-US" sz="2000" noProof="1">
              <a:latin typeface="Constantia"/>
              <a:cs typeface="Arial"/>
            </a:endParaRPr>
          </a:p>
          <a:p>
            <a:r>
              <a:rPr lang="en-US" sz="2000" b="1" noProof="1">
                <a:latin typeface="Constantia"/>
                <a:cs typeface="Arial"/>
              </a:rPr>
              <a:t>Options:</a:t>
            </a:r>
          </a:p>
          <a:p>
            <a:endParaRPr lang="en-US" sz="2000" b="1" noProof="1">
              <a:latin typeface="Constantia"/>
              <a:cs typeface="Arial"/>
            </a:endParaRPr>
          </a:p>
          <a:p>
            <a:pPr marL="457200" indent="-457200">
              <a:buAutoNum type="arabicPeriod"/>
            </a:pPr>
            <a:r>
              <a:rPr lang="en-US" sz="2000" b="1" noProof="1">
                <a:latin typeface="Constantia"/>
                <a:cs typeface="Arial"/>
              </a:rPr>
              <a:t>-k n = s</a:t>
            </a:r>
            <a:r>
              <a:rPr lang="en-US" sz="2000" noProof="1">
                <a:latin typeface="Constantia"/>
                <a:cs typeface="Arial"/>
              </a:rPr>
              <a:t>ort on the nth field of the line.</a:t>
            </a:r>
            <a:r>
              <a:rPr lang="en-US" sz="2000" b="1" noProof="1">
                <a:latin typeface="Constantia"/>
                <a:cs typeface="Arial"/>
              </a:rPr>
              <a:t> </a:t>
            </a:r>
          </a:p>
          <a:p>
            <a:pPr marL="457200" indent="-457200">
              <a:buAutoNum type="arabicPeriod"/>
            </a:pPr>
            <a:r>
              <a:rPr lang="en-US" sz="2000" b="1" noProof="1">
                <a:latin typeface="Constantia"/>
                <a:cs typeface="Arial"/>
              </a:rPr>
              <a:t>-t = </a:t>
            </a:r>
            <a:r>
              <a:rPr lang="en-US" sz="2000" noProof="1">
                <a:latin typeface="Constantia"/>
                <a:cs typeface="Arial"/>
              </a:rPr>
              <a:t>use char as the field delimiter</a:t>
            </a:r>
          </a:p>
          <a:p>
            <a:pPr marL="457200" indent="-457200">
              <a:buAutoNum type="arabicPeriod"/>
            </a:pPr>
            <a:r>
              <a:rPr lang="en-US" sz="2000" b="1" noProof="1">
                <a:latin typeface="Constantia"/>
                <a:cs typeface="Arial"/>
              </a:rPr>
              <a:t>-n = </a:t>
            </a:r>
            <a:r>
              <a:rPr lang="en-US" sz="2000" noProof="1">
                <a:latin typeface="Constantia"/>
                <a:cs typeface="Arial"/>
              </a:rPr>
              <a:t>sort numerically</a:t>
            </a:r>
          </a:p>
          <a:p>
            <a:pPr marL="457200" indent="-457200">
              <a:buAutoNum type="arabicPeriod"/>
            </a:pPr>
            <a:r>
              <a:rPr lang="en-US" sz="2000" b="1" noProof="1">
                <a:latin typeface="Constantia"/>
                <a:cs typeface="Arial"/>
              </a:rPr>
              <a:t>-r = </a:t>
            </a:r>
            <a:r>
              <a:rPr lang="en-US" sz="2000" noProof="1">
                <a:latin typeface="Constantia"/>
                <a:cs typeface="Arial"/>
              </a:rPr>
              <a:t>reverse order sort</a:t>
            </a:r>
          </a:p>
          <a:p>
            <a:pPr marL="457200" indent="-457200">
              <a:buAutoNum type="arabicPeriod"/>
            </a:pPr>
            <a:r>
              <a:rPr lang="en-US" sz="2000" b="1" noProof="1">
                <a:latin typeface="Constantia"/>
                <a:cs typeface="Arial"/>
              </a:rPr>
              <a:t>-m = </a:t>
            </a:r>
            <a:r>
              <a:rPr lang="en-US" sz="2000" noProof="1">
                <a:latin typeface="Constantia"/>
                <a:cs typeface="Arial"/>
              </a:rPr>
              <a:t>list merge sorted files in list</a:t>
            </a:r>
          </a:p>
        </p:txBody>
      </p:sp>
    </p:spTree>
    <p:extLst>
      <p:ext uri="{BB962C8B-B14F-4D97-AF65-F5344CB8AC3E}">
        <p14:creationId xmlns:p14="http://schemas.microsoft.com/office/powerpoint/2010/main" val="31770709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7200" y="375868"/>
            <a:ext cx="10058400" cy="487362"/>
          </a:xfrm>
        </p:spPr>
        <p:txBody>
          <a:bodyPr/>
          <a:lstStyle/>
          <a:p>
            <a:r>
              <a:rPr lang="en-IN" sz="3600" b="1">
                <a:latin typeface="Constantia"/>
                <a:cs typeface="Arial"/>
              </a:rPr>
              <a:t>grep Command</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223236"/>
            <a:ext cx="10820400"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grep Command</a:t>
            </a:r>
            <a:endParaRPr lang="en-US"/>
          </a:p>
          <a:p>
            <a:endParaRPr lang="en-US" sz="2000" b="1" noProof="1">
              <a:latin typeface="Constantia"/>
              <a:cs typeface="Arial"/>
            </a:endParaRPr>
          </a:p>
          <a:p>
            <a:pPr marL="342900" indent="-342900">
              <a:buFont typeface="Arial"/>
              <a:buChar char="•"/>
            </a:pPr>
            <a:r>
              <a:rPr lang="en-US" sz="2000" noProof="1">
                <a:latin typeface="Constantia"/>
                <a:cs typeface="Arial"/>
              </a:rPr>
              <a:t>Grep command allows you to search one file or multiple files for lines that contains a pattern.</a:t>
            </a:r>
          </a:p>
          <a:p>
            <a:pPr marL="342900" indent="-342900">
              <a:buFont typeface="Arial"/>
              <a:buChar char="•"/>
            </a:pPr>
            <a:endParaRPr lang="en-US" sz="2000" noProof="1">
              <a:latin typeface="Constantia"/>
              <a:cs typeface="Arial"/>
            </a:endParaRPr>
          </a:p>
          <a:p>
            <a:pPr marL="342900" indent="-342900">
              <a:buFont typeface="Arial"/>
              <a:buChar char="•"/>
            </a:pPr>
            <a:r>
              <a:rPr lang="en-US" sz="2000" noProof="1">
                <a:latin typeface="Constantia"/>
                <a:cs typeface="Arial"/>
              </a:rPr>
              <a:t>Exit status is 0 if matches were found, 1 if no matches were found, and 2 if errors occurred.</a:t>
            </a:r>
          </a:p>
          <a:p>
            <a:pPr marL="342900" indent="-342900">
              <a:buFont typeface="Arial"/>
              <a:buChar char="•"/>
            </a:pPr>
            <a:endParaRPr lang="en-US" sz="2000" noProof="1">
              <a:latin typeface="Constantia"/>
              <a:cs typeface="Arial"/>
            </a:endParaRPr>
          </a:p>
          <a:p>
            <a:pPr marL="342900" indent="-342900">
              <a:buFont typeface="Arial"/>
              <a:buChar char="•"/>
            </a:pPr>
            <a:r>
              <a:rPr lang="en-US" sz="2000" noProof="1">
                <a:latin typeface="Constantia"/>
                <a:cs typeface="Arial"/>
              </a:rPr>
              <a:t>Grep search the target file(s) for occurrences of pattern, where pattern may be literal text or a regular expression.</a:t>
            </a:r>
          </a:p>
          <a:p>
            <a:endParaRPr lang="en-US" sz="2000" noProof="1">
              <a:latin typeface="Constantia"/>
              <a:cs typeface="Arial"/>
            </a:endParaRPr>
          </a:p>
          <a:p>
            <a:r>
              <a:rPr lang="en-US" sz="2000" b="1" noProof="1">
                <a:latin typeface="Constantia"/>
                <a:cs typeface="Arial"/>
              </a:rPr>
              <a:t>Syntax: grep pattern file_name</a:t>
            </a:r>
            <a:endParaRPr lang="en-US" sz="2000" noProof="1">
              <a:latin typeface="Constantia"/>
              <a:cs typeface="Arial"/>
            </a:endParaRPr>
          </a:p>
          <a:p>
            <a:endParaRPr lang="en-US" sz="2000" noProof="1">
              <a:latin typeface="Constantia"/>
              <a:cs typeface="Arial"/>
            </a:endParaRPr>
          </a:p>
        </p:txBody>
      </p:sp>
    </p:spTree>
    <p:extLst>
      <p:ext uri="{BB962C8B-B14F-4D97-AF65-F5344CB8AC3E}">
        <p14:creationId xmlns:p14="http://schemas.microsoft.com/office/powerpoint/2010/main" val="2938701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noProof="1">
                <a:latin typeface="Constantia"/>
                <a:cs typeface="Arial"/>
              </a:rPr>
              <a:t>sed </a:t>
            </a:r>
            <a:r>
              <a:rPr lang="en-IN" sz="3600" b="1">
                <a:latin typeface="Constantia"/>
                <a:cs typeface="Arial"/>
              </a:rPr>
              <a:t>Command</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223236"/>
            <a:ext cx="10820400"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sed Command</a:t>
            </a:r>
            <a:endParaRPr lang="en-US" dirty="0"/>
          </a:p>
          <a:p>
            <a:pPr marL="342900" indent="-342900">
              <a:buFont typeface="Arial"/>
              <a:buChar char="•"/>
            </a:pPr>
            <a:r>
              <a:rPr lang="en-US" sz="2000" b="1" noProof="1">
                <a:latin typeface="Constantia"/>
                <a:cs typeface="Arial"/>
              </a:rPr>
              <a:t>Sed </a:t>
            </a:r>
            <a:r>
              <a:rPr lang="en-US" sz="2000" noProof="1">
                <a:latin typeface="Constantia"/>
                <a:cs typeface="Arial"/>
              </a:rPr>
              <a:t>is a stream editor used to perform basic text transformation on an input stream (a file, or input from a pipeline).</a:t>
            </a:r>
          </a:p>
          <a:p>
            <a:pPr marL="800100" lvl="1" indent="-342900">
              <a:buFont typeface="Courier New"/>
              <a:buChar char="o"/>
            </a:pPr>
            <a:endParaRPr lang="en-US" sz="2000" noProof="1">
              <a:latin typeface="Constantia"/>
              <a:cs typeface="Arial"/>
            </a:endParaRPr>
          </a:p>
          <a:p>
            <a:r>
              <a:rPr lang="en-US" sz="2000" b="1" noProof="1">
                <a:latin typeface="Constantia"/>
                <a:cs typeface="Arial"/>
              </a:rPr>
              <a:t>Working Methodology</a:t>
            </a:r>
            <a:endParaRPr lang="en-US" sz="2000" noProof="1">
              <a:latin typeface="Constantia"/>
              <a:cs typeface="Arial"/>
            </a:endParaRPr>
          </a:p>
          <a:p>
            <a:endParaRPr lang="en-US" sz="2000" b="1" noProof="1">
              <a:latin typeface="Constantia"/>
              <a:cs typeface="Arial"/>
            </a:endParaRPr>
          </a:p>
          <a:p>
            <a:pPr marL="342900" indent="-342900">
              <a:buFont typeface="Arial"/>
              <a:buChar char="•"/>
            </a:pPr>
            <a:r>
              <a:rPr lang="en-US" sz="2000" noProof="1">
                <a:latin typeface="Constantia"/>
                <a:cs typeface="Arial"/>
              </a:rPr>
              <a:t>Sed works by making only one pass over the input(s)s called as one execution cycle. Cycle continues till end of file/input is reached.</a:t>
            </a:r>
            <a:endParaRPr lang="en-US" sz="2000" b="1" noProof="1">
              <a:latin typeface="Constantia"/>
              <a:cs typeface="Arial"/>
            </a:endParaRPr>
          </a:p>
          <a:p>
            <a:endParaRPr lang="en-US" sz="2000" noProof="1">
              <a:latin typeface="Constantia"/>
              <a:cs typeface="Arial"/>
            </a:endParaRPr>
          </a:p>
          <a:p>
            <a:pPr marL="457200" indent="-457200">
              <a:buAutoNum type="arabicPeriod"/>
            </a:pPr>
            <a:r>
              <a:rPr lang="en-US" sz="2000" noProof="1">
                <a:latin typeface="Constantia"/>
                <a:cs typeface="Arial"/>
              </a:rPr>
              <a:t>Reading entire line from stdin/file.</a:t>
            </a:r>
          </a:p>
          <a:p>
            <a:pPr marL="457200" indent="-457200">
              <a:buAutoNum type="arabicPeriod"/>
            </a:pPr>
            <a:r>
              <a:rPr lang="en-US" sz="2000" noProof="1">
                <a:latin typeface="Constantia"/>
                <a:cs typeface="Arial"/>
              </a:rPr>
              <a:t>Remove any trailing newline.</a:t>
            </a:r>
          </a:p>
          <a:p>
            <a:pPr marL="457200" indent="-457200">
              <a:buAutoNum type="arabicPeriod"/>
            </a:pPr>
            <a:r>
              <a:rPr lang="en-US" sz="2000" noProof="1">
                <a:latin typeface="Constantia"/>
                <a:cs typeface="Arial"/>
              </a:rPr>
              <a:t>Places the line, in its pattern buffer.</a:t>
            </a:r>
          </a:p>
          <a:p>
            <a:pPr marL="457200" indent="-457200">
              <a:buAutoNum type="arabicPeriod"/>
            </a:pPr>
            <a:r>
              <a:rPr lang="en-US" sz="2000" noProof="1">
                <a:latin typeface="Constantia"/>
                <a:cs typeface="Arial"/>
              </a:rPr>
              <a:t>Modify the pattern buffer according to the supplied commands.</a:t>
            </a:r>
          </a:p>
          <a:p>
            <a:pPr marL="457200" indent="-457200">
              <a:buAutoNum type="arabicPeriod"/>
            </a:pPr>
            <a:r>
              <a:rPr lang="en-US" sz="2000" noProof="1">
                <a:latin typeface="Constantia"/>
                <a:cs typeface="Arial"/>
              </a:rPr>
              <a:t>Print the pattern buffer to stdout.</a:t>
            </a:r>
          </a:p>
          <a:p>
            <a:endParaRPr lang="en-US" sz="2000" noProof="1">
              <a:latin typeface="Constantia"/>
              <a:cs typeface="Arial"/>
            </a:endParaRPr>
          </a:p>
        </p:txBody>
      </p:sp>
    </p:spTree>
    <p:extLst>
      <p:ext uri="{BB962C8B-B14F-4D97-AF65-F5344CB8AC3E}">
        <p14:creationId xmlns:p14="http://schemas.microsoft.com/office/powerpoint/2010/main" val="2754935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Cat Command</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312825"/>
            <a:ext cx="1082040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cat command</a:t>
            </a:r>
            <a:endParaRPr lang="en-US"/>
          </a:p>
          <a:p>
            <a:endParaRPr lang="en-US" sz="2000" b="1" noProof="1">
              <a:latin typeface="Constantia"/>
              <a:cs typeface="Arial"/>
            </a:endParaRPr>
          </a:p>
          <a:p>
            <a:r>
              <a:rPr lang="en-US" sz="2000" noProof="1">
                <a:latin typeface="Constantia"/>
                <a:cs typeface="Arial"/>
              </a:rPr>
              <a:t>The cat (concatenate) command is very frequently used in LINUX. It reads the data from the file and gives the content as output. It helps you to create, view and concatenate files.</a:t>
            </a:r>
            <a:endParaRPr lang="en-US" sz="2000" b="1" noProof="1">
              <a:latin typeface="Constantia"/>
              <a:cs typeface="Arial"/>
            </a:endParaRPr>
          </a:p>
          <a:p>
            <a:pPr marL="342900" indent="-342900">
              <a:buFont typeface="Arial"/>
              <a:buChar char="•"/>
            </a:pPr>
            <a:endParaRPr lang="en-US" sz="2000" b="1" noProof="1">
              <a:latin typeface="Constantia"/>
              <a:cs typeface="Arial"/>
            </a:endParaRPr>
          </a:p>
          <a:p>
            <a:endParaRPr lang="en-US" sz="2000" noProof="1">
              <a:latin typeface="Constantia"/>
              <a:cs typeface="Arial"/>
            </a:endParaRPr>
          </a:p>
        </p:txBody>
      </p:sp>
      <p:graphicFrame>
        <p:nvGraphicFramePr>
          <p:cNvPr id="5" name="Table 4">
            <a:extLst>
              <a:ext uri="{FF2B5EF4-FFF2-40B4-BE49-F238E27FC236}">
                <a16:creationId xmlns:a16="http://schemas.microsoft.com/office/drawing/2014/main" id="{3ECFE497-EBEB-C616-80F9-72664EEF2863}"/>
              </a:ext>
            </a:extLst>
          </p:cNvPr>
          <p:cNvGraphicFramePr>
            <a:graphicFrameLocks noGrp="1"/>
          </p:cNvGraphicFramePr>
          <p:nvPr>
            <p:extLst>
              <p:ext uri="{D42A27DB-BD31-4B8C-83A1-F6EECF244321}">
                <p14:modId xmlns:p14="http://schemas.microsoft.com/office/powerpoint/2010/main" val="1492012283"/>
              </p:ext>
            </p:extLst>
          </p:nvPr>
        </p:nvGraphicFramePr>
        <p:xfrm>
          <a:off x="1245973" y="2625810"/>
          <a:ext cx="9701716" cy="4033419"/>
        </p:xfrm>
        <a:graphic>
          <a:graphicData uri="http://schemas.openxmlformats.org/drawingml/2006/table">
            <a:tbl>
              <a:tblPr firstRow="1" bandRow="1">
                <a:tableStyleId>{5C22544A-7EE6-4342-B048-85BDC9FD1C3A}</a:tableStyleId>
              </a:tblPr>
              <a:tblGrid>
                <a:gridCol w="4099558">
                  <a:extLst>
                    <a:ext uri="{9D8B030D-6E8A-4147-A177-3AD203B41FA5}">
                      <a16:colId xmlns:a16="http://schemas.microsoft.com/office/drawing/2014/main" val="1257523798"/>
                    </a:ext>
                  </a:extLst>
                </a:gridCol>
                <a:gridCol w="5602158">
                  <a:extLst>
                    <a:ext uri="{9D8B030D-6E8A-4147-A177-3AD203B41FA5}">
                      <a16:colId xmlns:a16="http://schemas.microsoft.com/office/drawing/2014/main" val="1313911378"/>
                    </a:ext>
                  </a:extLst>
                </a:gridCol>
              </a:tblGrid>
              <a:tr h="576203">
                <a:tc>
                  <a:txBody>
                    <a:bodyPr/>
                    <a:lstStyle/>
                    <a:p>
                      <a:pPr algn="ctr" rtl="0" fontAlgn="base"/>
                      <a:r>
                        <a:rPr lang="en-US" sz="1800" dirty="0">
                          <a:effectLst/>
                        </a:rPr>
                        <a:t>Option​</a:t>
                      </a:r>
                      <a:endParaRPr lang="en-US" b="1" dirty="0">
                        <a:solidFill>
                          <a:srgbClr val="FFFFFF"/>
                        </a:solidFill>
                        <a:effectLst/>
                      </a:endParaRPr>
                    </a:p>
                  </a:txBody>
                  <a:tcPr anchor="ctr"/>
                </a:tc>
                <a:tc>
                  <a:txBody>
                    <a:bodyPr/>
                    <a:lstStyle/>
                    <a:p>
                      <a:pPr algn="ctr" rtl="0" fontAlgn="base"/>
                      <a:r>
                        <a:rPr lang="en-US" sz="1800" dirty="0">
                          <a:effectLst/>
                        </a:rPr>
                        <a:t>Description​</a:t>
                      </a:r>
                      <a:endParaRPr lang="en-US" b="1" dirty="0">
                        <a:solidFill>
                          <a:srgbClr val="FFFFFF"/>
                        </a:solidFill>
                        <a:effectLst/>
                      </a:endParaRPr>
                    </a:p>
                  </a:txBody>
                  <a:tcPr anchor="ctr"/>
                </a:tc>
                <a:extLst>
                  <a:ext uri="{0D108BD9-81ED-4DB2-BD59-A6C34878D82A}">
                    <a16:rowId xmlns:a16="http://schemas.microsoft.com/office/drawing/2014/main" val="4115940431"/>
                  </a:ext>
                </a:extLst>
              </a:tr>
              <a:tr h="576203">
                <a:tc>
                  <a:txBody>
                    <a:bodyPr/>
                    <a:lstStyle/>
                    <a:p>
                      <a:pPr lvl="0" rtl="0" fontAlgn="base"/>
                      <a:r>
                        <a:rPr lang="en-US" sz="1800" dirty="0">
                          <a:effectLst/>
                        </a:rPr>
                        <a:t>cat &gt; [</a:t>
                      </a:r>
                      <a:r>
                        <a:rPr lang="en-US" sz="1800" dirty="0" err="1">
                          <a:effectLst/>
                        </a:rPr>
                        <a:t>fileName</a:t>
                      </a:r>
                      <a:r>
                        <a:rPr lang="en-US" sz="1800" dirty="0">
                          <a:effectLst/>
                        </a:rPr>
                        <a:t>]</a:t>
                      </a:r>
                      <a:endParaRPr lang="en-US" dirty="0">
                        <a:effectLst/>
                      </a:endParaRPr>
                    </a:p>
                  </a:txBody>
                  <a:tcPr anchor="ctr"/>
                </a:tc>
                <a:tc>
                  <a:txBody>
                    <a:bodyPr/>
                    <a:lstStyle/>
                    <a:p>
                      <a:pPr lvl="0" rtl="0" fontAlgn="base"/>
                      <a:r>
                        <a:rPr lang="en-US" sz="1800" dirty="0">
                          <a:effectLst/>
                        </a:rPr>
                        <a:t>To create a file.</a:t>
                      </a:r>
                      <a:endParaRPr lang="en-US" dirty="0">
                        <a:effectLst/>
                      </a:endParaRPr>
                    </a:p>
                  </a:txBody>
                  <a:tcPr anchor="ctr"/>
                </a:tc>
                <a:extLst>
                  <a:ext uri="{0D108BD9-81ED-4DB2-BD59-A6C34878D82A}">
                    <a16:rowId xmlns:a16="http://schemas.microsoft.com/office/drawing/2014/main" val="3729739285"/>
                  </a:ext>
                </a:extLst>
              </a:tr>
              <a:tr h="576203">
                <a:tc>
                  <a:txBody>
                    <a:bodyPr/>
                    <a:lstStyle/>
                    <a:p>
                      <a:pPr lvl="0" rtl="0" fontAlgn="base"/>
                      <a:r>
                        <a:rPr lang="en-US" sz="1800" dirty="0">
                          <a:effectLst/>
                        </a:rPr>
                        <a:t>cat [</a:t>
                      </a:r>
                      <a:r>
                        <a:rPr lang="en-US" sz="1800" dirty="0" err="1">
                          <a:effectLst/>
                        </a:rPr>
                        <a:t>oldFile</a:t>
                      </a:r>
                      <a:r>
                        <a:rPr lang="en-US" sz="1800" dirty="0">
                          <a:effectLst/>
                        </a:rPr>
                        <a:t>] &gt; [</a:t>
                      </a:r>
                      <a:r>
                        <a:rPr lang="en-US" sz="1800" dirty="0" err="1">
                          <a:effectLst/>
                        </a:rPr>
                        <a:t>newFile</a:t>
                      </a:r>
                      <a:r>
                        <a:rPr lang="en-US" sz="1800" dirty="0">
                          <a:effectLst/>
                        </a:rPr>
                        <a:t>]</a:t>
                      </a:r>
                    </a:p>
                  </a:txBody>
                  <a:tcPr anchor="ctr"/>
                </a:tc>
                <a:tc>
                  <a:txBody>
                    <a:bodyPr/>
                    <a:lstStyle/>
                    <a:p>
                      <a:pPr lvl="0" rtl="0" fontAlgn="base"/>
                      <a:r>
                        <a:rPr lang="en-US" sz="1800" dirty="0">
                          <a:effectLst/>
                        </a:rPr>
                        <a:t>To copy contents from older to newer file.</a:t>
                      </a:r>
                    </a:p>
                  </a:txBody>
                  <a:tcPr anchor="ctr"/>
                </a:tc>
                <a:extLst>
                  <a:ext uri="{0D108BD9-81ED-4DB2-BD59-A6C34878D82A}">
                    <a16:rowId xmlns:a16="http://schemas.microsoft.com/office/drawing/2014/main" val="3454186262"/>
                  </a:ext>
                </a:extLst>
              </a:tr>
              <a:tr h="576203">
                <a:tc>
                  <a:txBody>
                    <a:bodyPr/>
                    <a:lstStyle/>
                    <a:p>
                      <a:pPr lvl="0" rtl="0" fontAlgn="base"/>
                      <a:r>
                        <a:rPr lang="en-US" sz="1800" dirty="0">
                          <a:effectLst/>
                        </a:rPr>
                        <a:t>cat [file1 file2 and so on] &gt; [</a:t>
                      </a:r>
                      <a:r>
                        <a:rPr lang="en-US" sz="1800" dirty="0" err="1">
                          <a:effectLst/>
                        </a:rPr>
                        <a:t>newFile</a:t>
                      </a:r>
                      <a:r>
                        <a:rPr lang="en-US" sz="1800" dirty="0">
                          <a:effectLst/>
                        </a:rPr>
                        <a:t>]</a:t>
                      </a:r>
                    </a:p>
                  </a:txBody>
                  <a:tcPr anchor="ctr"/>
                </a:tc>
                <a:tc>
                  <a:txBody>
                    <a:bodyPr/>
                    <a:lstStyle/>
                    <a:p>
                      <a:pPr lvl="0" algn="l">
                        <a:lnSpc>
                          <a:spcPct val="100000"/>
                        </a:lnSpc>
                        <a:spcBef>
                          <a:spcPts val="0"/>
                        </a:spcBef>
                        <a:spcAft>
                          <a:spcPts val="0"/>
                        </a:spcAft>
                        <a:buNone/>
                      </a:pPr>
                      <a:r>
                        <a:rPr lang="en-US" sz="1800" dirty="0">
                          <a:effectLst/>
                        </a:rPr>
                        <a:t>To concatenate of multiple files into one file</a:t>
                      </a:r>
                    </a:p>
                  </a:txBody>
                  <a:tcPr anchor="ctr"/>
                </a:tc>
                <a:extLst>
                  <a:ext uri="{0D108BD9-81ED-4DB2-BD59-A6C34878D82A}">
                    <a16:rowId xmlns:a16="http://schemas.microsoft.com/office/drawing/2014/main" val="2602110764"/>
                  </a:ext>
                </a:extLst>
              </a:tr>
              <a:tr h="576203">
                <a:tc>
                  <a:txBody>
                    <a:bodyPr/>
                    <a:lstStyle/>
                    <a:p>
                      <a:pPr lvl="0" rtl="0" fontAlgn="base"/>
                      <a:r>
                        <a:rPr lang="en-US" sz="1800" dirty="0">
                          <a:effectLst/>
                        </a:rPr>
                        <a:t>cat –n/cat -b [</a:t>
                      </a:r>
                      <a:r>
                        <a:rPr lang="en-US" sz="1800" dirty="0" err="1">
                          <a:effectLst/>
                        </a:rPr>
                        <a:t>fileName</a:t>
                      </a:r>
                      <a:r>
                        <a:rPr lang="en-US" sz="1800" dirty="0">
                          <a:effectLst/>
                        </a:rPr>
                        <a:t>]</a:t>
                      </a:r>
                    </a:p>
                  </a:txBody>
                  <a:tcPr anchor="ctr"/>
                </a:tc>
                <a:tc>
                  <a:txBody>
                    <a:bodyPr/>
                    <a:lstStyle/>
                    <a:p>
                      <a:pPr lvl="0">
                        <a:buNone/>
                      </a:pPr>
                      <a:r>
                        <a:rPr lang="en-US" sz="1800" dirty="0">
                          <a:effectLst/>
                        </a:rPr>
                        <a:t>To display line numbers.</a:t>
                      </a:r>
                      <a:endParaRPr lang="en-US" dirty="0"/>
                    </a:p>
                  </a:txBody>
                  <a:tcPr anchor="ctr"/>
                </a:tc>
                <a:extLst>
                  <a:ext uri="{0D108BD9-81ED-4DB2-BD59-A6C34878D82A}">
                    <a16:rowId xmlns:a16="http://schemas.microsoft.com/office/drawing/2014/main" val="3682583543"/>
                  </a:ext>
                </a:extLst>
              </a:tr>
              <a:tr h="576202">
                <a:tc>
                  <a:txBody>
                    <a:bodyPr/>
                    <a:lstStyle/>
                    <a:p>
                      <a:pPr lvl="0">
                        <a:buNone/>
                      </a:pPr>
                      <a:r>
                        <a:rPr lang="en-US" sz="1800" dirty="0">
                          <a:effectLst/>
                        </a:rPr>
                        <a:t>cat -e [</a:t>
                      </a:r>
                      <a:r>
                        <a:rPr lang="en-US" sz="1800" dirty="0" err="1">
                          <a:effectLst/>
                        </a:rPr>
                        <a:t>fileN</a:t>
                      </a:r>
                      <a:r>
                        <a:rPr lang="en-US" sz="1800" noProof="1">
                          <a:effectLst/>
                        </a:rPr>
                        <a:t>ame ]</a:t>
                      </a:r>
                    </a:p>
                  </a:txBody>
                  <a:tcPr anchor="ctr"/>
                </a:tc>
                <a:tc>
                  <a:txBody>
                    <a:bodyPr/>
                    <a:lstStyle/>
                    <a:p>
                      <a:pPr lvl="0">
                        <a:buNone/>
                      </a:pPr>
                      <a:r>
                        <a:rPr lang="en-US" sz="1800" dirty="0">
                          <a:effectLst/>
                        </a:rPr>
                        <a:t>To display $ character at the end of each line.</a:t>
                      </a:r>
                    </a:p>
                  </a:txBody>
                  <a:tcPr anchor="ctr"/>
                </a:tc>
                <a:extLst>
                  <a:ext uri="{0D108BD9-81ED-4DB2-BD59-A6C34878D82A}">
                    <a16:rowId xmlns:a16="http://schemas.microsoft.com/office/drawing/2014/main" val="2419626821"/>
                  </a:ext>
                </a:extLst>
              </a:tr>
              <a:tr h="576202">
                <a:tc>
                  <a:txBody>
                    <a:bodyPr/>
                    <a:lstStyle/>
                    <a:p>
                      <a:pPr lvl="0">
                        <a:buNone/>
                      </a:pPr>
                      <a:r>
                        <a:rPr lang="en-US" sz="1800" noProof="1">
                          <a:effectLst/>
                        </a:rPr>
                        <a:t>echo "Appended Text" &gt;&gt; [fileName]</a:t>
                      </a:r>
                    </a:p>
                  </a:txBody>
                  <a:tcPr anchor="ctr"/>
                </a:tc>
                <a:tc>
                  <a:txBody>
                    <a:bodyPr/>
                    <a:lstStyle/>
                    <a:p>
                      <a:pPr lvl="0">
                        <a:buNone/>
                      </a:pPr>
                      <a:r>
                        <a:rPr lang="en-US" sz="1800" dirty="0">
                          <a:effectLst/>
                        </a:rPr>
                        <a:t>Append a content into the file.</a:t>
                      </a:r>
                    </a:p>
                  </a:txBody>
                  <a:tcPr anchor="ctr"/>
                </a:tc>
                <a:extLst>
                  <a:ext uri="{0D108BD9-81ED-4DB2-BD59-A6C34878D82A}">
                    <a16:rowId xmlns:a16="http://schemas.microsoft.com/office/drawing/2014/main" val="1446845498"/>
                  </a:ext>
                </a:extLst>
              </a:tr>
            </a:tbl>
          </a:graphicData>
        </a:graphic>
      </p:graphicFrame>
    </p:spTree>
    <p:extLst>
      <p:ext uri="{BB962C8B-B14F-4D97-AF65-F5344CB8AC3E}">
        <p14:creationId xmlns:p14="http://schemas.microsoft.com/office/powerpoint/2010/main" val="1643958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Pipelining</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361781"/>
            <a:ext cx="1082040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Pipelining</a:t>
            </a:r>
            <a:endParaRPr lang="en-US"/>
          </a:p>
          <a:p>
            <a:endParaRPr lang="en-US" sz="2000" b="1" noProof="1">
              <a:latin typeface="Constantia"/>
              <a:cs typeface="Arial"/>
            </a:endParaRPr>
          </a:p>
          <a:p>
            <a:pPr marL="342900" indent="-342900">
              <a:buFont typeface="Arial"/>
              <a:buChar char="•"/>
            </a:pPr>
            <a:r>
              <a:rPr lang="en-US" sz="2000" noProof="1">
                <a:latin typeface="Constantia"/>
                <a:cs typeface="Arial"/>
              </a:rPr>
              <a:t>By using pipe you can connect two commands together so the output from one program becomes the input of the next program.</a:t>
            </a:r>
          </a:p>
          <a:p>
            <a:pPr marL="342900" indent="-342900">
              <a:buFont typeface="Arial"/>
              <a:buChar char="•"/>
            </a:pPr>
            <a:r>
              <a:rPr lang="en-US" sz="2000" noProof="1">
                <a:latin typeface="Constantia"/>
                <a:cs typeface="Arial"/>
              </a:rPr>
              <a:t>Two or more commands connected in this way form a pipe.</a:t>
            </a:r>
          </a:p>
          <a:p>
            <a:pPr marL="342900" indent="-342900">
              <a:buFont typeface="Arial"/>
              <a:buChar char="•"/>
            </a:pPr>
            <a:r>
              <a:rPr lang="en-US" sz="2000" noProof="1">
                <a:latin typeface="Constantia"/>
                <a:cs typeface="Arial"/>
              </a:rPr>
              <a:t>In shell the symbol </a:t>
            </a:r>
            <a:r>
              <a:rPr lang="en-US" sz="2000" b="1" noProof="1">
                <a:latin typeface="Constantia"/>
                <a:cs typeface="Arial"/>
              </a:rPr>
              <a:t>"|" </a:t>
            </a:r>
            <a:r>
              <a:rPr lang="en-US" sz="2000" noProof="1">
                <a:latin typeface="Constantia"/>
                <a:cs typeface="Arial"/>
              </a:rPr>
              <a:t>is used to represent the pipe.</a:t>
            </a:r>
          </a:p>
        </p:txBody>
      </p:sp>
      <p:pic>
        <p:nvPicPr>
          <p:cNvPr id="3" name="Picture 2" descr="A black arrow pointing to a black rectangle with a black arrow&#10;&#10;Description automatically generated">
            <a:extLst>
              <a:ext uri="{FF2B5EF4-FFF2-40B4-BE49-F238E27FC236}">
                <a16:creationId xmlns:a16="http://schemas.microsoft.com/office/drawing/2014/main" id="{8C46F6F0-B07D-7B69-AA46-6683ADD7BB90}"/>
              </a:ext>
            </a:extLst>
          </p:cNvPr>
          <p:cNvPicPr>
            <a:picLocks noChangeAspect="1"/>
          </p:cNvPicPr>
          <p:nvPr/>
        </p:nvPicPr>
        <p:blipFill>
          <a:blip r:embed="rId2"/>
          <a:stretch>
            <a:fillRect/>
          </a:stretch>
        </p:blipFill>
        <p:spPr>
          <a:xfrm>
            <a:off x="1033463" y="3914739"/>
            <a:ext cx="8601074" cy="1481207"/>
          </a:xfrm>
          <a:prstGeom prst="rect">
            <a:avLst/>
          </a:prstGeom>
        </p:spPr>
      </p:pic>
    </p:spTree>
    <p:extLst>
      <p:ext uri="{BB962C8B-B14F-4D97-AF65-F5344CB8AC3E}">
        <p14:creationId xmlns:p14="http://schemas.microsoft.com/office/powerpoint/2010/main" val="660155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AWK Filter</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905727"/>
            <a:ext cx="10820400"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b="1" noProof="1">
                <a:latin typeface="Constantia"/>
                <a:cs typeface="Arial"/>
              </a:rPr>
              <a:t>AWK </a:t>
            </a:r>
            <a:r>
              <a:rPr lang="en-US" sz="2000" noProof="1">
                <a:latin typeface="Constantia"/>
                <a:cs typeface="Arial"/>
              </a:rPr>
              <a:t>is a scripting language which is used for processing or analyzing text files. Or we can say that awk is used for grouping of data based on either column or field, or on a set of columns.</a:t>
            </a:r>
            <a:endParaRPr lang="en-US" sz="2000" b="1" noProof="1">
              <a:latin typeface="Constantia"/>
              <a:cs typeface="Arial"/>
            </a:endParaRPr>
          </a:p>
          <a:p>
            <a:pPr marL="342900" indent="-342900">
              <a:buFont typeface="Arial"/>
              <a:buChar char="•"/>
            </a:pPr>
            <a:endParaRPr lang="en-US" sz="2000" noProof="1">
              <a:latin typeface="Constantia"/>
              <a:cs typeface="Arial"/>
            </a:endParaRPr>
          </a:p>
          <a:p>
            <a:pPr marL="342900" indent="-342900">
              <a:buFont typeface="Arial"/>
              <a:buChar char="•"/>
            </a:pPr>
            <a:r>
              <a:rPr lang="en-US" sz="2000" noProof="1">
                <a:latin typeface="Constantia"/>
                <a:cs typeface="Arial"/>
              </a:rPr>
              <a:t>It mainly used for reporting data in meaningful manner.</a:t>
            </a:r>
          </a:p>
          <a:p>
            <a:pPr marL="342900" indent="-342900">
              <a:buFont typeface="Arial"/>
              <a:buChar char="•"/>
            </a:pPr>
            <a:endParaRPr lang="en-US" sz="2000" noProof="1">
              <a:latin typeface="Constantia"/>
              <a:cs typeface="Arial"/>
            </a:endParaRPr>
          </a:p>
          <a:p>
            <a:pPr marL="342900" indent="-342900">
              <a:buFont typeface="Arial"/>
              <a:buChar char="•"/>
            </a:pPr>
            <a:r>
              <a:rPr lang="en-US" sz="2000" noProof="1">
                <a:latin typeface="Constantia"/>
                <a:cs typeface="Arial"/>
              </a:rPr>
              <a:t>It also employs </a:t>
            </a:r>
            <a:r>
              <a:rPr lang="en-US" sz="2000" b="1" noProof="1">
                <a:latin typeface="Constantia"/>
                <a:cs typeface="Arial"/>
              </a:rPr>
              <a:t>begin and end </a:t>
            </a:r>
            <a:r>
              <a:rPr lang="en-US" sz="2000" noProof="1">
                <a:latin typeface="Constantia"/>
                <a:cs typeface="Arial"/>
              </a:rPr>
              <a:t>blocks to process the data. It searches one or more files to see if they contain lines that match specified pattern and then perform associated actions.</a:t>
            </a:r>
          </a:p>
          <a:p>
            <a:pPr marL="342900" indent="-342900">
              <a:buFont typeface="Arial"/>
              <a:buChar char="•"/>
            </a:pPr>
            <a:endParaRPr lang="en-US" sz="2000" noProof="1">
              <a:latin typeface="Constantia"/>
              <a:cs typeface="Arial"/>
            </a:endParaRPr>
          </a:p>
          <a:p>
            <a:pPr marL="342900" indent="-342900">
              <a:buFont typeface="Arial"/>
              <a:buChar char="•"/>
            </a:pPr>
            <a:r>
              <a:rPr lang="en-US" sz="2000" b="1" noProof="1">
                <a:latin typeface="Constantia"/>
                <a:cs typeface="Arial"/>
              </a:rPr>
              <a:t>AWK </a:t>
            </a:r>
            <a:r>
              <a:rPr lang="en-US" sz="2000" noProof="1">
                <a:latin typeface="Constantia"/>
                <a:cs typeface="Arial"/>
              </a:rPr>
              <a:t>is an advance filter tool.</a:t>
            </a:r>
          </a:p>
          <a:p>
            <a:pPr marL="342900" indent="-342900">
              <a:buFont typeface="Arial"/>
              <a:buChar char="•"/>
            </a:pPr>
            <a:endParaRPr lang="en-US" sz="2000" noProof="1">
              <a:latin typeface="Constantia"/>
              <a:cs typeface="Arial"/>
            </a:endParaRPr>
          </a:p>
          <a:p>
            <a:r>
              <a:rPr lang="en-US" sz="2000" b="1" noProof="1">
                <a:latin typeface="Constantia"/>
                <a:cs typeface="Arial"/>
              </a:rPr>
              <a:t>SYNTAX: awk 'pattern {action}' input_file.txt</a:t>
            </a:r>
            <a:endParaRPr lang="en-US" sz="2000" noProof="1">
              <a:latin typeface="Constantia"/>
              <a:cs typeface="Arial"/>
            </a:endParaRPr>
          </a:p>
        </p:txBody>
      </p:sp>
    </p:spTree>
    <p:extLst>
      <p:ext uri="{BB962C8B-B14F-4D97-AF65-F5344CB8AC3E}">
        <p14:creationId xmlns:p14="http://schemas.microsoft.com/office/powerpoint/2010/main" val="944603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AWK Filter</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536633"/>
            <a:ext cx="10820400"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FEATURES OF AWK PROGRAMMING</a:t>
            </a:r>
          </a:p>
          <a:p>
            <a:pPr marL="457200" indent="-457200">
              <a:buAutoNum type="arabicPeriod"/>
            </a:pPr>
            <a:r>
              <a:rPr lang="en-US" sz="2000" noProof="1">
                <a:latin typeface="Constantia"/>
                <a:cs typeface="Arial"/>
              </a:rPr>
              <a:t>Built-in Variables </a:t>
            </a:r>
          </a:p>
          <a:p>
            <a:pPr marL="457200" indent="-457200">
              <a:buAutoNum type="arabicPeriod"/>
            </a:pPr>
            <a:r>
              <a:rPr lang="en-US" sz="2000" noProof="1">
                <a:latin typeface="Constantia"/>
                <a:cs typeface="Arial"/>
              </a:rPr>
              <a:t>Arthemetic and String Functions</a:t>
            </a:r>
          </a:p>
          <a:p>
            <a:pPr marL="457200" indent="-457200">
              <a:buAutoNum type="arabicPeriod"/>
            </a:pPr>
            <a:r>
              <a:rPr lang="en-US" sz="2000" noProof="1">
                <a:latin typeface="Constantia"/>
                <a:cs typeface="Arial"/>
              </a:rPr>
              <a:t>Regular Expressions</a:t>
            </a:r>
          </a:p>
          <a:p>
            <a:pPr marL="457200" indent="-457200">
              <a:buAutoNum type="arabicPeriod"/>
            </a:pPr>
            <a:r>
              <a:rPr lang="en-US" sz="2000" noProof="1">
                <a:latin typeface="Constantia"/>
                <a:cs typeface="Arial"/>
              </a:rPr>
              <a:t>User-Defined Functions</a:t>
            </a:r>
          </a:p>
          <a:p>
            <a:pPr marL="457200" indent="-457200">
              <a:buAutoNum type="arabicPeriod"/>
            </a:pPr>
            <a:r>
              <a:rPr lang="en-US" sz="2000" noProof="1">
                <a:latin typeface="Constantia"/>
                <a:cs typeface="Arial"/>
              </a:rPr>
              <a:t>Control Flow (if, else, while and for)</a:t>
            </a:r>
          </a:p>
          <a:p>
            <a:pPr marL="457200" indent="-457200">
              <a:buAutoNum type="arabicPeriod"/>
            </a:pPr>
            <a:r>
              <a:rPr lang="en-US" sz="2000" noProof="1">
                <a:latin typeface="Constantia"/>
                <a:cs typeface="Arial"/>
              </a:rPr>
              <a:t>Formatted Output (print)</a:t>
            </a:r>
          </a:p>
          <a:p>
            <a:pPr marL="457200" indent="-457200">
              <a:buAutoNum type="arabicPeriod"/>
            </a:pPr>
            <a:r>
              <a:rPr lang="en-US" sz="2000" noProof="1">
                <a:latin typeface="Constantia"/>
                <a:cs typeface="Arial"/>
              </a:rPr>
              <a:t>Arrays</a:t>
            </a:r>
          </a:p>
          <a:p>
            <a:pPr marL="457200" indent="-457200">
              <a:buAutoNum type="arabicPeriod"/>
            </a:pPr>
            <a:r>
              <a:rPr lang="en-US" sz="2000" noProof="1">
                <a:latin typeface="Constantia"/>
                <a:cs typeface="Arial"/>
              </a:rPr>
              <a:t>File Handling</a:t>
            </a:r>
          </a:p>
          <a:p>
            <a:pPr marL="457200" indent="-457200">
              <a:buAutoNum type="arabicPeriod"/>
            </a:pPr>
            <a:r>
              <a:rPr lang="en-US" sz="2000" noProof="1">
                <a:latin typeface="Constantia"/>
                <a:cs typeface="Arial"/>
              </a:rPr>
              <a:t>BEGIN and END Blocks</a:t>
            </a:r>
          </a:p>
          <a:p>
            <a:pPr marL="457200" indent="-457200">
              <a:buAutoNum type="arabicPeriod"/>
            </a:pPr>
            <a:r>
              <a:rPr lang="en-US" sz="2000" noProof="1">
                <a:latin typeface="Constantia"/>
                <a:cs typeface="Arial"/>
              </a:rPr>
              <a:t>Built-in Functions</a:t>
            </a:r>
          </a:p>
          <a:p>
            <a:pPr marL="457200" indent="-457200">
              <a:buAutoNum type="arabicPeriod"/>
            </a:pPr>
            <a:r>
              <a:rPr lang="en-US" sz="2000" noProof="1">
                <a:latin typeface="Constantia"/>
                <a:cs typeface="Arial"/>
              </a:rPr>
              <a:t>Command line Integration</a:t>
            </a:r>
          </a:p>
          <a:p>
            <a:pPr marL="457200" indent="-457200">
              <a:buAutoNum type="arabicPeriod"/>
            </a:pPr>
            <a:r>
              <a:rPr lang="en-US" sz="2000" noProof="1">
                <a:latin typeface="Constantia"/>
                <a:cs typeface="Arial"/>
              </a:rPr>
              <a:t>Portability</a:t>
            </a:r>
          </a:p>
          <a:p>
            <a:pPr marL="457200" indent="-457200">
              <a:buAutoNum type="arabicPeriod"/>
            </a:pPr>
            <a:r>
              <a:rPr lang="en-US" sz="2000" noProof="1">
                <a:latin typeface="Constantia"/>
                <a:cs typeface="Arial"/>
              </a:rPr>
              <a:t>Regular Maintenance</a:t>
            </a:r>
          </a:p>
        </p:txBody>
      </p:sp>
    </p:spTree>
    <p:extLst>
      <p:ext uri="{BB962C8B-B14F-4D97-AF65-F5344CB8AC3E}">
        <p14:creationId xmlns:p14="http://schemas.microsoft.com/office/powerpoint/2010/main" val="38656500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AWK Filter</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334227"/>
            <a:ext cx="10820400"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Initialization and Final Action</a:t>
            </a:r>
          </a:p>
          <a:p>
            <a:endParaRPr lang="en-US" sz="2000" b="1" noProof="1">
              <a:latin typeface="Constantia"/>
              <a:cs typeface="Arial"/>
            </a:endParaRPr>
          </a:p>
          <a:p>
            <a:pPr marL="342900" indent="-342900">
              <a:buFont typeface="Arial"/>
              <a:buChar char="•"/>
            </a:pPr>
            <a:r>
              <a:rPr lang="en-US" sz="2000" b="1" noProof="1">
                <a:latin typeface="Constantia"/>
                <a:cs typeface="Arial"/>
              </a:rPr>
              <a:t>Begin and End </a:t>
            </a:r>
            <a:r>
              <a:rPr lang="en-US" sz="2000" noProof="1">
                <a:latin typeface="Constantia"/>
                <a:cs typeface="Arial"/>
              </a:rPr>
              <a:t>statements are help ful in displaying information before and after execution actual AWK script.</a:t>
            </a:r>
          </a:p>
          <a:p>
            <a:endParaRPr lang="en-US" sz="2000" noProof="1">
              <a:latin typeface="Constantia"/>
              <a:cs typeface="Arial"/>
            </a:endParaRPr>
          </a:p>
          <a:p>
            <a:r>
              <a:rPr lang="en-US" sz="2000" b="1" noProof="1">
                <a:latin typeface="Constantia"/>
                <a:cs typeface="Arial"/>
              </a:rPr>
              <a:t>BEGIN</a:t>
            </a:r>
            <a:endParaRPr lang="en-US" sz="2000" noProof="1">
              <a:latin typeface="Constantia"/>
              <a:cs typeface="Arial"/>
            </a:endParaRPr>
          </a:p>
          <a:p>
            <a:pPr marL="342900" indent="-342900">
              <a:buFont typeface="Arial"/>
              <a:buChar char="•"/>
            </a:pPr>
            <a:r>
              <a:rPr lang="en-US" sz="2000" b="1" noProof="1">
                <a:latin typeface="Constantia"/>
                <a:cs typeface="Arial"/>
              </a:rPr>
              <a:t>Begin </a:t>
            </a:r>
            <a:r>
              <a:rPr lang="en-US" sz="2000" noProof="1">
                <a:latin typeface="Constantia"/>
                <a:cs typeface="Arial"/>
              </a:rPr>
              <a:t>block is evaluated before awk starts processing the actual awk script; It's an excellent place to initialize the FS (field-seperator) variable, print a heading, or initialize other global variables.</a:t>
            </a:r>
          </a:p>
          <a:p>
            <a:pPr marL="342900" indent="-342900">
              <a:buFont typeface="Arial"/>
              <a:buChar char="•"/>
            </a:pPr>
            <a:endParaRPr lang="en-US" sz="2000" noProof="1">
              <a:latin typeface="Constantia"/>
              <a:cs typeface="Arial"/>
            </a:endParaRPr>
          </a:p>
          <a:p>
            <a:r>
              <a:rPr lang="en-US" sz="2000" b="1" noProof="1">
                <a:latin typeface="Constantia"/>
                <a:cs typeface="Arial"/>
              </a:rPr>
              <a:t>BEGIN BLOCK USES</a:t>
            </a:r>
          </a:p>
          <a:p>
            <a:pPr marL="457200" indent="-457200">
              <a:buAutoNum type="arabicPeriod"/>
            </a:pPr>
            <a:r>
              <a:rPr lang="en-US" sz="2000" noProof="1">
                <a:latin typeface="Constantia"/>
                <a:cs typeface="Arial"/>
              </a:rPr>
              <a:t>Declaring variables.</a:t>
            </a:r>
          </a:p>
          <a:p>
            <a:pPr marL="457200" indent="-457200">
              <a:buAutoNum type="arabicPeriod"/>
            </a:pPr>
            <a:r>
              <a:rPr lang="en-US" sz="2000" noProof="1">
                <a:latin typeface="Constantia"/>
                <a:cs typeface="Arial"/>
              </a:rPr>
              <a:t>Initializing variables for doing increment/decrement operations.</a:t>
            </a:r>
          </a:p>
          <a:p>
            <a:pPr marL="457200" indent="-457200">
              <a:buAutoNum type="arabicPeriod"/>
            </a:pPr>
            <a:r>
              <a:rPr lang="en-US" sz="2000" noProof="1">
                <a:latin typeface="Constantia"/>
                <a:cs typeface="Arial"/>
              </a:rPr>
              <a:t>Printing Heading/info before actual AWK code output.</a:t>
            </a:r>
          </a:p>
        </p:txBody>
      </p:sp>
    </p:spTree>
    <p:extLst>
      <p:ext uri="{BB962C8B-B14F-4D97-AF65-F5344CB8AC3E}">
        <p14:creationId xmlns:p14="http://schemas.microsoft.com/office/powerpoint/2010/main" val="624415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AWK Filter</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744040" y="2239102"/>
            <a:ext cx="10820400"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END</a:t>
            </a:r>
            <a:endParaRPr lang="en-US" sz="2000" noProof="1">
              <a:latin typeface="Constantia"/>
              <a:cs typeface="Arial"/>
            </a:endParaRPr>
          </a:p>
          <a:p>
            <a:pPr marL="342900" indent="-342900">
              <a:buFont typeface="Arial"/>
              <a:buChar char="•"/>
            </a:pPr>
            <a:r>
              <a:rPr lang="en-US" sz="2000" b="1" noProof="1">
                <a:latin typeface="Constantia"/>
                <a:cs typeface="Arial"/>
              </a:rPr>
              <a:t>End </a:t>
            </a:r>
            <a:r>
              <a:rPr lang="en-US" sz="2000" noProof="1">
                <a:latin typeface="Constantia"/>
                <a:cs typeface="Arial"/>
              </a:rPr>
              <a:t>block is evaluated after all the lines in the awk script have been processed.</a:t>
            </a:r>
          </a:p>
          <a:p>
            <a:pPr marL="342900" indent="-342900">
              <a:buFont typeface="Arial"/>
              <a:buChar char="•"/>
            </a:pPr>
            <a:r>
              <a:rPr lang="en-US" sz="2000" noProof="1">
                <a:latin typeface="Constantia"/>
                <a:cs typeface="Arial"/>
              </a:rPr>
              <a:t>Typically, the END block is used to perform final calculations or print summaries that should be appear at the end of the output stream.</a:t>
            </a:r>
          </a:p>
          <a:p>
            <a:pPr marL="342900" indent="-342900">
              <a:buFont typeface="Arial"/>
              <a:buChar char="•"/>
            </a:pPr>
            <a:endParaRPr lang="en-US" sz="2000" noProof="1">
              <a:latin typeface="Constantia"/>
              <a:cs typeface="Arial"/>
            </a:endParaRPr>
          </a:p>
          <a:p>
            <a:r>
              <a:rPr lang="en-US" sz="2000" b="1" noProof="1">
                <a:latin typeface="Constantia"/>
                <a:cs typeface="Arial"/>
              </a:rPr>
              <a:t>END BLOCK USES</a:t>
            </a:r>
          </a:p>
          <a:p>
            <a:pPr marL="457200" indent="-457200">
              <a:buAutoNum type="arabicPeriod"/>
            </a:pPr>
            <a:r>
              <a:rPr lang="en-US" sz="2000" noProof="1">
                <a:latin typeface="Constantia"/>
                <a:cs typeface="Arial"/>
              </a:rPr>
              <a:t>Printing final results, after doing operations in main AWK block.</a:t>
            </a:r>
          </a:p>
          <a:p>
            <a:pPr marL="457200" indent="-457200">
              <a:buAutoNum type="arabicPeriod"/>
            </a:pPr>
            <a:r>
              <a:rPr lang="en-US" sz="2000" noProof="1">
                <a:latin typeface="Constantia"/>
                <a:cs typeface="Arial"/>
              </a:rPr>
              <a:t>Printing Completion/info after actual AWK code output.</a:t>
            </a:r>
          </a:p>
        </p:txBody>
      </p:sp>
    </p:spTree>
    <p:extLst>
      <p:ext uri="{BB962C8B-B14F-4D97-AF65-F5344CB8AC3E}">
        <p14:creationId xmlns:p14="http://schemas.microsoft.com/office/powerpoint/2010/main" val="24114819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AWK Filter</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477102"/>
            <a:ext cx="1082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BUILT IN Variables</a:t>
            </a:r>
          </a:p>
        </p:txBody>
      </p:sp>
      <p:graphicFrame>
        <p:nvGraphicFramePr>
          <p:cNvPr id="3" name="Table 2">
            <a:extLst>
              <a:ext uri="{FF2B5EF4-FFF2-40B4-BE49-F238E27FC236}">
                <a16:creationId xmlns:a16="http://schemas.microsoft.com/office/drawing/2014/main" id="{040312CD-48A6-FB61-2D3B-7ABCB5455A68}"/>
              </a:ext>
            </a:extLst>
          </p:cNvPr>
          <p:cNvGraphicFramePr>
            <a:graphicFrameLocks noGrp="1"/>
          </p:cNvGraphicFramePr>
          <p:nvPr>
            <p:extLst>
              <p:ext uri="{D42A27DB-BD31-4B8C-83A1-F6EECF244321}">
                <p14:modId xmlns:p14="http://schemas.microsoft.com/office/powerpoint/2010/main" val="301200368"/>
              </p:ext>
            </p:extLst>
          </p:nvPr>
        </p:nvGraphicFramePr>
        <p:xfrm>
          <a:off x="2011680" y="2377345"/>
          <a:ext cx="8168639" cy="2705431"/>
        </p:xfrm>
        <a:graphic>
          <a:graphicData uri="http://schemas.openxmlformats.org/drawingml/2006/table">
            <a:tbl>
              <a:tblPr firstRow="1" bandRow="1">
                <a:tableStyleId>{5C22544A-7EE6-4342-B048-85BDC9FD1C3A}</a:tableStyleId>
              </a:tblPr>
              <a:tblGrid>
                <a:gridCol w="2023467">
                  <a:extLst>
                    <a:ext uri="{9D8B030D-6E8A-4147-A177-3AD203B41FA5}">
                      <a16:colId xmlns:a16="http://schemas.microsoft.com/office/drawing/2014/main" val="4185894464"/>
                    </a:ext>
                  </a:extLst>
                </a:gridCol>
                <a:gridCol w="6145172">
                  <a:extLst>
                    <a:ext uri="{9D8B030D-6E8A-4147-A177-3AD203B41FA5}">
                      <a16:colId xmlns:a16="http://schemas.microsoft.com/office/drawing/2014/main" val="2157428579"/>
                    </a:ext>
                  </a:extLst>
                </a:gridCol>
              </a:tblGrid>
              <a:tr h="370840">
                <a:tc>
                  <a:txBody>
                    <a:bodyPr/>
                    <a:lstStyle/>
                    <a:p>
                      <a:r>
                        <a:rPr lang="en-US" noProof="1"/>
                        <a:t>Variables</a:t>
                      </a:r>
                    </a:p>
                  </a:txBody>
                  <a:tcPr/>
                </a:tc>
                <a:tc>
                  <a:txBody>
                    <a:bodyPr/>
                    <a:lstStyle/>
                    <a:p>
                      <a:r>
                        <a:rPr lang="en-US" noProof="1"/>
                        <a:t>Description</a:t>
                      </a:r>
                    </a:p>
                  </a:txBody>
                  <a:tcPr/>
                </a:tc>
                <a:extLst>
                  <a:ext uri="{0D108BD9-81ED-4DB2-BD59-A6C34878D82A}">
                    <a16:rowId xmlns:a16="http://schemas.microsoft.com/office/drawing/2014/main" val="1036935222"/>
                  </a:ext>
                </a:extLst>
              </a:tr>
              <a:tr h="370840">
                <a:tc>
                  <a:txBody>
                    <a:bodyPr/>
                    <a:lstStyle/>
                    <a:p>
                      <a:r>
                        <a:rPr lang="en-US" noProof="1"/>
                        <a:t>FS</a:t>
                      </a:r>
                    </a:p>
                  </a:txBody>
                  <a:tcPr/>
                </a:tc>
                <a:tc>
                  <a:txBody>
                    <a:bodyPr/>
                    <a:lstStyle/>
                    <a:p>
                      <a:r>
                        <a:rPr lang="en-US" noProof="1"/>
                        <a:t>Input Field Seperator</a:t>
                      </a:r>
                    </a:p>
                  </a:txBody>
                  <a:tcPr/>
                </a:tc>
                <a:extLst>
                  <a:ext uri="{0D108BD9-81ED-4DB2-BD59-A6C34878D82A}">
                    <a16:rowId xmlns:a16="http://schemas.microsoft.com/office/drawing/2014/main" val="3245452164"/>
                  </a:ext>
                </a:extLst>
              </a:tr>
              <a:tr h="480391">
                <a:tc>
                  <a:txBody>
                    <a:bodyPr/>
                    <a:lstStyle/>
                    <a:p>
                      <a:r>
                        <a:rPr lang="en-US" noProof="1"/>
                        <a:t>OFS</a:t>
                      </a:r>
                    </a:p>
                  </a:txBody>
                  <a:tcPr/>
                </a:tc>
                <a:tc>
                  <a:txBody>
                    <a:bodyPr/>
                    <a:lstStyle/>
                    <a:p>
                      <a:r>
                        <a:rPr lang="en-US" noProof="1"/>
                        <a:t>Output Field Seperator</a:t>
                      </a:r>
                    </a:p>
                  </a:txBody>
                  <a:tcPr/>
                </a:tc>
                <a:extLst>
                  <a:ext uri="{0D108BD9-81ED-4DB2-BD59-A6C34878D82A}">
                    <a16:rowId xmlns:a16="http://schemas.microsoft.com/office/drawing/2014/main" val="2587548719"/>
                  </a:ext>
                </a:extLst>
              </a:tr>
              <a:tr h="370840">
                <a:tc>
                  <a:txBody>
                    <a:bodyPr/>
                    <a:lstStyle/>
                    <a:p>
                      <a:r>
                        <a:rPr lang="en-US" noProof="1"/>
                        <a:t>NF</a:t>
                      </a:r>
                    </a:p>
                  </a:txBody>
                  <a:tcPr/>
                </a:tc>
                <a:tc>
                  <a:txBody>
                    <a:bodyPr/>
                    <a:lstStyle/>
                    <a:p>
                      <a:r>
                        <a:rPr lang="en-US" noProof="1"/>
                        <a:t>Specify No.of fields in a line</a:t>
                      </a:r>
                    </a:p>
                  </a:txBody>
                  <a:tcPr/>
                </a:tc>
                <a:extLst>
                  <a:ext uri="{0D108BD9-81ED-4DB2-BD59-A6C34878D82A}">
                    <a16:rowId xmlns:a16="http://schemas.microsoft.com/office/drawing/2014/main" val="2711419063"/>
                  </a:ext>
                </a:extLst>
              </a:tr>
              <a:tr h="370840">
                <a:tc>
                  <a:txBody>
                    <a:bodyPr/>
                    <a:lstStyle/>
                    <a:p>
                      <a:r>
                        <a:rPr lang="en-US" noProof="1"/>
                        <a:t>NR</a:t>
                      </a:r>
                    </a:p>
                  </a:txBody>
                  <a:tcPr/>
                </a:tc>
                <a:tc>
                  <a:txBody>
                    <a:bodyPr/>
                    <a:lstStyle/>
                    <a:p>
                      <a:r>
                        <a:rPr lang="en-US" noProof="1"/>
                        <a:t>Specify No.of Records in a line</a:t>
                      </a:r>
                    </a:p>
                  </a:txBody>
                  <a:tcPr/>
                </a:tc>
                <a:extLst>
                  <a:ext uri="{0D108BD9-81ED-4DB2-BD59-A6C34878D82A}">
                    <a16:rowId xmlns:a16="http://schemas.microsoft.com/office/drawing/2014/main" val="3180521126"/>
                  </a:ext>
                </a:extLst>
              </a:tr>
              <a:tr h="370840">
                <a:tc>
                  <a:txBody>
                    <a:bodyPr/>
                    <a:lstStyle/>
                    <a:p>
                      <a:r>
                        <a:rPr lang="en-US" noProof="1"/>
                        <a:t>RS</a:t>
                      </a:r>
                    </a:p>
                  </a:txBody>
                  <a:tcPr/>
                </a:tc>
                <a:tc>
                  <a:txBody>
                    <a:bodyPr/>
                    <a:lstStyle/>
                    <a:p>
                      <a:r>
                        <a:rPr lang="en-US" noProof="1"/>
                        <a:t>Record Seperator</a:t>
                      </a:r>
                    </a:p>
                  </a:txBody>
                  <a:tcPr/>
                </a:tc>
                <a:extLst>
                  <a:ext uri="{0D108BD9-81ED-4DB2-BD59-A6C34878D82A}">
                    <a16:rowId xmlns:a16="http://schemas.microsoft.com/office/drawing/2014/main" val="4286696287"/>
                  </a:ext>
                </a:extLst>
              </a:tr>
              <a:tr h="370840">
                <a:tc>
                  <a:txBody>
                    <a:bodyPr/>
                    <a:lstStyle/>
                    <a:p>
                      <a:r>
                        <a:rPr lang="en-US" noProof="1"/>
                        <a:t>ORS</a:t>
                      </a:r>
                    </a:p>
                  </a:txBody>
                  <a:tcPr/>
                </a:tc>
                <a:tc>
                  <a:txBody>
                    <a:bodyPr/>
                    <a:lstStyle/>
                    <a:p>
                      <a:r>
                        <a:rPr lang="en-US" noProof="1"/>
                        <a:t>Output Seperator</a:t>
                      </a:r>
                    </a:p>
                  </a:txBody>
                  <a:tcPr/>
                </a:tc>
                <a:extLst>
                  <a:ext uri="{0D108BD9-81ED-4DB2-BD59-A6C34878D82A}">
                    <a16:rowId xmlns:a16="http://schemas.microsoft.com/office/drawing/2014/main" val="1896147574"/>
                  </a:ext>
                </a:extLst>
              </a:tr>
            </a:tbl>
          </a:graphicData>
        </a:graphic>
      </p:graphicFrame>
    </p:spTree>
    <p:extLst>
      <p:ext uri="{BB962C8B-B14F-4D97-AF65-F5344CB8AC3E}">
        <p14:creationId xmlns:p14="http://schemas.microsoft.com/office/powerpoint/2010/main" val="2531331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AWK Filter</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477102"/>
            <a:ext cx="1082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Arthemetic Functions</a:t>
            </a:r>
            <a:endParaRPr lang="en-US"/>
          </a:p>
        </p:txBody>
      </p:sp>
      <p:graphicFrame>
        <p:nvGraphicFramePr>
          <p:cNvPr id="3" name="Table 2">
            <a:extLst>
              <a:ext uri="{FF2B5EF4-FFF2-40B4-BE49-F238E27FC236}">
                <a16:creationId xmlns:a16="http://schemas.microsoft.com/office/drawing/2014/main" id="{040312CD-48A6-FB61-2D3B-7ABCB5455A68}"/>
              </a:ext>
            </a:extLst>
          </p:cNvPr>
          <p:cNvGraphicFramePr>
            <a:graphicFrameLocks noGrp="1"/>
          </p:cNvGraphicFramePr>
          <p:nvPr>
            <p:extLst>
              <p:ext uri="{D42A27DB-BD31-4B8C-83A1-F6EECF244321}">
                <p14:modId xmlns:p14="http://schemas.microsoft.com/office/powerpoint/2010/main" val="1124897082"/>
              </p:ext>
            </p:extLst>
          </p:nvPr>
        </p:nvGraphicFramePr>
        <p:xfrm>
          <a:off x="2011680" y="2377345"/>
          <a:ext cx="8566519" cy="2966719"/>
        </p:xfrm>
        <a:graphic>
          <a:graphicData uri="http://schemas.openxmlformats.org/drawingml/2006/table">
            <a:tbl>
              <a:tblPr firstRow="1" bandRow="1">
                <a:tableStyleId>{5C22544A-7EE6-4342-B048-85BDC9FD1C3A}</a:tableStyleId>
              </a:tblPr>
              <a:tblGrid>
                <a:gridCol w="2183833">
                  <a:extLst>
                    <a:ext uri="{9D8B030D-6E8A-4147-A177-3AD203B41FA5}">
                      <a16:colId xmlns:a16="http://schemas.microsoft.com/office/drawing/2014/main" val="4185894464"/>
                    </a:ext>
                  </a:extLst>
                </a:gridCol>
                <a:gridCol w="6382686">
                  <a:extLst>
                    <a:ext uri="{9D8B030D-6E8A-4147-A177-3AD203B41FA5}">
                      <a16:colId xmlns:a16="http://schemas.microsoft.com/office/drawing/2014/main" val="2157428579"/>
                    </a:ext>
                  </a:extLst>
                </a:gridCol>
              </a:tblGrid>
              <a:tr h="370840">
                <a:tc>
                  <a:txBody>
                    <a:bodyPr/>
                    <a:lstStyle/>
                    <a:p>
                      <a:r>
                        <a:rPr lang="en-US" noProof="1"/>
                        <a:t>Variables</a:t>
                      </a:r>
                    </a:p>
                  </a:txBody>
                  <a:tcPr/>
                </a:tc>
                <a:tc>
                  <a:txBody>
                    <a:bodyPr/>
                    <a:lstStyle/>
                    <a:p>
                      <a:r>
                        <a:rPr lang="en-US" noProof="1"/>
                        <a:t>Description</a:t>
                      </a:r>
                    </a:p>
                  </a:txBody>
                  <a:tcPr/>
                </a:tc>
                <a:extLst>
                  <a:ext uri="{0D108BD9-81ED-4DB2-BD59-A6C34878D82A}">
                    <a16:rowId xmlns:a16="http://schemas.microsoft.com/office/drawing/2014/main" val="1036935222"/>
                  </a:ext>
                </a:extLst>
              </a:tr>
              <a:tr h="370840">
                <a:tc>
                  <a:txBody>
                    <a:bodyPr/>
                    <a:lstStyle/>
                    <a:p>
                      <a:r>
                        <a:rPr lang="en-US" noProof="1"/>
                        <a:t>rand()</a:t>
                      </a:r>
                    </a:p>
                  </a:txBody>
                  <a:tcPr/>
                </a:tc>
                <a:tc>
                  <a:txBody>
                    <a:bodyPr/>
                    <a:lstStyle/>
                    <a:p>
                      <a:pPr lvl="0">
                        <a:buNone/>
                      </a:pPr>
                      <a:r>
                        <a:rPr lang="en-US" sz="1800" b="0" i="0" u="none" strike="noStrike" noProof="1">
                          <a:solidFill>
                            <a:srgbClr val="000000"/>
                          </a:solidFill>
                          <a:latin typeface="Arial"/>
                        </a:rPr>
                        <a:t>This function returns a random number N, between 0 and 1</a:t>
                      </a:r>
                      <a:endParaRPr lang="en-US"/>
                    </a:p>
                  </a:txBody>
                  <a:tcPr/>
                </a:tc>
                <a:extLst>
                  <a:ext uri="{0D108BD9-81ED-4DB2-BD59-A6C34878D82A}">
                    <a16:rowId xmlns:a16="http://schemas.microsoft.com/office/drawing/2014/main" val="3245452164"/>
                  </a:ext>
                </a:extLst>
              </a:tr>
              <a:tr h="370840">
                <a:tc>
                  <a:txBody>
                    <a:bodyPr/>
                    <a:lstStyle/>
                    <a:p>
                      <a:r>
                        <a:rPr lang="en-US" noProof="1"/>
                        <a:t>Exp(x)</a:t>
                      </a:r>
                    </a:p>
                  </a:txBody>
                  <a:tcPr/>
                </a:tc>
                <a:tc>
                  <a:txBody>
                    <a:bodyPr/>
                    <a:lstStyle/>
                    <a:p>
                      <a:r>
                        <a:rPr lang="en-US" noProof="1"/>
                        <a:t>Returns 'e' to the power of x</a:t>
                      </a:r>
                    </a:p>
                  </a:txBody>
                  <a:tcPr/>
                </a:tc>
                <a:extLst>
                  <a:ext uri="{0D108BD9-81ED-4DB2-BD59-A6C34878D82A}">
                    <a16:rowId xmlns:a16="http://schemas.microsoft.com/office/drawing/2014/main" val="2587548719"/>
                  </a:ext>
                </a:extLst>
              </a:tr>
              <a:tr h="370840">
                <a:tc>
                  <a:txBody>
                    <a:bodyPr/>
                    <a:lstStyle/>
                    <a:p>
                      <a:r>
                        <a:rPr lang="en-US" noProof="1"/>
                        <a:t>Index(s1,s2)</a:t>
                      </a:r>
                    </a:p>
                  </a:txBody>
                  <a:tcPr/>
                </a:tc>
                <a:tc>
                  <a:txBody>
                    <a:bodyPr/>
                    <a:lstStyle/>
                    <a:p>
                      <a:r>
                        <a:rPr lang="en-US" noProof="1"/>
                        <a:t>Returns position of string s2 in string s1</a:t>
                      </a:r>
                    </a:p>
                  </a:txBody>
                  <a:tcPr/>
                </a:tc>
                <a:extLst>
                  <a:ext uri="{0D108BD9-81ED-4DB2-BD59-A6C34878D82A}">
                    <a16:rowId xmlns:a16="http://schemas.microsoft.com/office/drawing/2014/main" val="2711419063"/>
                  </a:ext>
                </a:extLst>
              </a:tr>
              <a:tr h="370840">
                <a:tc>
                  <a:txBody>
                    <a:bodyPr/>
                    <a:lstStyle/>
                    <a:p>
                      <a:r>
                        <a:rPr lang="en-US" noProof="1"/>
                        <a:t>Int(x)</a:t>
                      </a:r>
                    </a:p>
                  </a:txBody>
                  <a:tcPr/>
                </a:tc>
                <a:tc>
                  <a:txBody>
                    <a:bodyPr/>
                    <a:lstStyle/>
                    <a:p>
                      <a:r>
                        <a:rPr lang="en-US" noProof="1"/>
                        <a:t>Returns truncated value of x</a:t>
                      </a:r>
                    </a:p>
                  </a:txBody>
                  <a:tcPr/>
                </a:tc>
                <a:extLst>
                  <a:ext uri="{0D108BD9-81ED-4DB2-BD59-A6C34878D82A}">
                    <a16:rowId xmlns:a16="http://schemas.microsoft.com/office/drawing/2014/main" val="3180521126"/>
                  </a:ext>
                </a:extLst>
              </a:tr>
              <a:tr h="370840">
                <a:tc>
                  <a:txBody>
                    <a:bodyPr/>
                    <a:lstStyle/>
                    <a:p>
                      <a:r>
                        <a:rPr lang="en-US" noProof="1"/>
                        <a:t>Log(x)</a:t>
                      </a:r>
                    </a:p>
                  </a:txBody>
                  <a:tcPr/>
                </a:tc>
                <a:tc>
                  <a:txBody>
                    <a:bodyPr/>
                    <a:lstStyle/>
                    <a:p>
                      <a:r>
                        <a:rPr lang="en-US" noProof="1"/>
                        <a:t>Returns Natural logarithm (base 'e') of 'x'</a:t>
                      </a:r>
                    </a:p>
                  </a:txBody>
                  <a:tcPr/>
                </a:tc>
                <a:extLst>
                  <a:ext uri="{0D108BD9-81ED-4DB2-BD59-A6C34878D82A}">
                    <a16:rowId xmlns:a16="http://schemas.microsoft.com/office/drawing/2014/main" val="4286696287"/>
                  </a:ext>
                </a:extLst>
              </a:tr>
              <a:tr h="370840">
                <a:tc>
                  <a:txBody>
                    <a:bodyPr/>
                    <a:lstStyle/>
                    <a:p>
                      <a:r>
                        <a:rPr lang="en-US" noProof="1"/>
                        <a:t>sin(x)</a:t>
                      </a:r>
                    </a:p>
                  </a:txBody>
                  <a:tcPr/>
                </a:tc>
                <a:tc>
                  <a:txBody>
                    <a:bodyPr/>
                    <a:lstStyle/>
                    <a:p>
                      <a:r>
                        <a:rPr lang="en-US" noProof="1"/>
                        <a:t>Returns Sin value of x (x is radius)</a:t>
                      </a:r>
                    </a:p>
                  </a:txBody>
                  <a:tcPr/>
                </a:tc>
                <a:extLst>
                  <a:ext uri="{0D108BD9-81ED-4DB2-BD59-A6C34878D82A}">
                    <a16:rowId xmlns:a16="http://schemas.microsoft.com/office/drawing/2014/main" val="1896147574"/>
                  </a:ext>
                </a:extLst>
              </a:tr>
              <a:tr h="370839">
                <a:tc>
                  <a:txBody>
                    <a:bodyPr/>
                    <a:lstStyle/>
                    <a:p>
                      <a:pPr lvl="0">
                        <a:buNone/>
                      </a:pPr>
                      <a:r>
                        <a:rPr lang="en-US" noProof="1"/>
                        <a:t>Sqrt(x)</a:t>
                      </a:r>
                    </a:p>
                  </a:txBody>
                  <a:tcPr/>
                </a:tc>
                <a:tc>
                  <a:txBody>
                    <a:bodyPr/>
                    <a:lstStyle/>
                    <a:p>
                      <a:pPr lvl="0">
                        <a:buNone/>
                      </a:pPr>
                      <a:r>
                        <a:rPr lang="en-US" noProof="1"/>
                        <a:t>Returns Square root of x</a:t>
                      </a:r>
                    </a:p>
                  </a:txBody>
                  <a:tcPr/>
                </a:tc>
                <a:extLst>
                  <a:ext uri="{0D108BD9-81ED-4DB2-BD59-A6C34878D82A}">
                    <a16:rowId xmlns:a16="http://schemas.microsoft.com/office/drawing/2014/main" val="2729726834"/>
                  </a:ext>
                </a:extLst>
              </a:tr>
            </a:tbl>
          </a:graphicData>
        </a:graphic>
      </p:graphicFrame>
    </p:spTree>
    <p:extLst>
      <p:ext uri="{BB962C8B-B14F-4D97-AF65-F5344CB8AC3E}">
        <p14:creationId xmlns:p14="http://schemas.microsoft.com/office/powerpoint/2010/main" val="25213538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AWK Filter</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477102"/>
            <a:ext cx="1082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String Functions</a:t>
            </a:r>
            <a:endParaRPr lang="en-US"/>
          </a:p>
        </p:txBody>
      </p:sp>
      <p:graphicFrame>
        <p:nvGraphicFramePr>
          <p:cNvPr id="3" name="Table 2">
            <a:extLst>
              <a:ext uri="{FF2B5EF4-FFF2-40B4-BE49-F238E27FC236}">
                <a16:creationId xmlns:a16="http://schemas.microsoft.com/office/drawing/2014/main" id="{040312CD-48A6-FB61-2D3B-7ABCB5455A68}"/>
              </a:ext>
            </a:extLst>
          </p:cNvPr>
          <p:cNvGraphicFramePr>
            <a:graphicFrameLocks noGrp="1"/>
          </p:cNvGraphicFramePr>
          <p:nvPr>
            <p:extLst>
              <p:ext uri="{D42A27DB-BD31-4B8C-83A1-F6EECF244321}">
                <p14:modId xmlns:p14="http://schemas.microsoft.com/office/powerpoint/2010/main" val="3119698464"/>
              </p:ext>
            </p:extLst>
          </p:nvPr>
        </p:nvGraphicFramePr>
        <p:xfrm>
          <a:off x="1162870" y="2087978"/>
          <a:ext cx="9855657" cy="3774440"/>
        </p:xfrm>
        <a:graphic>
          <a:graphicData uri="http://schemas.openxmlformats.org/drawingml/2006/table">
            <a:tbl>
              <a:tblPr firstRow="1" bandRow="1">
                <a:tableStyleId>{5C22544A-7EE6-4342-B048-85BDC9FD1C3A}</a:tableStyleId>
              </a:tblPr>
              <a:tblGrid>
                <a:gridCol w="2512469">
                  <a:extLst>
                    <a:ext uri="{9D8B030D-6E8A-4147-A177-3AD203B41FA5}">
                      <a16:colId xmlns:a16="http://schemas.microsoft.com/office/drawing/2014/main" val="4185894464"/>
                    </a:ext>
                  </a:extLst>
                </a:gridCol>
                <a:gridCol w="7343188">
                  <a:extLst>
                    <a:ext uri="{9D8B030D-6E8A-4147-A177-3AD203B41FA5}">
                      <a16:colId xmlns:a16="http://schemas.microsoft.com/office/drawing/2014/main" val="2157428579"/>
                    </a:ext>
                  </a:extLst>
                </a:gridCol>
              </a:tblGrid>
              <a:tr h="370840">
                <a:tc>
                  <a:txBody>
                    <a:bodyPr/>
                    <a:lstStyle/>
                    <a:p>
                      <a:r>
                        <a:rPr lang="en-US" noProof="1"/>
                        <a:t>Variables</a:t>
                      </a:r>
                    </a:p>
                  </a:txBody>
                  <a:tcPr/>
                </a:tc>
                <a:tc>
                  <a:txBody>
                    <a:bodyPr/>
                    <a:lstStyle/>
                    <a:p>
                      <a:r>
                        <a:rPr lang="en-US" noProof="1"/>
                        <a:t>Description</a:t>
                      </a:r>
                    </a:p>
                  </a:txBody>
                  <a:tcPr/>
                </a:tc>
                <a:extLst>
                  <a:ext uri="{0D108BD9-81ED-4DB2-BD59-A6C34878D82A}">
                    <a16:rowId xmlns:a16="http://schemas.microsoft.com/office/drawing/2014/main" val="1036935222"/>
                  </a:ext>
                </a:extLst>
              </a:tr>
              <a:tr h="370840">
                <a:tc>
                  <a:txBody>
                    <a:bodyPr/>
                    <a:lstStyle/>
                    <a:p>
                      <a:r>
                        <a:rPr lang="en-US" noProof="1"/>
                        <a:t>length(s)</a:t>
                      </a:r>
                    </a:p>
                  </a:txBody>
                  <a:tcPr/>
                </a:tc>
                <a:tc>
                  <a:txBody>
                    <a:bodyPr/>
                    <a:lstStyle/>
                    <a:p>
                      <a:pPr lvl="0">
                        <a:buNone/>
                      </a:pPr>
                      <a:r>
                        <a:rPr lang="en-US" sz="1800" b="0" i="0" u="none" strike="noStrike" noProof="1">
                          <a:solidFill>
                            <a:srgbClr val="000000"/>
                          </a:solidFill>
                          <a:latin typeface="Arial"/>
                        </a:rPr>
                        <a:t>Returns the length of the string</a:t>
                      </a:r>
                      <a:endParaRPr lang="en-US"/>
                    </a:p>
                  </a:txBody>
                  <a:tcPr/>
                </a:tc>
                <a:extLst>
                  <a:ext uri="{0D108BD9-81ED-4DB2-BD59-A6C34878D82A}">
                    <a16:rowId xmlns:a16="http://schemas.microsoft.com/office/drawing/2014/main" val="3245452164"/>
                  </a:ext>
                </a:extLst>
              </a:tr>
              <a:tr h="370840">
                <a:tc>
                  <a:txBody>
                    <a:bodyPr/>
                    <a:lstStyle/>
                    <a:p>
                      <a:r>
                        <a:rPr lang="en-US" noProof="1"/>
                        <a:t>substr(s, m, n)</a:t>
                      </a:r>
                    </a:p>
                  </a:txBody>
                  <a:tcPr/>
                </a:tc>
                <a:tc>
                  <a:txBody>
                    <a:bodyPr/>
                    <a:lstStyle/>
                    <a:p>
                      <a:r>
                        <a:rPr lang="en-US" noProof="1"/>
                        <a:t>Returns a substring of 's' starting at position 'm' with the length of 'n'</a:t>
                      </a:r>
                    </a:p>
                  </a:txBody>
                  <a:tcPr/>
                </a:tc>
                <a:extLst>
                  <a:ext uri="{0D108BD9-81ED-4DB2-BD59-A6C34878D82A}">
                    <a16:rowId xmlns:a16="http://schemas.microsoft.com/office/drawing/2014/main" val="2587548719"/>
                  </a:ext>
                </a:extLst>
              </a:tr>
              <a:tr h="370840">
                <a:tc>
                  <a:txBody>
                    <a:bodyPr/>
                    <a:lstStyle/>
                    <a:p>
                      <a:r>
                        <a:rPr lang="en-US" noProof="1"/>
                        <a:t>index(s, t)</a:t>
                      </a:r>
                    </a:p>
                  </a:txBody>
                  <a:tcPr/>
                </a:tc>
                <a:tc>
                  <a:txBody>
                    <a:bodyPr/>
                    <a:lstStyle/>
                    <a:p>
                      <a:r>
                        <a:rPr lang="en-US" noProof="1"/>
                        <a:t>Returns the position of the first occurrence of string 't' in string 's'.</a:t>
                      </a:r>
                    </a:p>
                  </a:txBody>
                  <a:tcPr/>
                </a:tc>
                <a:extLst>
                  <a:ext uri="{0D108BD9-81ED-4DB2-BD59-A6C34878D82A}">
                    <a16:rowId xmlns:a16="http://schemas.microsoft.com/office/drawing/2014/main" val="2711419063"/>
                  </a:ext>
                </a:extLst>
              </a:tr>
              <a:tr h="370840">
                <a:tc>
                  <a:txBody>
                    <a:bodyPr/>
                    <a:lstStyle/>
                    <a:p>
                      <a:r>
                        <a:rPr lang="en-US" noProof="1"/>
                        <a:t>split(s, a, sep)</a:t>
                      </a:r>
                    </a:p>
                  </a:txBody>
                  <a:tcPr/>
                </a:tc>
                <a:tc>
                  <a:txBody>
                    <a:bodyPr/>
                    <a:lstStyle/>
                    <a:p>
                      <a:pPr lvl="0">
                        <a:buNone/>
                      </a:pPr>
                      <a:r>
                        <a:rPr lang="en-US" noProof="1"/>
                        <a:t>Split string 's' into an array 'a' based on the specified delimiter 'sep'.</a:t>
                      </a:r>
                    </a:p>
                  </a:txBody>
                  <a:tcPr/>
                </a:tc>
                <a:extLst>
                  <a:ext uri="{0D108BD9-81ED-4DB2-BD59-A6C34878D82A}">
                    <a16:rowId xmlns:a16="http://schemas.microsoft.com/office/drawing/2014/main" val="3180521126"/>
                  </a:ext>
                </a:extLst>
              </a:tr>
              <a:tr h="370840">
                <a:tc>
                  <a:txBody>
                    <a:bodyPr/>
                    <a:lstStyle/>
                    <a:p>
                      <a:r>
                        <a:rPr lang="en-US" noProof="1"/>
                        <a:t>gsub(r, s, string)</a:t>
                      </a:r>
                    </a:p>
                  </a:txBody>
                  <a:tcPr/>
                </a:tc>
                <a:tc>
                  <a:txBody>
                    <a:bodyPr/>
                    <a:lstStyle/>
                    <a:p>
                      <a:r>
                        <a:rPr lang="en-US" noProof="1"/>
                        <a:t>It replaces every occurrence of 'r' with the given 's'. The third parameter is optional. If omitted, the $0 is used.</a:t>
                      </a:r>
                    </a:p>
                  </a:txBody>
                  <a:tcPr/>
                </a:tc>
                <a:extLst>
                  <a:ext uri="{0D108BD9-81ED-4DB2-BD59-A6C34878D82A}">
                    <a16:rowId xmlns:a16="http://schemas.microsoft.com/office/drawing/2014/main" val="4286696287"/>
                  </a:ext>
                </a:extLst>
              </a:tr>
              <a:tr h="370840">
                <a:tc>
                  <a:txBody>
                    <a:bodyPr/>
                    <a:lstStyle/>
                    <a:p>
                      <a:r>
                        <a:rPr lang="en-US" noProof="1"/>
                        <a:t>tolower(str)</a:t>
                      </a:r>
                    </a:p>
                  </a:txBody>
                  <a:tcPr/>
                </a:tc>
                <a:tc>
                  <a:txBody>
                    <a:bodyPr/>
                    <a:lstStyle/>
                    <a:p>
                      <a:r>
                        <a:rPr lang="en-US" noProof="1"/>
                        <a:t>This function returns a copy of string 'str' will all upper-case characters converted to lower-case.</a:t>
                      </a:r>
                    </a:p>
                  </a:txBody>
                  <a:tcPr/>
                </a:tc>
                <a:extLst>
                  <a:ext uri="{0D108BD9-81ED-4DB2-BD59-A6C34878D82A}">
                    <a16:rowId xmlns:a16="http://schemas.microsoft.com/office/drawing/2014/main" val="1896147574"/>
                  </a:ext>
                </a:extLst>
              </a:tr>
              <a:tr h="370839">
                <a:tc>
                  <a:txBody>
                    <a:bodyPr/>
                    <a:lstStyle/>
                    <a:p>
                      <a:pPr lvl="0">
                        <a:buNone/>
                      </a:pPr>
                      <a:r>
                        <a:rPr lang="en-US" sz="1800" b="0" i="0" u="none" strike="noStrike" noProof="1">
                          <a:solidFill>
                            <a:srgbClr val="000000"/>
                          </a:solidFill>
                          <a:latin typeface="Arial"/>
                        </a:rPr>
                        <a:t>toupper(str)</a:t>
                      </a:r>
                    </a:p>
                  </a:txBody>
                  <a:tcPr/>
                </a:tc>
                <a:tc>
                  <a:txBody>
                    <a:bodyPr/>
                    <a:lstStyle/>
                    <a:p>
                      <a:pPr lvl="0">
                        <a:buNone/>
                      </a:pPr>
                      <a:r>
                        <a:rPr lang="en-US" sz="1800" b="0" i="0" u="none" strike="noStrike" noProof="1">
                          <a:solidFill>
                            <a:srgbClr val="000000"/>
                          </a:solidFill>
                          <a:latin typeface="Arial"/>
                        </a:rPr>
                        <a:t>This function returns a copy of string 'str' will all lower -case characters converted to upper-case.</a:t>
                      </a:r>
                      <a:endParaRPr lang="en-US" noProof="1"/>
                    </a:p>
                  </a:txBody>
                  <a:tcPr/>
                </a:tc>
                <a:extLst>
                  <a:ext uri="{0D108BD9-81ED-4DB2-BD59-A6C34878D82A}">
                    <a16:rowId xmlns:a16="http://schemas.microsoft.com/office/drawing/2014/main" val="2729726834"/>
                  </a:ext>
                </a:extLst>
              </a:tr>
            </a:tbl>
          </a:graphicData>
        </a:graphic>
      </p:graphicFrame>
    </p:spTree>
    <p:extLst>
      <p:ext uri="{BB962C8B-B14F-4D97-AF65-F5344CB8AC3E}">
        <p14:creationId xmlns:p14="http://schemas.microsoft.com/office/powerpoint/2010/main" val="38592856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AWK Filter</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158798"/>
            <a:ext cx="1082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Regular Expressions</a:t>
            </a:r>
            <a:endParaRPr lang="en-US"/>
          </a:p>
        </p:txBody>
      </p:sp>
      <p:sp>
        <p:nvSpPr>
          <p:cNvPr id="5" name="TextBox 4">
            <a:extLst>
              <a:ext uri="{FF2B5EF4-FFF2-40B4-BE49-F238E27FC236}">
                <a16:creationId xmlns:a16="http://schemas.microsoft.com/office/drawing/2014/main" id="{A1A3664A-2421-FB71-515F-17853FCDF24E}"/>
              </a:ext>
            </a:extLst>
          </p:cNvPr>
          <p:cNvSpPr txBox="1"/>
          <p:nvPr/>
        </p:nvSpPr>
        <p:spPr>
          <a:xfrm>
            <a:off x="449183" y="1716905"/>
            <a:ext cx="11331614"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000" noProof="1">
                <a:latin typeface="Constantia"/>
                <a:cs typeface="Arial"/>
              </a:rPr>
              <a:t>Awk is very powerful and efficient in handling regular expressions. </a:t>
            </a:r>
            <a:endParaRPr lang="en-US" sz="2000" b="1" noProof="1">
              <a:latin typeface="Constantia"/>
              <a:cs typeface="Arial"/>
            </a:endParaRPr>
          </a:p>
          <a:p>
            <a:pPr marL="457200" indent="-457200">
              <a:buFont typeface="Arial"/>
              <a:buChar char="•"/>
            </a:pPr>
            <a:r>
              <a:rPr lang="en-US" sz="2000" noProof="1">
                <a:latin typeface="Constantia"/>
                <a:cs typeface="Arial"/>
              </a:rPr>
              <a:t>A number of complex tasks can be solved with simple regular expressions.</a:t>
            </a:r>
          </a:p>
          <a:p>
            <a:pPr marL="457200" indent="-457200">
              <a:buFont typeface="Arial"/>
              <a:buChar char="•"/>
            </a:pPr>
            <a:endParaRPr lang="en-US" sz="2000" noProof="1">
              <a:latin typeface="Constantia"/>
              <a:cs typeface="Arial"/>
            </a:endParaRPr>
          </a:p>
          <a:p>
            <a:r>
              <a:rPr lang="en-US" sz="2000" b="1" noProof="1">
                <a:latin typeface="Constantia"/>
                <a:cs typeface="Arial"/>
              </a:rPr>
              <a:t>DOT</a:t>
            </a:r>
          </a:p>
          <a:p>
            <a:r>
              <a:rPr lang="en-US" sz="2000" noProof="1">
                <a:latin typeface="Constantia"/>
                <a:cs typeface="Arial"/>
              </a:rPr>
              <a:t>It matches any string starting with specific letter and ending with specific letter.</a:t>
            </a:r>
            <a:endParaRPr lang="en-US" sz="2000" b="1" noProof="1">
              <a:latin typeface="Constantia"/>
              <a:cs typeface="Arial"/>
            </a:endParaRPr>
          </a:p>
          <a:p>
            <a:r>
              <a:rPr lang="en-US" sz="2000" b="1" noProof="1">
                <a:latin typeface="Constantia"/>
                <a:cs typeface="Arial"/>
              </a:rPr>
              <a:t>START OF THE LINE ^</a:t>
            </a:r>
          </a:p>
          <a:p>
            <a:r>
              <a:rPr lang="en-US" sz="2000" noProof="1">
                <a:latin typeface="Constantia"/>
                <a:cs typeface="Arial"/>
              </a:rPr>
              <a:t>It matches the starting character of the line.</a:t>
            </a:r>
          </a:p>
          <a:p>
            <a:r>
              <a:rPr lang="en-US" sz="2000" b="1" noProof="1">
                <a:latin typeface="Constantia"/>
                <a:cs typeface="Arial"/>
              </a:rPr>
              <a:t>END OF THE LINE $</a:t>
            </a:r>
            <a:endParaRPr lang="en-US"/>
          </a:p>
          <a:p>
            <a:r>
              <a:rPr lang="en-US" sz="2000" noProof="1">
                <a:latin typeface="Constantia"/>
                <a:cs typeface="Arial"/>
              </a:rPr>
              <a:t>It matches the ending character of the line.</a:t>
            </a:r>
            <a:endParaRPr lang="en-US"/>
          </a:p>
          <a:p>
            <a:r>
              <a:rPr lang="en-US" sz="2000" b="1" noProof="1">
                <a:latin typeface="Constantia"/>
                <a:cs typeface="Arial"/>
              </a:rPr>
              <a:t>MATCH CHARACTER SET []</a:t>
            </a:r>
            <a:endParaRPr lang="en-US" sz="2000" noProof="1">
              <a:latin typeface="Constantia"/>
              <a:cs typeface="Arial"/>
            </a:endParaRPr>
          </a:p>
          <a:p>
            <a:r>
              <a:rPr lang="en-US" sz="2000" noProof="1">
                <a:latin typeface="Constantia"/>
                <a:cs typeface="Arial"/>
              </a:rPr>
              <a:t>It is used to match only one out of several characters.</a:t>
            </a:r>
          </a:p>
          <a:p>
            <a:r>
              <a:rPr lang="en-US" sz="2000" b="1" noProof="1">
                <a:latin typeface="Constantia"/>
                <a:cs typeface="Arial"/>
              </a:rPr>
              <a:t>EXCLUSIVE SET</a:t>
            </a:r>
            <a:endParaRPr lang="en-US" sz="2000" noProof="1">
              <a:latin typeface="Constantia"/>
              <a:cs typeface="Arial"/>
            </a:endParaRPr>
          </a:p>
          <a:p>
            <a:r>
              <a:rPr lang="en-US" sz="2000" noProof="1">
                <a:latin typeface="Constantia"/>
                <a:cs typeface="Arial"/>
              </a:rPr>
              <a:t>It exclusive set, the carat(^) negates the set of characters in the square brackets.</a:t>
            </a:r>
          </a:p>
          <a:p>
            <a:r>
              <a:rPr lang="en-US" sz="2000" b="1" noProof="1">
                <a:latin typeface="Constantia"/>
                <a:cs typeface="Arial"/>
              </a:rPr>
              <a:t>ALTERATION</a:t>
            </a:r>
            <a:endParaRPr lang="en-US" sz="2000" noProof="1">
              <a:latin typeface="Constantia"/>
              <a:cs typeface="Arial"/>
            </a:endParaRPr>
          </a:p>
          <a:p>
            <a:r>
              <a:rPr lang="en-US" sz="2000" noProof="1">
                <a:latin typeface="Constantia"/>
                <a:cs typeface="Arial"/>
              </a:rPr>
              <a:t>A vertical bar (|) allows regular expressions check whether particular string is matched in line or not.</a:t>
            </a:r>
          </a:p>
        </p:txBody>
      </p:sp>
    </p:spTree>
    <p:extLst>
      <p:ext uri="{BB962C8B-B14F-4D97-AF65-F5344CB8AC3E}">
        <p14:creationId xmlns:p14="http://schemas.microsoft.com/office/powerpoint/2010/main" val="18441736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AWK Filter</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158798"/>
            <a:ext cx="1082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Regular Expressions</a:t>
            </a:r>
            <a:endParaRPr lang="en-US"/>
          </a:p>
        </p:txBody>
      </p:sp>
      <p:sp>
        <p:nvSpPr>
          <p:cNvPr id="5" name="TextBox 4">
            <a:extLst>
              <a:ext uri="{FF2B5EF4-FFF2-40B4-BE49-F238E27FC236}">
                <a16:creationId xmlns:a16="http://schemas.microsoft.com/office/drawing/2014/main" id="{A1A3664A-2421-FB71-515F-17853FCDF24E}"/>
              </a:ext>
            </a:extLst>
          </p:cNvPr>
          <p:cNvSpPr txBox="1"/>
          <p:nvPr/>
        </p:nvSpPr>
        <p:spPr>
          <a:xfrm>
            <a:off x="782623" y="2133001"/>
            <a:ext cx="8756247"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ZERO OR MORE OCCURRENCE *</a:t>
            </a:r>
            <a:endParaRPr lang="en-US" sz="2000" noProof="1">
              <a:latin typeface="Constantia"/>
              <a:cs typeface="Arial"/>
            </a:endParaRPr>
          </a:p>
          <a:p>
            <a:r>
              <a:rPr lang="en-US" sz="2000" noProof="1">
                <a:latin typeface="Constantia"/>
                <a:cs typeface="Arial"/>
              </a:rPr>
              <a:t>It matches zero or one occurrence of the preceding character.</a:t>
            </a:r>
            <a:endParaRPr lang="en-US" sz="2000" b="1" noProof="1">
              <a:latin typeface="Constantia"/>
              <a:cs typeface="Arial"/>
            </a:endParaRPr>
          </a:p>
          <a:p>
            <a:endParaRPr lang="en-US" sz="2000" noProof="1">
              <a:latin typeface="Constantia"/>
              <a:cs typeface="Arial"/>
            </a:endParaRPr>
          </a:p>
          <a:p>
            <a:r>
              <a:rPr lang="en-US" sz="2000" b="1" noProof="1">
                <a:latin typeface="Constantia"/>
                <a:cs typeface="Arial"/>
              </a:rPr>
              <a:t>ZERO OR ONE OCCURRENCE ?</a:t>
            </a:r>
            <a:endParaRPr lang="en-US"/>
          </a:p>
          <a:p>
            <a:r>
              <a:rPr lang="en-US" sz="2000" noProof="1">
                <a:latin typeface="Constantia"/>
                <a:cs typeface="Arial"/>
              </a:rPr>
              <a:t>It matches zero or more occurrence of the preceding character.</a:t>
            </a:r>
            <a:endParaRPr lang="en-US"/>
          </a:p>
          <a:p>
            <a:endParaRPr lang="en-US" sz="2000" noProof="1">
              <a:latin typeface="Constantia"/>
              <a:cs typeface="Arial"/>
            </a:endParaRPr>
          </a:p>
          <a:p>
            <a:r>
              <a:rPr lang="en-US" sz="2000" b="1" noProof="1">
                <a:latin typeface="Constantia"/>
                <a:cs typeface="Arial"/>
              </a:rPr>
              <a:t>ONE OR MORE OCCURRENCE +</a:t>
            </a:r>
            <a:endParaRPr lang="en-US"/>
          </a:p>
          <a:p>
            <a:r>
              <a:rPr lang="en-US" sz="2000" noProof="1">
                <a:latin typeface="Constantia"/>
                <a:cs typeface="Arial"/>
              </a:rPr>
              <a:t>It matches one or more occurrence of the preceding character.</a:t>
            </a:r>
            <a:endParaRPr lang="en-US"/>
          </a:p>
          <a:p>
            <a:endParaRPr lang="en-US" sz="2000" noProof="1">
              <a:latin typeface="Constantia"/>
              <a:cs typeface="Arial"/>
            </a:endParaRPr>
          </a:p>
          <a:p>
            <a:r>
              <a:rPr lang="en-US" sz="2000" b="1" noProof="1">
                <a:latin typeface="Constantia"/>
                <a:cs typeface="Arial"/>
              </a:rPr>
              <a:t>GROUPING ()</a:t>
            </a:r>
            <a:endParaRPr lang="en-US" sz="2000" noProof="1">
              <a:latin typeface="Constantia"/>
              <a:cs typeface="Arial"/>
            </a:endParaRPr>
          </a:p>
          <a:p>
            <a:r>
              <a:rPr lang="en-US" sz="2000" noProof="1">
                <a:latin typeface="Constantia"/>
                <a:cs typeface="Arial"/>
              </a:rPr>
              <a:t>Parentheses() are used for grouping and the character | is used for alternatives.</a:t>
            </a:r>
          </a:p>
        </p:txBody>
      </p:sp>
    </p:spTree>
    <p:extLst>
      <p:ext uri="{BB962C8B-B14F-4D97-AF65-F5344CB8AC3E}">
        <p14:creationId xmlns:p14="http://schemas.microsoft.com/office/powerpoint/2010/main" val="37319470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AWK Filter</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158798"/>
            <a:ext cx="1082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UserDefined Functions</a:t>
            </a:r>
            <a:endParaRPr lang="en-US"/>
          </a:p>
        </p:txBody>
      </p:sp>
      <p:sp>
        <p:nvSpPr>
          <p:cNvPr id="5" name="TextBox 4">
            <a:extLst>
              <a:ext uri="{FF2B5EF4-FFF2-40B4-BE49-F238E27FC236}">
                <a16:creationId xmlns:a16="http://schemas.microsoft.com/office/drawing/2014/main" id="{A1A3664A-2421-FB71-515F-17853FCDF24E}"/>
              </a:ext>
            </a:extLst>
          </p:cNvPr>
          <p:cNvSpPr txBox="1"/>
          <p:nvPr/>
        </p:nvSpPr>
        <p:spPr>
          <a:xfrm>
            <a:off x="782623" y="1766469"/>
            <a:ext cx="10887917" cy="16505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noProof="1">
                <a:latin typeface="Constantia"/>
                <a:cs typeface="Arial"/>
              </a:rPr>
              <a:t>Functions are basic building blocks of a program.</a:t>
            </a:r>
          </a:p>
          <a:p>
            <a:pPr marL="342900" indent="-342900">
              <a:buFont typeface="Arial"/>
              <a:buChar char="•"/>
            </a:pPr>
            <a:r>
              <a:rPr lang="en-US" sz="2000" noProof="1">
                <a:latin typeface="Constantia"/>
                <a:cs typeface="Arial"/>
              </a:rPr>
              <a:t>AWK allows us to define our own functions.</a:t>
            </a:r>
          </a:p>
          <a:p>
            <a:pPr marL="342900" indent="-342900">
              <a:buFont typeface="Arial"/>
              <a:buChar char="•"/>
            </a:pPr>
            <a:r>
              <a:rPr lang="en-US" sz="2000" noProof="1">
                <a:latin typeface="Constantia"/>
                <a:cs typeface="Arial"/>
              </a:rPr>
              <a:t>A large program can be divided into functions and each function can be written / tested independently.</a:t>
            </a:r>
          </a:p>
          <a:p>
            <a:pPr marL="342900" indent="-342900">
              <a:buFont typeface="Arial"/>
              <a:buChar char="•"/>
            </a:pPr>
            <a:r>
              <a:rPr lang="en-US" sz="2000" noProof="1">
                <a:latin typeface="Constantia"/>
                <a:cs typeface="Arial"/>
              </a:rPr>
              <a:t>It provides reusability of code.</a:t>
            </a:r>
          </a:p>
        </p:txBody>
      </p:sp>
      <p:sp>
        <p:nvSpPr>
          <p:cNvPr id="3" name="TextBox 2">
            <a:extLst>
              <a:ext uri="{FF2B5EF4-FFF2-40B4-BE49-F238E27FC236}">
                <a16:creationId xmlns:a16="http://schemas.microsoft.com/office/drawing/2014/main" id="{D68CD981-2681-2993-96B1-4B86546007E5}"/>
              </a:ext>
            </a:extLst>
          </p:cNvPr>
          <p:cNvSpPr txBox="1"/>
          <p:nvPr/>
        </p:nvSpPr>
        <p:spPr>
          <a:xfrm>
            <a:off x="684508" y="3512316"/>
            <a:ext cx="108204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SYNTAX</a:t>
            </a:r>
            <a:endParaRPr lang="en-US"/>
          </a:p>
        </p:txBody>
      </p:sp>
      <p:pic>
        <p:nvPicPr>
          <p:cNvPr id="4" name="Picture 3" descr="A black background with white text&#10;&#10;Description automatically generated">
            <a:extLst>
              <a:ext uri="{FF2B5EF4-FFF2-40B4-BE49-F238E27FC236}">
                <a16:creationId xmlns:a16="http://schemas.microsoft.com/office/drawing/2014/main" id="{5157C71A-252B-1E3E-3C63-8635B516FCC6}"/>
              </a:ext>
            </a:extLst>
          </p:cNvPr>
          <p:cNvPicPr>
            <a:picLocks noChangeAspect="1"/>
          </p:cNvPicPr>
          <p:nvPr/>
        </p:nvPicPr>
        <p:blipFill>
          <a:blip r:embed="rId2"/>
          <a:stretch>
            <a:fillRect/>
          </a:stretch>
        </p:blipFill>
        <p:spPr>
          <a:xfrm>
            <a:off x="1745256" y="3931741"/>
            <a:ext cx="7101660" cy="1790396"/>
          </a:xfrm>
          <a:prstGeom prst="rect">
            <a:avLst/>
          </a:prstGeom>
        </p:spPr>
      </p:pic>
    </p:spTree>
    <p:extLst>
      <p:ext uri="{BB962C8B-B14F-4D97-AF65-F5344CB8AC3E}">
        <p14:creationId xmlns:p14="http://schemas.microsoft.com/office/powerpoint/2010/main" val="24908901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a:latin typeface="Constantia"/>
                <a:cs typeface="Arial"/>
              </a:rPr>
              <a:t>AWK Filter</a:t>
            </a:r>
            <a:endParaRPr lang="en-US"/>
          </a:p>
        </p:txBody>
      </p:sp>
      <p:sp>
        <p:nvSpPr>
          <p:cNvPr id="6" name="TextBox 5">
            <a:extLst>
              <a:ext uri="{FF2B5EF4-FFF2-40B4-BE49-F238E27FC236}">
                <a16:creationId xmlns:a16="http://schemas.microsoft.com/office/drawing/2014/main" id="{DF0500B9-06E1-402A-1A50-C310899C4564}"/>
              </a:ext>
            </a:extLst>
          </p:cNvPr>
          <p:cNvSpPr txBox="1"/>
          <p:nvPr/>
        </p:nvSpPr>
        <p:spPr>
          <a:xfrm>
            <a:off x="684509" y="1160607"/>
            <a:ext cx="5650375"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Control Flow </a:t>
            </a:r>
            <a:endParaRPr lang="en-US"/>
          </a:p>
          <a:p>
            <a:endParaRPr lang="en-US" sz="2000" b="1" noProof="1">
              <a:latin typeface="Constantia"/>
              <a:cs typeface="Arial"/>
            </a:endParaRPr>
          </a:p>
          <a:p>
            <a:pPr marL="342900" indent="-342900" algn="just">
              <a:buFont typeface="Arial"/>
              <a:buChar char="•"/>
            </a:pPr>
            <a:r>
              <a:rPr lang="en-US" sz="2000" noProof="1">
                <a:latin typeface="Constantia"/>
                <a:cs typeface="Arial"/>
              </a:rPr>
              <a:t>Like other programming languages, AWK provides conditional statements to control the flow of the program.</a:t>
            </a:r>
            <a:endParaRPr lang="en-US" sz="2000" b="1" noProof="1">
              <a:latin typeface="Constantia"/>
              <a:cs typeface="Arial"/>
            </a:endParaRPr>
          </a:p>
          <a:p>
            <a:pPr marL="342900" indent="-342900">
              <a:buFont typeface="Arial"/>
              <a:buChar char="•"/>
            </a:pPr>
            <a:endParaRPr lang="en-US" sz="2000" noProof="1">
              <a:latin typeface="Constantia"/>
              <a:cs typeface="Arial"/>
            </a:endParaRPr>
          </a:p>
          <a:p>
            <a:r>
              <a:rPr lang="en-US" sz="2000" b="1" noProof="1">
                <a:latin typeface="Constantia"/>
                <a:cs typeface="Arial"/>
              </a:rPr>
              <a:t>If Statement</a:t>
            </a:r>
          </a:p>
          <a:p>
            <a:pPr marL="342900" indent="-342900" algn="just">
              <a:buFont typeface="Arial"/>
              <a:buChar char="•"/>
            </a:pPr>
            <a:r>
              <a:rPr lang="en-US" sz="2000" noProof="1">
                <a:latin typeface="Constantia"/>
                <a:cs typeface="Arial"/>
              </a:rPr>
              <a:t>It simply tests the condition and perform certain actions depending upon the condition.</a:t>
            </a:r>
            <a:endParaRPr lang="en-US" sz="2000" b="1" noProof="1">
              <a:latin typeface="Constantia"/>
              <a:cs typeface="Arial"/>
            </a:endParaRPr>
          </a:p>
          <a:p>
            <a:r>
              <a:rPr lang="en-US" sz="2000" b="1" noProof="1">
                <a:latin typeface="Constantia"/>
                <a:cs typeface="Arial"/>
              </a:rPr>
              <a:t>If Else Statement</a:t>
            </a:r>
          </a:p>
          <a:p>
            <a:pPr marL="342900" indent="-342900" algn="just">
              <a:buFont typeface="Arial"/>
              <a:buChar char="•"/>
            </a:pPr>
            <a:r>
              <a:rPr lang="en-US" sz="2000" noProof="1">
                <a:latin typeface="Constantia"/>
                <a:cs typeface="Arial"/>
              </a:rPr>
              <a:t>In If-else syntax, we provide a list of actions to be performed when a condition becomes false.</a:t>
            </a:r>
            <a:endParaRPr lang="en-US" sz="2000" b="1" noProof="1">
              <a:latin typeface="Constantia"/>
              <a:cs typeface="Arial"/>
            </a:endParaRPr>
          </a:p>
          <a:p>
            <a:r>
              <a:rPr lang="en-US" sz="2000" b="1" noProof="1">
                <a:latin typeface="Constantia"/>
                <a:cs typeface="Arial"/>
              </a:rPr>
              <a:t>If-Else-If Ladder</a:t>
            </a:r>
          </a:p>
          <a:p>
            <a:pPr marL="342900" indent="-342900" algn="just">
              <a:buFont typeface="Arial"/>
              <a:buChar char="•"/>
            </a:pPr>
            <a:r>
              <a:rPr lang="en-US" sz="2000" noProof="1">
                <a:latin typeface="Constantia"/>
                <a:cs typeface="Arial"/>
              </a:rPr>
              <a:t>We can easily create an if-else-if ladder by using multiple if-else statements.</a:t>
            </a:r>
          </a:p>
        </p:txBody>
      </p:sp>
      <p:pic>
        <p:nvPicPr>
          <p:cNvPr id="3" name="Picture 2" descr="A white background with black text&#10;&#10;Description automatically generated">
            <a:extLst>
              <a:ext uri="{FF2B5EF4-FFF2-40B4-BE49-F238E27FC236}">
                <a16:creationId xmlns:a16="http://schemas.microsoft.com/office/drawing/2014/main" id="{792973ED-AD22-DD35-32DC-2F6E1E1FB876}"/>
              </a:ext>
            </a:extLst>
          </p:cNvPr>
          <p:cNvPicPr>
            <a:picLocks noChangeAspect="1"/>
          </p:cNvPicPr>
          <p:nvPr/>
        </p:nvPicPr>
        <p:blipFill>
          <a:blip r:embed="rId2"/>
          <a:stretch>
            <a:fillRect/>
          </a:stretch>
        </p:blipFill>
        <p:spPr>
          <a:xfrm>
            <a:off x="6572129" y="2817109"/>
            <a:ext cx="2414044" cy="2381250"/>
          </a:xfrm>
          <a:prstGeom prst="rect">
            <a:avLst/>
          </a:prstGeom>
        </p:spPr>
      </p:pic>
      <p:pic>
        <p:nvPicPr>
          <p:cNvPr id="4" name="Picture 3" descr="A close-up of words&#10;&#10;Description automatically generated">
            <a:extLst>
              <a:ext uri="{FF2B5EF4-FFF2-40B4-BE49-F238E27FC236}">
                <a16:creationId xmlns:a16="http://schemas.microsoft.com/office/drawing/2014/main" id="{CD0A765F-25E4-442B-F5A4-CBDAB51C5A21}"/>
              </a:ext>
            </a:extLst>
          </p:cNvPr>
          <p:cNvPicPr>
            <a:picLocks noChangeAspect="1"/>
          </p:cNvPicPr>
          <p:nvPr/>
        </p:nvPicPr>
        <p:blipFill>
          <a:blip r:embed="rId3"/>
          <a:stretch>
            <a:fillRect/>
          </a:stretch>
        </p:blipFill>
        <p:spPr>
          <a:xfrm>
            <a:off x="9261435" y="2815963"/>
            <a:ext cx="2282624" cy="2383540"/>
          </a:xfrm>
          <a:prstGeom prst="rect">
            <a:avLst/>
          </a:prstGeom>
        </p:spPr>
      </p:pic>
      <p:sp>
        <p:nvSpPr>
          <p:cNvPr id="5" name="TextBox 4">
            <a:extLst>
              <a:ext uri="{FF2B5EF4-FFF2-40B4-BE49-F238E27FC236}">
                <a16:creationId xmlns:a16="http://schemas.microsoft.com/office/drawing/2014/main" id="{C8AF2217-2C1A-1D93-CB87-33B393C9CADF}"/>
              </a:ext>
            </a:extLst>
          </p:cNvPr>
          <p:cNvSpPr txBox="1"/>
          <p:nvPr/>
        </p:nvSpPr>
        <p:spPr>
          <a:xfrm>
            <a:off x="6761217" y="1999772"/>
            <a:ext cx="189824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If statement </a:t>
            </a:r>
            <a:endParaRPr lang="en-US" sz="2000" noProof="1">
              <a:latin typeface="Constantia"/>
              <a:cs typeface="Arial"/>
            </a:endParaRPr>
          </a:p>
        </p:txBody>
      </p:sp>
      <p:sp>
        <p:nvSpPr>
          <p:cNvPr id="8" name="TextBox 7">
            <a:extLst>
              <a:ext uri="{FF2B5EF4-FFF2-40B4-BE49-F238E27FC236}">
                <a16:creationId xmlns:a16="http://schemas.microsoft.com/office/drawing/2014/main" id="{FF3426A9-4572-F19D-0565-9F4A87FC70F3}"/>
              </a:ext>
            </a:extLst>
          </p:cNvPr>
          <p:cNvSpPr txBox="1"/>
          <p:nvPr/>
        </p:nvSpPr>
        <p:spPr>
          <a:xfrm>
            <a:off x="9452330" y="1999771"/>
            <a:ext cx="189824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noProof="1">
                <a:latin typeface="Constantia"/>
                <a:cs typeface="Arial"/>
              </a:rPr>
              <a:t>If-else statement </a:t>
            </a:r>
            <a:endParaRPr lang="en-US" sz="2000" noProof="1">
              <a:latin typeface="Constantia"/>
              <a:cs typeface="Arial"/>
            </a:endParaRPr>
          </a:p>
        </p:txBody>
      </p:sp>
    </p:spTree>
    <p:extLst>
      <p:ext uri="{BB962C8B-B14F-4D97-AF65-F5344CB8AC3E}">
        <p14:creationId xmlns:p14="http://schemas.microsoft.com/office/powerpoint/2010/main" val="27796864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sz="4800" b="1">
                <a:solidFill>
                  <a:srgbClr val="FFFFFF"/>
                </a:solidFill>
                <a:latin typeface="Constantia"/>
                <a:cs typeface="Arial"/>
              </a:rPr>
              <a:t>Thank You</a:t>
            </a:r>
            <a:endParaRPr lang="en-US" sz="4800">
              <a:latin typeface="Constantia"/>
            </a:endParaRPr>
          </a:p>
        </p:txBody>
      </p:sp>
    </p:spTree>
    <p:extLst>
      <p:ext uri="{BB962C8B-B14F-4D97-AF65-F5344CB8AC3E}">
        <p14:creationId xmlns:p14="http://schemas.microsoft.com/office/powerpoint/2010/main" val="36766179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CS Template 2012 (Arial)">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ustom 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Brown 100%">
      <a:srgbClr val="974807"/>
    </a:custClr>
    <a:custClr name="TCS Brown 70%">
      <a:srgbClr val="C07F51"/>
    </a:custClr>
    <a:custClr name="TCS Brown 50%">
      <a:srgbClr val="D5A380"/>
    </a:custClr>
    <a:custClr name="TCS Brown 30%">
      <a:srgbClr val="E6C8B3"/>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39</Slides>
  <Notes>0</Notes>
  <HiddenSlides>0</HiddenSlides>
  <ScaleCrop>false</ScaleCrop>
  <HeadingPairs>
    <vt:vector size="4" baseType="variant">
      <vt:variant>
        <vt:lpstr>Theme</vt:lpstr>
      </vt:variant>
      <vt:variant>
        <vt:i4>2</vt:i4>
      </vt:variant>
      <vt:variant>
        <vt:lpstr>Slide Titles</vt:lpstr>
      </vt:variant>
      <vt:variant>
        <vt:i4>39</vt:i4>
      </vt:variant>
    </vt:vector>
  </HeadingPairs>
  <TitlesOfParts>
    <vt:vector size="41" baseType="lpstr">
      <vt:lpstr>office theme</vt:lpstr>
      <vt:lpstr>TCS Template 2012 (Arial)</vt:lpstr>
      <vt:lpstr>UNIX</vt:lpstr>
      <vt:lpstr>AGENDA</vt:lpstr>
      <vt:lpstr>Operating System</vt:lpstr>
      <vt:lpstr>Unix</vt:lpstr>
      <vt:lpstr>Linux</vt:lpstr>
      <vt:lpstr>Unix and Linux</vt:lpstr>
      <vt:lpstr>Unix Architecture</vt:lpstr>
      <vt:lpstr>File Handling Commands</vt:lpstr>
      <vt:lpstr>File Handling Commands</vt:lpstr>
      <vt:lpstr>File Handling Commands</vt:lpstr>
      <vt:lpstr>File Handling Commands</vt:lpstr>
      <vt:lpstr>File Handling Commands</vt:lpstr>
      <vt:lpstr>File Handling Commands</vt:lpstr>
      <vt:lpstr>File Handling Commands</vt:lpstr>
      <vt:lpstr>File Handling Commands</vt:lpstr>
      <vt:lpstr>File Handling Commands</vt:lpstr>
      <vt:lpstr>File Handling Commands</vt:lpstr>
      <vt:lpstr>Filter</vt:lpstr>
      <vt:lpstr>Uniq Command</vt:lpstr>
      <vt:lpstr>Head Command</vt:lpstr>
      <vt:lpstr>Tail Command</vt:lpstr>
      <vt:lpstr>wc Command</vt:lpstr>
      <vt:lpstr>Sort Command</vt:lpstr>
      <vt:lpstr>grep Command</vt:lpstr>
      <vt:lpstr>sed Command</vt:lpstr>
      <vt:lpstr>Cat Command</vt:lpstr>
      <vt:lpstr>Pipelining</vt:lpstr>
      <vt:lpstr>AWK Filter</vt:lpstr>
      <vt:lpstr>AWK Filter</vt:lpstr>
      <vt:lpstr>AWK Filter</vt:lpstr>
      <vt:lpstr>AWK Filter</vt:lpstr>
      <vt:lpstr>AWK Filter</vt:lpstr>
      <vt:lpstr>AWK Filter</vt:lpstr>
      <vt:lpstr>AWK Filter</vt:lpstr>
      <vt:lpstr>AWK Filter</vt:lpstr>
      <vt:lpstr>AWK Filter</vt:lpstr>
      <vt:lpstr>AWK Filter</vt:lpstr>
      <vt:lpstr>AWK Filter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54</cp:revision>
  <dcterms:created xsi:type="dcterms:W3CDTF">2023-09-03T05:03:33Z</dcterms:created>
  <dcterms:modified xsi:type="dcterms:W3CDTF">2026-04-01T04:44:22Z</dcterms:modified>
</cp:coreProperties>
</file>